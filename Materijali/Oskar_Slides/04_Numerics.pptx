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30"/>
  </p:notesMasterIdLst>
  <p:sldIdLst>
    <p:sldId id="267" r:id="rId3"/>
    <p:sldId id="354" r:id="rId4"/>
    <p:sldId id="369" r:id="rId5"/>
    <p:sldId id="328" r:id="rId6"/>
    <p:sldId id="329" r:id="rId7"/>
    <p:sldId id="353" r:id="rId8"/>
    <p:sldId id="330" r:id="rId9"/>
    <p:sldId id="279" r:id="rId10"/>
    <p:sldId id="361" r:id="rId11"/>
    <p:sldId id="280" r:id="rId12"/>
    <p:sldId id="364" r:id="rId13"/>
    <p:sldId id="334" r:id="rId14"/>
    <p:sldId id="356" r:id="rId15"/>
    <p:sldId id="357" r:id="rId16"/>
    <p:sldId id="358" r:id="rId17"/>
    <p:sldId id="365" r:id="rId18"/>
    <p:sldId id="371" r:id="rId19"/>
    <p:sldId id="326" r:id="rId20"/>
    <p:sldId id="355" r:id="rId21"/>
    <p:sldId id="359" r:id="rId22"/>
    <p:sldId id="362" r:id="rId23"/>
    <p:sldId id="363" r:id="rId24"/>
    <p:sldId id="375" r:id="rId25"/>
    <p:sldId id="372" r:id="rId26"/>
    <p:sldId id="373" r:id="rId27"/>
    <p:sldId id="327" r:id="rId28"/>
    <p:sldId id="37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7373"/>
    <a:srgbClr val="54004A"/>
    <a:srgbClr val="D26E00"/>
    <a:srgbClr val="688F29"/>
    <a:srgbClr val="DF9EC8"/>
    <a:srgbClr val="FFCD78"/>
    <a:srgbClr val="FF9E1D"/>
    <a:srgbClr val="4F6228"/>
    <a:srgbClr val="4F81BD"/>
    <a:srgbClr val="953735"/>
  </p:clrMru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143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64" d="100"/>
          <a:sy n="64" d="100"/>
        </p:scale>
        <p:origin x="-3082" y="-77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1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792185566696459"/>
          <c:y val="5.2959888166153067E-2"/>
          <c:w val="0.88346043529977214"/>
          <c:h val="0.81933341892046108"/>
        </c:manualLayout>
      </c:layout>
      <c:lineChart>
        <c:grouping val="standard"/>
        <c:ser>
          <c:idx val="0"/>
          <c:order val="0"/>
          <c:tx>
            <c:v>8 Exponent bits</c:v>
          </c:tx>
          <c:cat>
            <c:numRef>
              <c:f>FilteredData!$C$200:$C$220</c:f>
              <c:numCache>
                <c:formatCode>General</c:formatCode>
                <c:ptCount val="21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</c:numCache>
            </c:numRef>
          </c:cat>
          <c:val>
            <c:numRef>
              <c:f>FilteredData!$H$200:$H$220</c:f>
              <c:numCache>
                <c:formatCode>General</c:formatCode>
                <c:ptCount val="21"/>
                <c:pt idx="0">
                  <c:v>195</c:v>
                </c:pt>
                <c:pt idx="1">
                  <c:v>205</c:v>
                </c:pt>
                <c:pt idx="2">
                  <c:v>217</c:v>
                </c:pt>
                <c:pt idx="3">
                  <c:v>241</c:v>
                </c:pt>
                <c:pt idx="4">
                  <c:v>250</c:v>
                </c:pt>
                <c:pt idx="5">
                  <c:v>258</c:v>
                </c:pt>
                <c:pt idx="6">
                  <c:v>280</c:v>
                </c:pt>
                <c:pt idx="7">
                  <c:v>296</c:v>
                </c:pt>
                <c:pt idx="8">
                  <c:v>297</c:v>
                </c:pt>
                <c:pt idx="9">
                  <c:v>321</c:v>
                </c:pt>
                <c:pt idx="10">
                  <c:v>308</c:v>
                </c:pt>
                <c:pt idx="11">
                  <c:v>351</c:v>
                </c:pt>
                <c:pt idx="12">
                  <c:v>351</c:v>
                </c:pt>
                <c:pt idx="13">
                  <c:v>372</c:v>
                </c:pt>
                <c:pt idx="14">
                  <c:v>401</c:v>
                </c:pt>
                <c:pt idx="15">
                  <c:v>401</c:v>
                </c:pt>
                <c:pt idx="16">
                  <c:v>421</c:v>
                </c:pt>
                <c:pt idx="17">
                  <c:v>452</c:v>
                </c:pt>
                <c:pt idx="18">
                  <c:v>441</c:v>
                </c:pt>
                <c:pt idx="19">
                  <c:v>454</c:v>
                </c:pt>
                <c:pt idx="20">
                  <c:v>505</c:v>
                </c:pt>
              </c:numCache>
            </c:numRef>
          </c:val>
        </c:ser>
        <c:ser>
          <c:idx val="1"/>
          <c:order val="1"/>
          <c:tx>
            <c:v>7 Exponent bits</c:v>
          </c:tx>
          <c:val>
            <c:numRef>
              <c:f>FilteredData!$H$179:$H$199</c:f>
              <c:numCache>
                <c:formatCode>General</c:formatCode>
                <c:ptCount val="21"/>
                <c:pt idx="0">
                  <c:v>179</c:v>
                </c:pt>
                <c:pt idx="1">
                  <c:v>194</c:v>
                </c:pt>
                <c:pt idx="2">
                  <c:v>206</c:v>
                </c:pt>
                <c:pt idx="3">
                  <c:v>227</c:v>
                </c:pt>
                <c:pt idx="4">
                  <c:v>244</c:v>
                </c:pt>
                <c:pt idx="5">
                  <c:v>257</c:v>
                </c:pt>
                <c:pt idx="6">
                  <c:v>270</c:v>
                </c:pt>
                <c:pt idx="7">
                  <c:v>286</c:v>
                </c:pt>
                <c:pt idx="8">
                  <c:v>299</c:v>
                </c:pt>
                <c:pt idx="9">
                  <c:v>312</c:v>
                </c:pt>
                <c:pt idx="10">
                  <c:v>305</c:v>
                </c:pt>
                <c:pt idx="11">
                  <c:v>336</c:v>
                </c:pt>
                <c:pt idx="12">
                  <c:v>355</c:v>
                </c:pt>
                <c:pt idx="13">
                  <c:v>363</c:v>
                </c:pt>
                <c:pt idx="14">
                  <c:v>396</c:v>
                </c:pt>
                <c:pt idx="15">
                  <c:v>403</c:v>
                </c:pt>
                <c:pt idx="16">
                  <c:v>412</c:v>
                </c:pt>
                <c:pt idx="17">
                  <c:v>430</c:v>
                </c:pt>
                <c:pt idx="18">
                  <c:v>437</c:v>
                </c:pt>
                <c:pt idx="19">
                  <c:v>457</c:v>
                </c:pt>
                <c:pt idx="20">
                  <c:v>484</c:v>
                </c:pt>
              </c:numCache>
            </c:numRef>
          </c:val>
        </c:ser>
        <c:ser>
          <c:idx val="2"/>
          <c:order val="2"/>
          <c:tx>
            <c:v>6 Exponent bits</c:v>
          </c:tx>
          <c:val>
            <c:numRef>
              <c:f>FilteredData!$H$158:$H$178</c:f>
              <c:numCache>
                <c:formatCode>General</c:formatCode>
                <c:ptCount val="21"/>
                <c:pt idx="0">
                  <c:v>170</c:v>
                </c:pt>
                <c:pt idx="1">
                  <c:v>181</c:v>
                </c:pt>
                <c:pt idx="2">
                  <c:v>201</c:v>
                </c:pt>
                <c:pt idx="3">
                  <c:v>220</c:v>
                </c:pt>
                <c:pt idx="4">
                  <c:v>231</c:v>
                </c:pt>
                <c:pt idx="5">
                  <c:v>242</c:v>
                </c:pt>
                <c:pt idx="6">
                  <c:v>258</c:v>
                </c:pt>
                <c:pt idx="7">
                  <c:v>272</c:v>
                </c:pt>
                <c:pt idx="8">
                  <c:v>284</c:v>
                </c:pt>
                <c:pt idx="9">
                  <c:v>298</c:v>
                </c:pt>
                <c:pt idx="10">
                  <c:v>291</c:v>
                </c:pt>
                <c:pt idx="11">
                  <c:v>327</c:v>
                </c:pt>
                <c:pt idx="12">
                  <c:v>333</c:v>
                </c:pt>
                <c:pt idx="13">
                  <c:v>355</c:v>
                </c:pt>
                <c:pt idx="14">
                  <c:v>384</c:v>
                </c:pt>
                <c:pt idx="15">
                  <c:v>400</c:v>
                </c:pt>
                <c:pt idx="16">
                  <c:v>411</c:v>
                </c:pt>
                <c:pt idx="17">
                  <c:v>405</c:v>
                </c:pt>
                <c:pt idx="18">
                  <c:v>447</c:v>
                </c:pt>
                <c:pt idx="19">
                  <c:v>434</c:v>
                </c:pt>
                <c:pt idx="20">
                  <c:v>452</c:v>
                </c:pt>
              </c:numCache>
            </c:numRef>
          </c:val>
        </c:ser>
        <c:ser>
          <c:idx val="3"/>
          <c:order val="3"/>
          <c:tx>
            <c:v>5 Exponent bits</c:v>
          </c:tx>
          <c:val>
            <c:numRef>
              <c:f>FilteredData!$H$148:$H$157</c:f>
              <c:numCache>
                <c:formatCode>General</c:formatCode>
                <c:ptCount val="10"/>
                <c:pt idx="0">
                  <c:v>161</c:v>
                </c:pt>
                <c:pt idx="1">
                  <c:v>171</c:v>
                </c:pt>
                <c:pt idx="2">
                  <c:v>194</c:v>
                </c:pt>
                <c:pt idx="3">
                  <c:v>207</c:v>
                </c:pt>
                <c:pt idx="4">
                  <c:v>227</c:v>
                </c:pt>
                <c:pt idx="5">
                  <c:v>235</c:v>
                </c:pt>
                <c:pt idx="6">
                  <c:v>249</c:v>
                </c:pt>
                <c:pt idx="7">
                  <c:v>260</c:v>
                </c:pt>
                <c:pt idx="8">
                  <c:v>274</c:v>
                </c:pt>
                <c:pt idx="9">
                  <c:v>283</c:v>
                </c:pt>
              </c:numCache>
            </c:numRef>
          </c:val>
        </c:ser>
        <c:marker val="1"/>
        <c:axId val="75087872"/>
        <c:axId val="75089792"/>
      </c:lineChart>
      <c:catAx>
        <c:axId val="7508787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GB" sz="1600"/>
                  <a:t>Mantissa bits</a:t>
                </a:r>
              </a:p>
            </c:rich>
          </c:tx>
          <c:layout>
            <c:manualLayout>
              <c:xMode val="edge"/>
              <c:yMode val="edge"/>
              <c:x val="0.47057540549767707"/>
              <c:y val="0.94067795703526191"/>
            </c:manualLayout>
          </c:layout>
        </c:title>
        <c:numFmt formatCode="General" sourceLinked="1"/>
        <c:tickLblPos val="nextTo"/>
        <c:txPr>
          <a:bodyPr rot="0" vert="horz"/>
          <a:lstStyle/>
          <a:p>
            <a:pPr>
              <a:defRPr sz="1600"/>
            </a:pPr>
            <a:endParaRPr lang="en-US"/>
          </a:p>
        </c:txPr>
        <c:crossAx val="75089792"/>
        <c:crosses val="autoZero"/>
        <c:auto val="1"/>
        <c:lblAlgn val="ctr"/>
        <c:lblOffset val="100"/>
        <c:tickLblSkip val="1"/>
        <c:tickMarkSkip val="1"/>
      </c:catAx>
      <c:valAx>
        <c:axId val="75089792"/>
        <c:scaling>
          <c:orientation val="minMax"/>
        </c:scaling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rPr lang="en-GB" sz="1600"/>
                  <a:t>LUT/FF pairs</a:t>
                </a:r>
              </a:p>
            </c:rich>
          </c:tx>
          <c:layout>
            <c:manualLayout>
              <c:xMode val="edge"/>
              <c:yMode val="edge"/>
              <c:x val="1.1375387797311292E-2"/>
              <c:y val="0.43728813559322038"/>
            </c:manualLayout>
          </c:layout>
        </c:title>
        <c:numFmt formatCode="General" sourceLinked="1"/>
        <c:tickLblPos val="nextTo"/>
        <c:txPr>
          <a:bodyPr rot="0" vert="horz"/>
          <a:lstStyle/>
          <a:p>
            <a:pPr>
              <a:defRPr sz="1600"/>
            </a:pPr>
            <a:endParaRPr lang="en-US"/>
          </a:p>
        </c:txPr>
        <c:crossAx val="750878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1847555923777975"/>
          <c:y val="6.9293478260869568E-2"/>
          <c:w val="0.21706710853355424"/>
          <c:h val="0.23641304347826136"/>
        </c:manualLayout>
      </c:layout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</c:chart>
  <c:externalData r:id="rId2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498B1-DBA4-462D-AF78-5EF9A056FBDC}" type="datetimeFigureOut">
              <a:rPr lang="en-GB" smtClean="0"/>
              <a:pPr/>
              <a:t>28/09/2011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2BF07-5018-4829-BCDB-3778A5A6970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2BF07-5018-4829-BCDB-3778A5A69704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84408" tIns="42204" rIns="84408" bIns="42204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84408" tIns="42204" rIns="84408" bIns="42204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 lIns="84408" tIns="42204" rIns="84408" bIns="42204"/>
          <a:lstStyle/>
          <a:p>
            <a:fld id="{C4ED6621-3841-4F71-96A8-5C3D7B868FCB}" type="slidenum">
              <a:rPr lang="en-GB"/>
              <a:pPr/>
              <a:t>10</a:t>
            </a:fld>
            <a:endParaRPr lang="en-GB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84408" tIns="42204" rIns="84408" bIns="42204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584" y="5924872"/>
            <a:ext cx="5752728" cy="52846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en-GB" dirty="0"/>
          </a:p>
        </p:txBody>
      </p:sp>
      <p:pic>
        <p:nvPicPr>
          <p:cNvPr id="7" name="Picture 6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538584" y="6309320"/>
            <a:ext cx="5689600" cy="647700"/>
          </a:xfrm>
        </p:spPr>
        <p:txBody>
          <a:bodyPr>
            <a:normAutofit/>
          </a:bodyPr>
          <a:lstStyle>
            <a:lvl1pPr>
              <a:buNone/>
              <a:defRPr sz="2000" b="0" baseline="0">
                <a:solidFill>
                  <a:schemeClr val="accent3"/>
                </a:solidFill>
              </a:defRPr>
            </a:lvl1pPr>
            <a:lvl5pPr algn="l">
              <a:buNone/>
              <a:defRPr/>
            </a:lvl5pPr>
          </a:lstStyle>
          <a:p>
            <a:pPr lvl="0"/>
            <a:r>
              <a:rPr lang="en-GB" dirty="0" smtClean="0"/>
              <a:t>Speaker, Month YYYY</a:t>
            </a:r>
            <a:endParaRPr lang="en-GB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7DA-F94B-4684-82D1-1B40ABCED2C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0872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56792"/>
            <a:ext cx="4040188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0872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041775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655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728192" cy="586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7909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0417" y="1892778"/>
            <a:ext cx="4677687" cy="2143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e2-MaxBlue-0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E2A2-5F50-45A9-B0ED-7EB9A391C62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ottom-wave3-MaxBlue.png"/>
          <p:cNvPicPr>
            <a:picLocks noChangeAspect="1"/>
          </p:cNvPicPr>
          <p:nvPr/>
        </p:nvPicPr>
        <p:blipFill>
          <a:blip r:embed="rId13" cstate="print"/>
          <a:srcRect t="8984" r="28654" b="31546"/>
          <a:stretch>
            <a:fillRect/>
          </a:stretch>
        </p:blipFill>
        <p:spPr>
          <a:xfrm>
            <a:off x="0" y="6237312"/>
            <a:ext cx="9144000" cy="6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94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9" name="Picture 8" descr="FullLogoVector_Inverted3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856282" y="6355746"/>
            <a:ext cx="1180214" cy="467540"/>
          </a:xfrm>
          <a:prstGeom prst="rect">
            <a:avLst/>
          </a:prstGeom>
          <a:effectLst>
            <a:outerShdw blurRad="50800" dist="38100" dir="2700000" algn="ctr" rotWithShape="0">
              <a:schemeClr val="accent5">
                <a:alpha val="70000"/>
              </a:scheme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5572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</a:defRPr>
            </a:lvl1pPr>
          </a:lstStyle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736" y="6552076"/>
            <a:ext cx="2895600" cy="4303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9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3737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Presenter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 smtClean="0"/>
              <a:t>MaxAcademy</a:t>
            </a:r>
            <a:r>
              <a:rPr lang="en-GB" dirty="0" smtClean="0"/>
              <a:t> Lecture Series – V1.0, September 2011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smtClean="0"/>
              <a:t>Number Representations</a:t>
            </a:r>
            <a:br>
              <a:rPr lang="en-GB" dirty="0" smtClean="0"/>
            </a:br>
            <a:r>
              <a:rPr lang="en-GB" dirty="0" smtClean="0"/>
              <a:t>and Arithmetic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Why we care</a:t>
            </a:r>
          </a:p>
          <a:p>
            <a:r>
              <a:rPr lang="en-GB" dirty="0" smtClean="0"/>
              <a:t>Number representation</a:t>
            </a:r>
          </a:p>
          <a:p>
            <a:r>
              <a:rPr lang="en-GB" dirty="0" smtClean="0"/>
              <a:t>Number types in </a:t>
            </a:r>
            <a:r>
              <a:rPr lang="en-GB" dirty="0" err="1" smtClean="0"/>
              <a:t>MaxCompiler</a:t>
            </a:r>
            <a:endParaRPr lang="en-GB" dirty="0" smtClean="0"/>
          </a:p>
          <a:p>
            <a:r>
              <a:rPr lang="en-GB" dirty="0" smtClean="0"/>
              <a:t>Rounding</a:t>
            </a:r>
          </a:p>
          <a:p>
            <a:r>
              <a:rPr lang="en-GB" dirty="0" smtClean="0"/>
              <a:t>Arithmetic styles</a:t>
            </a:r>
          </a:p>
          <a:p>
            <a:r>
              <a:rPr lang="en-GB" dirty="0" smtClean="0"/>
              <a:t>Error and other </a:t>
            </a:r>
            <a:r>
              <a:rPr lang="en-GB" dirty="0" err="1" smtClean="0"/>
              <a:t>numerics</a:t>
            </a:r>
            <a:r>
              <a:rPr lang="en-GB" dirty="0" smtClean="0"/>
              <a:t> issues</a:t>
            </a:r>
          </a:p>
          <a:p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Lecture Overview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Performance depends on the number of arithmetic units that fit in the FPGA </a:t>
            </a:r>
            <a:r>
              <a:rPr lang="en-GB" dirty="0" smtClean="0">
                <a:sym typeface="Wingdings" pitchFamily="2" charset="2"/>
              </a:rPr>
              <a:t></a:t>
            </a:r>
            <a:r>
              <a:rPr lang="en-GB" dirty="0" smtClean="0"/>
              <a:t> lower precision = more units = higher performance</a:t>
            </a:r>
          </a:p>
          <a:p>
            <a:r>
              <a:rPr lang="en-GB" dirty="0" smtClean="0"/>
              <a:t>Accuracy and performance may be competing objectives</a:t>
            </a:r>
          </a:p>
          <a:p>
            <a:pPr lvl="1"/>
            <a:r>
              <a:rPr lang="en-GB" dirty="0" smtClean="0"/>
              <a:t>FPGA resource usage depends on data representation and </a:t>
            </a:r>
            <a:r>
              <a:rPr lang="en-GB" dirty="0" err="1" smtClean="0"/>
              <a:t>bitwidths</a:t>
            </a:r>
            <a:endParaRPr lang="en-GB" dirty="0" smtClean="0"/>
          </a:p>
          <a:p>
            <a:r>
              <a:rPr lang="en-GB" dirty="0" smtClean="0"/>
              <a:t>Custom computers give us greater control over number representation, but we need to achieve enough accuracy with small enough resource usage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we care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0" hangingPunct="0"/>
            <a:r>
              <a:rPr lang="en-GB" dirty="0" smtClean="0"/>
              <a:t>Microprocessors</a:t>
            </a:r>
            <a:r>
              <a:rPr lang="en-US" dirty="0" smtClean="0"/>
              <a:t>: </a:t>
            </a:r>
            <a:endParaRPr lang="en-GB" dirty="0" smtClean="0"/>
          </a:p>
          <a:p>
            <a:pPr eaLnBrk="0" hangingPunct="0">
              <a:buNone/>
            </a:pPr>
            <a:r>
              <a:rPr lang="en-GB" sz="2400" dirty="0" smtClean="0"/>
              <a:t>	- </a:t>
            </a:r>
            <a:r>
              <a:rPr lang="en-US" sz="2400" dirty="0" smtClean="0"/>
              <a:t>Integer</a:t>
            </a:r>
            <a:r>
              <a:rPr lang="en-GB" sz="2400" dirty="0" smtClean="0"/>
              <a:t>: unsigned, two’s complement</a:t>
            </a:r>
          </a:p>
          <a:p>
            <a:pPr eaLnBrk="0" hangingPunct="0">
              <a:buNone/>
            </a:pPr>
            <a:r>
              <a:rPr lang="en-GB" sz="2400" dirty="0" smtClean="0"/>
              <a:t>	- </a:t>
            </a:r>
            <a:r>
              <a:rPr lang="en-US" sz="2400" dirty="0" smtClean="0"/>
              <a:t>Floating Point</a:t>
            </a:r>
          </a:p>
          <a:p>
            <a:pPr eaLnBrk="0" hangingPunct="0">
              <a:buNone/>
            </a:pPr>
            <a:endParaRPr lang="en-US" dirty="0" smtClean="0"/>
          </a:p>
          <a:p>
            <a:pPr eaLnBrk="0" hangingPunct="0"/>
            <a:r>
              <a:rPr lang="en-GB" dirty="0" smtClean="0"/>
              <a:t>others</a:t>
            </a:r>
            <a:r>
              <a:rPr lang="en-US" dirty="0" smtClean="0"/>
              <a:t>:</a:t>
            </a:r>
          </a:p>
          <a:p>
            <a:pPr lvl="1" eaLnBrk="0" hangingPunct="0"/>
            <a:r>
              <a:rPr lang="en-US" dirty="0" smtClean="0"/>
              <a:t>Fixed point</a:t>
            </a:r>
          </a:p>
          <a:p>
            <a:pPr lvl="1" eaLnBrk="0" hangingPunct="0"/>
            <a:r>
              <a:rPr lang="en-US" sz="2400" dirty="0" smtClean="0"/>
              <a:t>Logarithmic</a:t>
            </a:r>
            <a:r>
              <a:rPr lang="en-GB" sz="2400" dirty="0" smtClean="0"/>
              <a:t> number representation</a:t>
            </a:r>
          </a:p>
          <a:p>
            <a:pPr lvl="1" eaLnBrk="0" hangingPunct="0"/>
            <a:r>
              <a:rPr lang="en-US" sz="2400" dirty="0" smtClean="0"/>
              <a:t>Redundant </a:t>
            </a:r>
            <a:r>
              <a:rPr lang="en-GB" sz="2400" dirty="0" smtClean="0"/>
              <a:t>n</a:t>
            </a:r>
            <a:r>
              <a:rPr lang="en-US" sz="2400" dirty="0" smtClean="0"/>
              <a:t>umber </a:t>
            </a:r>
            <a:r>
              <a:rPr lang="en-GB" sz="2400" dirty="0" smtClean="0"/>
              <a:t>s</a:t>
            </a:r>
            <a:r>
              <a:rPr lang="en-US" sz="2400" dirty="0" err="1" smtClean="0"/>
              <a:t>ystem</a:t>
            </a:r>
            <a:r>
              <a:rPr lang="en-GB" sz="2400" dirty="0" smtClean="0"/>
              <a:t>s</a:t>
            </a:r>
            <a:r>
              <a:rPr lang="en-US" sz="2400" dirty="0" smtClean="0"/>
              <a:t>:</a:t>
            </a:r>
            <a:r>
              <a:rPr lang="en-GB" sz="2400" dirty="0" smtClean="0"/>
              <a:t> use more bits</a:t>
            </a:r>
            <a:r>
              <a:rPr lang="en-US" sz="2400" dirty="0" smtClean="0"/>
              <a:t> </a:t>
            </a:r>
          </a:p>
          <a:p>
            <a:pPr lvl="2" eaLnBrk="0" hangingPunct="0"/>
            <a:r>
              <a:rPr lang="en-GB" sz="2400" dirty="0" smtClean="0"/>
              <a:t>Signed-digit representation</a:t>
            </a:r>
          </a:p>
          <a:p>
            <a:pPr lvl="2" eaLnBrk="0" hangingPunct="0"/>
            <a:r>
              <a:rPr lang="en-US" sz="2400" dirty="0" smtClean="0"/>
              <a:t>Residue </a:t>
            </a:r>
            <a:r>
              <a:rPr lang="en-GB" sz="2400" dirty="0" smtClean="0"/>
              <a:t>n</a:t>
            </a:r>
            <a:r>
              <a:rPr lang="en-US" sz="2400" dirty="0" smtClean="0"/>
              <a:t>umber </a:t>
            </a:r>
            <a:r>
              <a:rPr lang="en-GB" sz="2400" dirty="0" smtClean="0"/>
              <a:t>s</a:t>
            </a:r>
            <a:r>
              <a:rPr lang="en-US" sz="2400" dirty="0" err="1" smtClean="0"/>
              <a:t>ystem</a:t>
            </a:r>
            <a:r>
              <a:rPr lang="en-GB" sz="2400" dirty="0" smtClean="0"/>
              <a:t> (modulo arithmetic)</a:t>
            </a:r>
          </a:p>
          <a:p>
            <a:pPr lvl="1" eaLnBrk="0" hangingPunct="0"/>
            <a:r>
              <a:rPr lang="en-GB" dirty="0" smtClean="0"/>
              <a:t>Decimal: decimal floating point, binary coded decimal</a:t>
            </a:r>
          </a:p>
          <a:p>
            <a:pPr lvl="1" eaLnBrk="0" hangingPunct="0">
              <a:buNone/>
            </a:pPr>
            <a:endParaRPr lang="en-US" sz="2800" dirty="0" smtClean="0"/>
          </a:p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Number Representation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One’s Complement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5</a:t>
            </a:fld>
            <a:endParaRPr lang="en-GB"/>
          </a:p>
        </p:txBody>
      </p:sp>
      <p:grpSp>
        <p:nvGrpSpPr>
          <p:cNvPr id="64" name="Group 63"/>
          <p:cNvGrpSpPr/>
          <p:nvPr/>
        </p:nvGrpSpPr>
        <p:grpSpPr>
          <a:xfrm>
            <a:off x="2045698" y="1484784"/>
            <a:ext cx="5694654" cy="3964548"/>
            <a:chOff x="2045698" y="1484784"/>
            <a:chExt cx="5694654" cy="3964548"/>
          </a:xfrm>
        </p:grpSpPr>
        <p:cxnSp>
          <p:nvCxnSpPr>
            <p:cNvPr id="43" name="Straight Connector 42"/>
            <p:cNvCxnSpPr/>
            <p:nvPr/>
          </p:nvCxnSpPr>
          <p:spPr>
            <a:xfrm rot="16200000" flipH="1">
              <a:off x="3239852" y="3176972"/>
              <a:ext cx="2376264" cy="57606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3002844" y="2087701"/>
              <a:ext cx="2755150" cy="2755150"/>
            </a:xfrm>
            <a:prstGeom prst="ellipse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79693" y="175177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</a:t>
              </a:r>
              <a:endParaRPr lang="en-GB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39054" y="1921107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</a:t>
              </a:r>
              <a:endParaRPr lang="en-GB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376251" y="228035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2</a:t>
              </a:r>
              <a:endParaRPr lang="en-GB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66124" y="279022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3</a:t>
              </a:r>
              <a:endParaRPr lang="en-GB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81116" y="328498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4</a:t>
              </a:r>
              <a:endParaRPr lang="en-GB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03722" y="3808430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5</a:t>
              </a:r>
              <a:endParaRPr lang="en-GB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36096" y="429309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6</a:t>
              </a:r>
              <a:endParaRPr lang="en-GB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70789" y="464002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7</a:t>
              </a:r>
              <a:endParaRPr lang="en-GB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24914" y="483040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8</a:t>
              </a:r>
              <a:endParaRPr lang="en-GB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831208" y="475993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9</a:t>
              </a:r>
              <a:endParaRPr lang="en-GB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40241" y="451311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</a:t>
              </a:r>
              <a:endParaRPr lang="en-GB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841730" y="402004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</a:t>
              </a:r>
              <a:endParaRPr lang="en-GB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9360" y="337359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12</a:t>
              </a:r>
              <a:endParaRPr lang="en-GB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732573" y="269845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13</a:t>
              </a:r>
              <a:endParaRPr lang="en-GB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83732" y="224295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14</a:t>
              </a:r>
              <a:endParaRPr lang="en-GB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63888" y="189653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15</a:t>
              </a:r>
              <a:endParaRPr lang="en-GB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27087" y="165946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1111</a:t>
              </a:r>
              <a:endParaRPr lang="en-GB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97536" y="1524000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0000</a:t>
              </a:r>
              <a:endParaRPr lang="en-GB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50343" y="1678230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0001</a:t>
              </a:r>
              <a:endParaRPr lang="en-GB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3873" y="206084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0010</a:t>
              </a:r>
              <a:endParaRPr lang="en-GB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11198" y="2662265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0011</a:t>
              </a:r>
              <a:endParaRPr lang="en-GB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156176" y="3284984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0100</a:t>
              </a:r>
              <a:endParaRPr lang="en-GB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88194" y="393982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0101</a:t>
              </a:r>
              <a:endParaRPr lang="en-GB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56395" y="4459690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0110</a:t>
              </a:r>
              <a:endParaRPr lang="en-GB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81931" y="488044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0111</a:t>
              </a:r>
              <a:endParaRPr lang="en-GB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251306" y="5080000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1000</a:t>
              </a:r>
              <a:endParaRPr lang="en-GB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513253" y="5023556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1001</a:t>
              </a:r>
              <a:endParaRPr lang="en-GB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885350" y="469617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1010</a:t>
              </a:r>
              <a:endParaRPr lang="en-GB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06400" y="420469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1011</a:t>
              </a:r>
              <a:endParaRPr lang="en-GB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045698" y="338666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1100</a:t>
              </a:r>
              <a:endParaRPr lang="en-GB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226320" y="255128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1101</a:t>
              </a:r>
              <a:endParaRPr lang="en-GB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689283" y="202800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1110</a:t>
              </a:r>
              <a:endParaRPr lang="en-GB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80112" y="1484784"/>
              <a:ext cx="2160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Unsigned</a:t>
              </a:r>
            </a:p>
            <a:p>
              <a:pPr algn="ctr"/>
              <a:r>
                <a:rPr lang="en-GB" dirty="0" smtClean="0"/>
                <a:t>Representations</a:t>
              </a:r>
              <a:endParaRPr lang="en-GB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47864" y="2996952"/>
              <a:ext cx="2160240" cy="64633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Signed Values</a:t>
              </a:r>
            </a:p>
            <a:p>
              <a:pPr algn="ctr"/>
              <a:r>
                <a:rPr lang="en-GB" dirty="0" smtClean="0"/>
                <a:t>(1’s Complement)</a:t>
              </a:r>
              <a:endParaRPr lang="en-GB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39952" y="3380799"/>
              <a:ext cx="5040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200" dirty="0" smtClean="0"/>
                <a:t>-</a:t>
              </a:r>
              <a:endParaRPr lang="en-GB" sz="72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572000" y="3501008"/>
              <a:ext cx="1800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800" dirty="0" smtClean="0"/>
                <a:t>+</a:t>
              </a:r>
              <a:endParaRPr lang="en-GB" sz="48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105317" y="403013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+6</a:t>
              </a:r>
              <a:endParaRPr lang="en-GB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74651" y="371404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+5</a:t>
              </a:r>
              <a:endParaRPr lang="en-GB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397293" y="328627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+4</a:t>
              </a:r>
              <a:endParaRPr lang="en-GB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334708" y="2849157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+3</a:t>
              </a:r>
              <a:endParaRPr lang="en-GB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103782" y="247347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+2</a:t>
              </a:r>
              <a:endParaRPr lang="en-GB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682692" y="217958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+1</a:t>
              </a:r>
              <a:endParaRPr lang="en-GB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87038" y="204324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</a:t>
              </a:r>
              <a:endParaRPr lang="en-GB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715249" y="215617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-0</a:t>
              </a:r>
              <a:endParaRPr lang="en-GB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342716" y="243960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-1</a:t>
              </a:r>
              <a:endParaRPr lang="en-GB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839097" y="441022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-6</a:t>
              </a:r>
              <a:endParaRPr lang="en-GB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346222" y="451070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-7</a:t>
              </a:r>
              <a:endParaRPr lang="en-GB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410449" y="418817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-5</a:t>
              </a:r>
              <a:endParaRPr lang="en-GB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135241" y="380435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-4</a:t>
              </a:r>
              <a:endParaRPr lang="en-GB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028162" y="3352800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-3</a:t>
              </a:r>
              <a:endParaRPr lang="en-GB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059832" y="285293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-2</a:t>
              </a:r>
              <a:endParaRPr lang="en-GB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788024" y="436510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+7</a:t>
              </a:r>
              <a:endParaRPr lang="en-GB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Two’s Complement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5" name="Group 4"/>
          <p:cNvGrpSpPr/>
          <p:nvPr/>
        </p:nvGrpSpPr>
        <p:grpSpPr>
          <a:xfrm>
            <a:off x="2045698" y="1484784"/>
            <a:ext cx="5694654" cy="3964548"/>
            <a:chOff x="2045698" y="1484784"/>
            <a:chExt cx="5694654" cy="3964548"/>
          </a:xfrm>
        </p:grpSpPr>
        <p:cxnSp>
          <p:nvCxnSpPr>
            <p:cNvPr id="42" name="Straight Connector 41"/>
            <p:cNvCxnSpPr/>
            <p:nvPr/>
          </p:nvCxnSpPr>
          <p:spPr>
            <a:xfrm rot="16200000" flipH="1">
              <a:off x="3239852" y="3176972"/>
              <a:ext cx="2376264" cy="57606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3002844" y="2087701"/>
              <a:ext cx="2755150" cy="2755150"/>
            </a:xfrm>
            <a:prstGeom prst="ellipse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279693" y="175177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</a:t>
              </a:r>
              <a:endParaRPr lang="en-GB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39054" y="1921107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</a:t>
              </a:r>
              <a:endParaRPr lang="en-GB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376251" y="228035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2</a:t>
              </a:r>
              <a:endParaRPr lang="en-GB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66124" y="279022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3</a:t>
              </a:r>
              <a:endParaRPr lang="en-GB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81116" y="328498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4</a:t>
              </a:r>
              <a:endParaRPr lang="en-GB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703722" y="3808430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5</a:t>
              </a:r>
              <a:endParaRPr lang="en-GB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36096" y="429309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6</a:t>
              </a:r>
              <a:endParaRPr lang="en-GB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70789" y="464002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7</a:t>
              </a:r>
              <a:endParaRPr lang="en-GB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24914" y="4830405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8</a:t>
              </a:r>
              <a:endParaRPr lang="en-GB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831208" y="475993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9</a:t>
              </a:r>
              <a:endParaRPr lang="en-GB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40241" y="451311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</a:t>
              </a:r>
              <a:endParaRPr lang="en-GB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41730" y="402004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</a:t>
              </a:r>
              <a:endParaRPr lang="en-GB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59360" y="337359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12</a:t>
              </a:r>
              <a:endParaRPr lang="en-GB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32573" y="269845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13</a:t>
              </a:r>
              <a:endParaRPr lang="en-GB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83732" y="224295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14</a:t>
              </a:r>
              <a:endParaRPr lang="en-GB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563888" y="189653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15</a:t>
              </a:r>
              <a:endParaRPr lang="en-GB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27087" y="165946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1111</a:t>
              </a:r>
              <a:endParaRPr lang="en-GB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097536" y="1524000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0000</a:t>
              </a:r>
              <a:endParaRPr lang="en-GB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50343" y="1678230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0001</a:t>
              </a:r>
              <a:endParaRPr lang="en-GB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83873" y="206084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0010</a:t>
              </a:r>
              <a:endParaRPr lang="en-GB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911198" y="2662265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0011</a:t>
              </a:r>
              <a:endParaRPr lang="en-GB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56176" y="3284984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0100</a:t>
              </a:r>
              <a:endParaRPr lang="en-GB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88194" y="393982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0101</a:t>
              </a:r>
              <a:endParaRPr lang="en-GB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6395" y="4459690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0110</a:t>
              </a:r>
              <a:endParaRPr lang="en-GB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81931" y="488044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0111</a:t>
              </a:r>
              <a:endParaRPr lang="en-GB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51306" y="5080000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1000</a:t>
              </a:r>
              <a:endParaRPr lang="en-GB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13253" y="5023556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1001</a:t>
              </a:r>
              <a:endParaRPr lang="en-GB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85350" y="469617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1010</a:t>
              </a:r>
              <a:endParaRPr lang="en-GB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406400" y="420469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1011</a:t>
              </a:r>
              <a:endParaRPr lang="en-GB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045698" y="338666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1100</a:t>
              </a:r>
              <a:endParaRPr lang="en-GB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26320" y="255128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1101</a:t>
              </a:r>
              <a:endParaRPr lang="en-GB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689283" y="2028009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1110</a:t>
              </a:r>
              <a:endParaRPr lang="en-GB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80112" y="1484784"/>
              <a:ext cx="2160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Unsigned</a:t>
              </a:r>
            </a:p>
            <a:p>
              <a:pPr algn="ctr"/>
              <a:r>
                <a:rPr lang="en-GB" dirty="0" smtClean="0"/>
                <a:t>Representations</a:t>
              </a:r>
              <a:endParaRPr lang="en-GB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347864" y="2996952"/>
              <a:ext cx="2160240" cy="64633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/>
                <a:t>Signed Values</a:t>
              </a:r>
            </a:p>
            <a:p>
              <a:pPr algn="ctr"/>
              <a:r>
                <a:rPr lang="en-GB" dirty="0" smtClean="0"/>
                <a:t>(2’s Complement)</a:t>
              </a:r>
              <a:endParaRPr lang="en-GB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139952" y="3380799"/>
              <a:ext cx="5040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200" dirty="0" smtClean="0"/>
                <a:t>-</a:t>
              </a:r>
              <a:endParaRPr lang="en-GB" sz="72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72000" y="3501008"/>
              <a:ext cx="1800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800" dirty="0" smtClean="0"/>
                <a:t>+</a:t>
              </a:r>
              <a:endParaRPr lang="en-GB" sz="48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105317" y="403013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+6</a:t>
              </a:r>
              <a:endParaRPr lang="en-GB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274651" y="371404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+5</a:t>
              </a:r>
              <a:endParaRPr lang="en-GB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397293" y="328627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+4</a:t>
              </a:r>
              <a:endParaRPr lang="en-GB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34708" y="2849157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+3</a:t>
              </a:r>
              <a:endParaRPr lang="en-GB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103782" y="2473471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+2</a:t>
              </a:r>
              <a:endParaRPr lang="en-GB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682692" y="217958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+1</a:t>
              </a:r>
              <a:endParaRPr lang="en-GB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287038" y="2043242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</a:t>
              </a:r>
              <a:endParaRPr lang="en-GB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715249" y="215617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-1</a:t>
              </a:r>
              <a:endParaRPr lang="en-GB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42716" y="243960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-2</a:t>
              </a:r>
              <a:endParaRPr lang="en-GB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839097" y="441022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-7</a:t>
              </a:r>
              <a:endParaRPr lang="en-GB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346222" y="4510703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-8</a:t>
              </a:r>
              <a:endParaRPr lang="en-GB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10449" y="4188178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-6</a:t>
              </a:r>
              <a:endParaRPr lang="en-GB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135241" y="380435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-5</a:t>
              </a:r>
              <a:endParaRPr lang="en-GB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028162" y="3352800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-4</a:t>
              </a:r>
              <a:endParaRPr lang="en-GB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59832" y="285293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-3</a:t>
              </a:r>
              <a:endParaRPr lang="en-GB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788024" y="436510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+7</a:t>
              </a:r>
              <a:endParaRPr lang="en-GB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57200" y="1124744"/>
            <a:ext cx="8579296" cy="5184576"/>
          </a:xfrm>
        </p:spPr>
        <p:txBody>
          <a:bodyPr>
            <a:normAutofit fontScale="70000" lnSpcReduction="20000"/>
          </a:bodyPr>
          <a:lstStyle/>
          <a:p>
            <a:r>
              <a:rPr lang="en-GB" sz="4000" dirty="0" smtClean="0"/>
              <a:t>Sign-magnitude representation for integer x.</a:t>
            </a:r>
          </a:p>
          <a:p>
            <a:pPr>
              <a:buNone/>
            </a:pPr>
            <a:r>
              <a:rPr lang="en-GB" dirty="0" smtClean="0"/>
              <a:t>	Most significant bit (</a:t>
            </a:r>
            <a:r>
              <a:rPr lang="en-GB" dirty="0" err="1" smtClean="0"/>
              <a:t>msb</a:t>
            </a:r>
            <a:r>
              <a:rPr lang="en-GB" dirty="0" smtClean="0"/>
              <a:t>) is the sign bit.</a:t>
            </a:r>
          </a:p>
          <a:p>
            <a:pPr>
              <a:buNone/>
            </a:pPr>
            <a:r>
              <a:rPr lang="en-GB" dirty="0" smtClean="0"/>
              <a:t>	</a:t>
            </a:r>
            <a:r>
              <a:rPr lang="en-GB" b="1" dirty="0" smtClean="0">
                <a:solidFill>
                  <a:schemeClr val="accent3"/>
                </a:solidFill>
              </a:rPr>
              <a:t>Advantages: </a:t>
            </a:r>
            <a:r>
              <a:rPr lang="en-GB" dirty="0" smtClean="0"/>
              <a:t>symmetry around 0, easy access to |x|, simple overflow detection</a:t>
            </a:r>
          </a:p>
          <a:p>
            <a:pPr>
              <a:buNone/>
            </a:pPr>
            <a:r>
              <a:rPr lang="en-GB" dirty="0" smtClean="0"/>
              <a:t>	</a:t>
            </a:r>
            <a:r>
              <a:rPr lang="en-GB" b="1" dirty="0" smtClean="0">
                <a:solidFill>
                  <a:schemeClr val="accent3"/>
                </a:solidFill>
              </a:rPr>
              <a:t>Disadvantages: </a:t>
            </a:r>
            <a:r>
              <a:rPr lang="en-GB" dirty="0" smtClean="0"/>
              <a:t>complexity of add/sub.</a:t>
            </a:r>
          </a:p>
          <a:p>
            <a:r>
              <a:rPr lang="en-GB" sz="4000" dirty="0" smtClean="0"/>
              <a:t>One’s complement numbers: </a:t>
            </a:r>
          </a:p>
          <a:p>
            <a:pPr>
              <a:buNone/>
            </a:pPr>
            <a:r>
              <a:rPr lang="en-GB" dirty="0" smtClean="0"/>
              <a:t>      Represent -x by inverting each bit. </a:t>
            </a:r>
            <a:r>
              <a:rPr lang="en-GB" b="1" dirty="0" smtClean="0">
                <a:solidFill>
                  <a:srgbClr val="660066"/>
                </a:solidFill>
              </a:rPr>
              <a:t>Overflow=</a:t>
            </a:r>
            <a:r>
              <a:rPr lang="en-GB" b="1" dirty="0" err="1" smtClean="0">
                <a:solidFill>
                  <a:srgbClr val="660066"/>
                </a:solidFill>
              </a:rPr>
              <a:t>Sign_Carry_In</a:t>
            </a:r>
            <a:r>
              <a:rPr lang="en-GB" b="1" dirty="0" smtClean="0">
                <a:solidFill>
                  <a:srgbClr val="660066"/>
                </a:solidFill>
              </a:rPr>
              <a:t> ^ </a:t>
            </a:r>
            <a:r>
              <a:rPr lang="en-GB" b="1" dirty="0" err="1" smtClean="0">
                <a:solidFill>
                  <a:srgbClr val="660066"/>
                </a:solidFill>
              </a:rPr>
              <a:t>Sign_Carry_Cout</a:t>
            </a:r>
            <a:endParaRPr lang="en-GB" b="1" dirty="0" smtClean="0">
              <a:solidFill>
                <a:srgbClr val="660066"/>
              </a:solidFill>
            </a:endParaRPr>
          </a:p>
          <a:p>
            <a:pPr>
              <a:buNone/>
            </a:pPr>
            <a:r>
              <a:rPr lang="en-GB" dirty="0" smtClean="0"/>
              <a:t>	</a:t>
            </a:r>
            <a:r>
              <a:rPr lang="en-GB" b="1" dirty="0" smtClean="0">
                <a:solidFill>
                  <a:schemeClr val="accent3"/>
                </a:solidFill>
              </a:rPr>
              <a:t>Advantages: </a:t>
            </a:r>
            <a:r>
              <a:rPr lang="en-GB" dirty="0" smtClean="0"/>
              <a:t>fast negation</a:t>
            </a:r>
          </a:p>
          <a:p>
            <a:pPr>
              <a:buNone/>
            </a:pPr>
            <a:r>
              <a:rPr lang="en-GB" b="1" dirty="0" smtClean="0">
                <a:solidFill>
                  <a:srgbClr val="FF0000"/>
                </a:solidFill>
              </a:rPr>
              <a:t>	</a:t>
            </a:r>
            <a:r>
              <a:rPr lang="en-GB" b="1" dirty="0" smtClean="0">
                <a:solidFill>
                  <a:schemeClr val="accent3"/>
                </a:solidFill>
              </a:rPr>
              <a:t>Disadvantages: </a:t>
            </a:r>
            <a:r>
              <a:rPr lang="en-GB" dirty="0" smtClean="0"/>
              <a:t>add/sub correction: carry-out of sign bit is added to </a:t>
            </a:r>
            <a:r>
              <a:rPr lang="en-GB" dirty="0" err="1" smtClean="0"/>
              <a:t>lsb</a:t>
            </a:r>
            <a:endParaRPr lang="en-GB" dirty="0" smtClean="0"/>
          </a:p>
          <a:p>
            <a:r>
              <a:rPr lang="en-GB" sz="4000" dirty="0" smtClean="0"/>
              <a:t>Two’s complement:</a:t>
            </a:r>
          </a:p>
          <a:p>
            <a:pPr>
              <a:buNone/>
            </a:pPr>
            <a:r>
              <a:rPr lang="en-GB" dirty="0" smtClean="0"/>
              <a:t>      Represent -x by inverting each bit and adding ‘1’. </a:t>
            </a:r>
            <a:r>
              <a:rPr lang="en-GB" b="1" dirty="0" smtClean="0">
                <a:solidFill>
                  <a:srgbClr val="660066"/>
                </a:solidFill>
              </a:rPr>
              <a:t>Overflow=same as One’s c.</a:t>
            </a:r>
          </a:p>
          <a:p>
            <a:pPr>
              <a:buNone/>
            </a:pPr>
            <a:r>
              <a:rPr lang="en-GB" b="1" dirty="0" smtClean="0">
                <a:solidFill>
                  <a:srgbClr val="FF0000"/>
                </a:solidFill>
              </a:rPr>
              <a:t>    	</a:t>
            </a:r>
            <a:r>
              <a:rPr lang="en-GB" b="1" dirty="0" smtClean="0">
                <a:solidFill>
                  <a:schemeClr val="accent3"/>
                </a:solidFill>
              </a:rPr>
              <a:t>Advantages: </a:t>
            </a:r>
            <a:r>
              <a:rPr lang="en-GB" dirty="0" smtClean="0"/>
              <a:t>fast add/sub</a:t>
            </a:r>
          </a:p>
          <a:p>
            <a:pPr>
              <a:buNone/>
            </a:pPr>
            <a:r>
              <a:rPr lang="en-GB" b="1" dirty="0" smtClean="0">
                <a:solidFill>
                  <a:srgbClr val="FF0000"/>
                </a:solidFill>
              </a:rPr>
              <a:t>	</a:t>
            </a:r>
            <a:r>
              <a:rPr lang="en-GB" b="1" dirty="0" smtClean="0">
                <a:solidFill>
                  <a:schemeClr val="accent3"/>
                </a:solidFill>
              </a:rPr>
              <a:t>Disadvantages: </a:t>
            </a:r>
            <a:r>
              <a:rPr lang="en-GB" dirty="0" smtClean="0"/>
              <a:t>magnitude computation requires full addition</a:t>
            </a:r>
            <a:endParaRPr 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Signed N-bit Integers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Generalisation of integers, with a ‘radix point’</a:t>
            </a:r>
          </a:p>
          <a:p>
            <a:r>
              <a:rPr lang="en-GB" dirty="0" smtClean="0"/>
              <a:t>Digits to the right of the radix point represent negative powers of 2</a:t>
            </a:r>
            <a:endParaRPr lang="en-GB" i="1" dirty="0" smtClean="0"/>
          </a:p>
          <a:p>
            <a:endParaRPr lang="en-GB" i="1" dirty="0" smtClean="0"/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i="1" dirty="0" smtClean="0"/>
              <a:t>F</a:t>
            </a:r>
            <a:r>
              <a:rPr lang="en-GB" dirty="0" smtClean="0"/>
              <a:t> = number of fractional bits</a:t>
            </a:r>
          </a:p>
          <a:p>
            <a:pPr lvl="1"/>
            <a:r>
              <a:rPr lang="en-GB" dirty="0" smtClean="0"/>
              <a:t>Bits to the right of the ‘radix point’</a:t>
            </a:r>
          </a:p>
          <a:p>
            <a:pPr lvl="1"/>
            <a:r>
              <a:rPr lang="en-GB" dirty="0" smtClean="0"/>
              <a:t>For integers, F = 0</a:t>
            </a:r>
          </a:p>
          <a:p>
            <a:pPr>
              <a:buNone/>
            </a:pPr>
            <a:endParaRPr lang="en-GB" dirty="0" smtClean="0"/>
          </a:p>
          <a:p>
            <a:pPr>
              <a:lnSpc>
                <a:spcPct val="80000"/>
              </a:lnSpc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Fixed Point Numbers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815505" y="2721124"/>
          <a:ext cx="609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3</a:t>
                      </a:r>
                      <a:endParaRPr lang="en-GB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endParaRPr lang="en-GB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r>
                        <a:rPr lang="en-GB" b="0" baseline="30000" dirty="0" smtClean="0">
                          <a:solidFill>
                            <a:schemeClr val="accent5"/>
                          </a:solidFill>
                        </a:rPr>
                        <a:t>-5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Oval 20"/>
          <p:cNvSpPr/>
          <p:nvPr/>
        </p:nvSpPr>
        <p:spPr>
          <a:xfrm>
            <a:off x="4796408" y="2836565"/>
            <a:ext cx="144016" cy="144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228600" y="2714625"/>
            <a:ext cx="161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accent5"/>
                </a:solidFill>
              </a:rPr>
              <a:t>Digit weights:</a:t>
            </a:r>
          </a:p>
          <a:p>
            <a:r>
              <a:rPr lang="en-GB" b="1" dirty="0" smtClean="0">
                <a:solidFill>
                  <a:schemeClr val="accent5"/>
                </a:solidFill>
              </a:rPr>
              <a:t>(unsigned)</a:t>
            </a:r>
            <a:endParaRPr lang="en-GB" b="1" dirty="0">
              <a:solidFill>
                <a:schemeClr val="accent5"/>
              </a:solidFill>
            </a:endParaRPr>
          </a:p>
        </p:txBody>
      </p:sp>
      <p:sp>
        <p:nvSpPr>
          <p:cNvPr id="8" name="Left Brace 7"/>
          <p:cNvSpPr/>
          <p:nvPr/>
        </p:nvSpPr>
        <p:spPr>
          <a:xfrm rot="16200000">
            <a:off x="3198020" y="1769268"/>
            <a:ext cx="285751" cy="3033715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Brace 8"/>
          <p:cNvSpPr/>
          <p:nvPr/>
        </p:nvSpPr>
        <p:spPr>
          <a:xfrm rot="16200000">
            <a:off x="6255545" y="1769268"/>
            <a:ext cx="285751" cy="3033715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3076575" y="3400425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I</a:t>
            </a:r>
            <a:r>
              <a:rPr lang="en-GB" dirty="0" smtClean="0"/>
              <a:t> bits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6143625" y="3400425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 smtClean="0"/>
              <a:t>F</a:t>
            </a:r>
            <a:r>
              <a:rPr lang="en-GB" dirty="0" smtClean="0"/>
              <a:t> bits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256584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Think of each number as: (V </a:t>
            </a:r>
            <a:r>
              <a:rPr lang="en-GB" dirty="0" smtClean="0">
                <a:sym typeface="Symbol"/>
              </a:rPr>
              <a:t> </a:t>
            </a:r>
            <a:r>
              <a:rPr lang="en-GB" dirty="0" smtClean="0"/>
              <a:t>2</a:t>
            </a:r>
            <a:r>
              <a:rPr lang="en-GB" baseline="30000" dirty="0" smtClean="0"/>
              <a:t>-F</a:t>
            </a:r>
            <a:r>
              <a:rPr lang="en-GB" dirty="0" smtClean="0"/>
              <a:t>)</a:t>
            </a:r>
          </a:p>
          <a:p>
            <a:r>
              <a:rPr lang="en-GB" dirty="0" smtClean="0"/>
              <a:t>Addition and subtraction: (V1 </a:t>
            </a:r>
            <a:r>
              <a:rPr lang="en-GB" dirty="0" smtClean="0">
                <a:sym typeface="Symbol"/>
              </a:rPr>
              <a:t> </a:t>
            </a:r>
            <a:r>
              <a:rPr lang="en-GB" dirty="0" smtClean="0"/>
              <a:t>2</a:t>
            </a:r>
            <a:r>
              <a:rPr lang="en-GB" baseline="30000" dirty="0" smtClean="0"/>
              <a:t>-F1</a:t>
            </a:r>
            <a:r>
              <a:rPr lang="en-GB" dirty="0" smtClean="0"/>
              <a:t>) + (V2 </a:t>
            </a:r>
            <a:r>
              <a:rPr lang="en-GB" dirty="0" smtClean="0">
                <a:sym typeface="Symbol"/>
              </a:rPr>
              <a:t> </a:t>
            </a:r>
            <a:r>
              <a:rPr lang="en-GB" dirty="0" smtClean="0"/>
              <a:t>2</a:t>
            </a:r>
            <a:r>
              <a:rPr lang="en-GB" baseline="30000" dirty="0" smtClean="0"/>
              <a:t>-F2</a:t>
            </a:r>
            <a:r>
              <a:rPr lang="en-GB" dirty="0" smtClean="0"/>
              <a:t>)</a:t>
            </a:r>
          </a:p>
          <a:p>
            <a:pPr lvl="1"/>
            <a:r>
              <a:rPr lang="en-GB" dirty="0" smtClean="0"/>
              <a:t>Align radix points and compute the same as for integers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Multiplication: (V1 </a:t>
            </a:r>
            <a:r>
              <a:rPr lang="en-GB" dirty="0" smtClean="0">
                <a:sym typeface="Symbol"/>
              </a:rPr>
              <a:t> </a:t>
            </a:r>
            <a:r>
              <a:rPr lang="en-GB" dirty="0" smtClean="0"/>
              <a:t>2</a:t>
            </a:r>
            <a:r>
              <a:rPr lang="en-GB" baseline="30000" dirty="0" smtClean="0"/>
              <a:t>-F1</a:t>
            </a:r>
            <a:r>
              <a:rPr lang="en-GB" dirty="0" smtClean="0"/>
              <a:t>) </a:t>
            </a:r>
            <a:r>
              <a:rPr lang="en-GB" dirty="0" smtClean="0">
                <a:sym typeface="Symbol"/>
              </a:rPr>
              <a:t></a:t>
            </a:r>
            <a:r>
              <a:rPr lang="en-GB" dirty="0" smtClean="0"/>
              <a:t> (V2 </a:t>
            </a:r>
            <a:r>
              <a:rPr lang="en-GB" dirty="0" smtClean="0">
                <a:sym typeface="Symbol"/>
              </a:rPr>
              <a:t> </a:t>
            </a:r>
            <a:r>
              <a:rPr lang="en-GB" dirty="0" smtClean="0"/>
              <a:t>2</a:t>
            </a:r>
            <a:r>
              <a:rPr lang="en-GB" baseline="30000" dirty="0" smtClean="0"/>
              <a:t>-F2</a:t>
            </a:r>
            <a:r>
              <a:rPr lang="en-GB" dirty="0" smtClean="0"/>
              <a:t>) = V1</a:t>
            </a:r>
            <a:r>
              <a:rPr lang="en-GB" dirty="0" smtClean="0">
                <a:sym typeface="Symbol"/>
              </a:rPr>
              <a:t>V2  2</a:t>
            </a:r>
            <a:r>
              <a:rPr lang="en-GB" baseline="30000" dirty="0" smtClean="0"/>
              <a:t>-(F1+F2)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Division: (V1 </a:t>
            </a:r>
            <a:r>
              <a:rPr lang="en-GB" dirty="0" smtClean="0">
                <a:sym typeface="Symbol"/>
              </a:rPr>
              <a:t> </a:t>
            </a:r>
            <a:r>
              <a:rPr lang="en-GB" dirty="0" smtClean="0"/>
              <a:t>2</a:t>
            </a:r>
            <a:r>
              <a:rPr lang="en-GB" baseline="30000" dirty="0" smtClean="0"/>
              <a:t>-F1</a:t>
            </a:r>
            <a:r>
              <a:rPr lang="en-GB" dirty="0" smtClean="0"/>
              <a:t>) </a:t>
            </a:r>
            <a:r>
              <a:rPr lang="en-GB" dirty="0" smtClean="0">
                <a:sym typeface="Symbol"/>
              </a:rPr>
              <a:t>/</a:t>
            </a:r>
            <a:r>
              <a:rPr lang="en-GB" dirty="0" smtClean="0"/>
              <a:t> (V2 </a:t>
            </a:r>
            <a:r>
              <a:rPr lang="en-GB" dirty="0" smtClean="0">
                <a:sym typeface="Symbol"/>
              </a:rPr>
              <a:t> </a:t>
            </a:r>
            <a:r>
              <a:rPr lang="en-GB" dirty="0" smtClean="0"/>
              <a:t>2</a:t>
            </a:r>
            <a:r>
              <a:rPr lang="en-GB" baseline="30000" dirty="0" smtClean="0"/>
              <a:t>-F2</a:t>
            </a:r>
            <a:r>
              <a:rPr lang="en-GB" dirty="0" smtClean="0"/>
              <a:t>) = (V1</a:t>
            </a:r>
            <a:r>
              <a:rPr lang="en-GB" dirty="0" smtClean="0">
                <a:sym typeface="Symbol"/>
              </a:rPr>
              <a:t>/V2)  2</a:t>
            </a:r>
            <a:r>
              <a:rPr lang="en-GB" baseline="30000" dirty="0" smtClean="0"/>
              <a:t>-(F1-F2)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Fixed Point Maths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929805" y="2559199"/>
          <a:ext cx="6096000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2287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Oval 18"/>
          <p:cNvSpPr/>
          <p:nvPr/>
        </p:nvSpPr>
        <p:spPr>
          <a:xfrm>
            <a:off x="4910708" y="2665115"/>
            <a:ext cx="144016" cy="144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539405" y="2978299"/>
          <a:ext cx="6096000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Oval 20"/>
          <p:cNvSpPr/>
          <p:nvPr/>
        </p:nvSpPr>
        <p:spPr>
          <a:xfrm>
            <a:off x="4901183" y="3075434"/>
            <a:ext cx="144016" cy="144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929805" y="3397399"/>
          <a:ext cx="6709373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</a:tblGrid>
              <a:tr h="1935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190625" y="2828925"/>
            <a:ext cx="781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 smtClean="0"/>
              <a:t>+</a:t>
            </a:r>
            <a:endParaRPr lang="en-GB" sz="3000" dirty="0"/>
          </a:p>
        </p:txBody>
      </p:sp>
      <p:sp>
        <p:nvSpPr>
          <p:cNvPr id="24" name="TextBox 23"/>
          <p:cNvSpPr txBox="1"/>
          <p:nvPr/>
        </p:nvSpPr>
        <p:spPr>
          <a:xfrm>
            <a:off x="1190625" y="3267075"/>
            <a:ext cx="781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 smtClean="0"/>
              <a:t>=</a:t>
            </a:r>
            <a:endParaRPr lang="en-GB" sz="3000" dirty="0"/>
          </a:p>
        </p:txBody>
      </p:sp>
      <p:sp>
        <p:nvSpPr>
          <p:cNvPr id="25" name="Oval 24"/>
          <p:cNvSpPr/>
          <p:nvPr/>
        </p:nvSpPr>
        <p:spPr>
          <a:xfrm>
            <a:off x="4901183" y="3484265"/>
            <a:ext cx="144016" cy="144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368205" y="4407049"/>
          <a:ext cx="2438400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Oval 26"/>
          <p:cNvSpPr/>
          <p:nvPr/>
        </p:nvSpPr>
        <p:spPr>
          <a:xfrm>
            <a:off x="5520308" y="4522490"/>
            <a:ext cx="144016" cy="144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149005" y="4816624"/>
          <a:ext cx="4267200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Oval 28"/>
          <p:cNvSpPr/>
          <p:nvPr/>
        </p:nvSpPr>
        <p:spPr>
          <a:xfrm>
            <a:off x="5520308" y="4922540"/>
            <a:ext cx="144016" cy="144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939330" y="5226199"/>
          <a:ext cx="6709373" cy="335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  <a:gridCol w="609943"/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en-GB" sz="1600" b="0" baseline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GB" sz="1600" b="0" baseline="30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baseline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200150" y="4676775"/>
            <a:ext cx="781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>
                <a:sym typeface="Symbol"/>
              </a:rPr>
              <a:t></a:t>
            </a:r>
            <a:endParaRPr lang="en-GB" sz="3000" dirty="0"/>
          </a:p>
        </p:txBody>
      </p:sp>
      <p:sp>
        <p:nvSpPr>
          <p:cNvPr id="32" name="TextBox 31"/>
          <p:cNvSpPr txBox="1"/>
          <p:nvPr/>
        </p:nvSpPr>
        <p:spPr>
          <a:xfrm>
            <a:off x="1200150" y="5095875"/>
            <a:ext cx="781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 smtClean="0"/>
              <a:t>=</a:t>
            </a:r>
            <a:endParaRPr lang="en-GB" sz="3000" dirty="0"/>
          </a:p>
        </p:txBody>
      </p:sp>
      <p:sp>
        <p:nvSpPr>
          <p:cNvPr id="33" name="Oval 32"/>
          <p:cNvSpPr/>
          <p:nvPr/>
        </p:nvSpPr>
        <p:spPr>
          <a:xfrm>
            <a:off x="5520308" y="5322590"/>
            <a:ext cx="144016" cy="144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41379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regular mantissa = 1.xxxxxx</a:t>
            </a:r>
          </a:p>
          <a:p>
            <a:r>
              <a:rPr lang="en-GB" dirty="0" err="1" smtClean="0"/>
              <a:t>denormal</a:t>
            </a:r>
            <a:r>
              <a:rPr lang="en-GB" dirty="0" smtClean="0"/>
              <a:t> numbers: mantissa = 0.xxxxxx with min exponent</a:t>
            </a:r>
          </a:p>
          <a:p>
            <a:r>
              <a:rPr lang="en-GB" dirty="0" smtClean="0"/>
              <a:t>IEEE FP Standard: base=2, single, double, extended widths</a:t>
            </a:r>
          </a:p>
          <a:p>
            <a:r>
              <a:rPr lang="en-GB" dirty="0" smtClean="0"/>
              <a:t>Custom Computing: choose widths of fields + choose base</a:t>
            </a:r>
          </a:p>
          <a:p>
            <a:pPr>
              <a:lnSpc>
                <a:spcPct val="120000"/>
              </a:lnSpc>
            </a:pPr>
            <a:r>
              <a:rPr lang="en-GB" dirty="0" err="1" smtClean="0"/>
              <a:t>Tradeoff</a:t>
            </a:r>
            <a:r>
              <a:rPr lang="en-GB" dirty="0" smtClean="0"/>
              <a:t>: </a:t>
            </a:r>
          </a:p>
          <a:p>
            <a:pPr lvl="1">
              <a:lnSpc>
                <a:spcPct val="120000"/>
              </a:lnSpc>
            </a:pPr>
            <a:r>
              <a:rPr lang="en-GB" b="1" dirty="0" smtClean="0"/>
              <a:t> </a:t>
            </a:r>
            <a:r>
              <a:rPr lang="en-GB" b="1" dirty="0" smtClean="0">
                <a:solidFill>
                  <a:schemeClr val="accent3"/>
                </a:solidFill>
              </a:rPr>
              <a:t>Performance</a:t>
            </a:r>
            <a:r>
              <a:rPr lang="en-GB" dirty="0" smtClean="0">
                <a:solidFill>
                  <a:schemeClr val="accent3"/>
                </a:solidFill>
              </a:rPr>
              <a:t>:</a:t>
            </a:r>
            <a:r>
              <a:rPr lang="en-GB" b="1" dirty="0" smtClean="0"/>
              <a:t> </a:t>
            </a:r>
            <a:r>
              <a:rPr lang="en-GB" dirty="0" smtClean="0"/>
              <a:t>small widths, larger base, truncation. </a:t>
            </a:r>
          </a:p>
          <a:p>
            <a:pPr lvl="1">
              <a:lnSpc>
                <a:spcPct val="120000"/>
              </a:lnSpc>
            </a:pPr>
            <a:r>
              <a:rPr lang="en-GB" dirty="0" smtClean="0"/>
              <a:t> versus </a:t>
            </a:r>
            <a:r>
              <a:rPr lang="en-GB" b="1" dirty="0" smtClean="0">
                <a:solidFill>
                  <a:schemeClr val="accent3"/>
                </a:solidFill>
              </a:rPr>
              <a:t>Accuracy</a:t>
            </a:r>
            <a:r>
              <a:rPr lang="en-GB" dirty="0" smtClean="0">
                <a:solidFill>
                  <a:schemeClr val="accent3"/>
                </a:solidFill>
              </a:rPr>
              <a:t>: </a:t>
            </a:r>
            <a:r>
              <a:rPr lang="en-GB" dirty="0" smtClean="0"/>
              <a:t>wide, base=2, round to even.</a:t>
            </a:r>
          </a:p>
          <a:p>
            <a:r>
              <a:rPr lang="en-GB" dirty="0" smtClean="0"/>
              <a:t>Disadvantage: FP arithmetic units tend to be very large compared to Integer/fixed point units.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Floating Point Representation</a:t>
            </a:r>
            <a:endParaRPr lang="en-GB" dirty="0"/>
          </a:p>
        </p:txBody>
      </p:sp>
      <p:graphicFrame>
        <p:nvGraphicFramePr>
          <p:cNvPr id="7169" name="Object 0"/>
          <p:cNvGraphicFramePr>
            <a:graphicFrameLocks noChangeAspect="1"/>
          </p:cNvGraphicFramePr>
          <p:nvPr/>
        </p:nvGraphicFramePr>
        <p:xfrm>
          <a:off x="2328863" y="1023392"/>
          <a:ext cx="3911600" cy="533400"/>
        </p:xfrm>
        <a:graphic>
          <a:graphicData uri="http://schemas.openxmlformats.org/presentationml/2006/ole">
            <p:oleObj spid="_x0000_s7169" name="Equation" r:id="rId4" imgW="167616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001419"/>
          </a:xfrm>
        </p:spPr>
        <p:txBody>
          <a:bodyPr/>
          <a:lstStyle/>
          <a:p>
            <a:r>
              <a:rPr lang="en-GB" dirty="0" smtClean="0"/>
              <a:t>Addition and subtraction: </a:t>
            </a:r>
          </a:p>
          <a:p>
            <a:pPr lvl="1"/>
            <a:r>
              <a:rPr lang="en-GB" dirty="0" smtClean="0"/>
              <a:t>Align exponents: shift smaller mantissa to the larger number’s exponent</a:t>
            </a:r>
          </a:p>
          <a:p>
            <a:pPr lvl="1"/>
            <a:r>
              <a:rPr lang="en-GB" dirty="0" smtClean="0"/>
              <a:t>Add mantissas</a:t>
            </a:r>
          </a:p>
          <a:p>
            <a:pPr lvl="1"/>
            <a:r>
              <a:rPr lang="en-GB" dirty="0" smtClean="0"/>
              <a:t>Normalize: shift mantissa until starts with ‘1’, adjust exponent</a:t>
            </a:r>
          </a:p>
          <a:p>
            <a:r>
              <a:rPr lang="en-GB" dirty="0" smtClean="0"/>
              <a:t>Multiplication:</a:t>
            </a:r>
          </a:p>
          <a:p>
            <a:pPr lvl="1"/>
            <a:r>
              <a:rPr lang="en-GB" dirty="0" smtClean="0"/>
              <a:t>Multiply mantissas, add exponents</a:t>
            </a:r>
          </a:p>
          <a:p>
            <a:r>
              <a:rPr lang="en-GB" dirty="0" smtClean="0"/>
              <a:t>Division:</a:t>
            </a:r>
          </a:p>
          <a:p>
            <a:pPr lvl="1"/>
            <a:r>
              <a:rPr lang="en-GB" dirty="0" smtClean="0"/>
              <a:t>Divide mantissas, subtract exponents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Floating Point Maths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MaxCompiler</a:t>
            </a:r>
            <a:r>
              <a:rPr lang="en-GB" dirty="0" smtClean="0"/>
              <a:t> has in-built support for floating point and fixed point/integer arithmetic</a:t>
            </a:r>
          </a:p>
          <a:p>
            <a:pPr lvl="1"/>
            <a:r>
              <a:rPr lang="en-GB" dirty="0" smtClean="0"/>
              <a:t>Depends on the </a:t>
            </a:r>
            <a:r>
              <a:rPr lang="en-GB" i="1" dirty="0" smtClean="0"/>
              <a:t>type</a:t>
            </a:r>
            <a:r>
              <a:rPr lang="en-GB" dirty="0" smtClean="0"/>
              <a:t> of the </a:t>
            </a:r>
            <a:r>
              <a:rPr lang="en-GB" dirty="0" err="1" smtClean="0"/>
              <a:t>HWVar</a:t>
            </a:r>
            <a:endParaRPr lang="en-GB" dirty="0" smtClean="0"/>
          </a:p>
          <a:p>
            <a:r>
              <a:rPr lang="en-GB" dirty="0" smtClean="0"/>
              <a:t>Can type inputs, outputs and constants</a:t>
            </a:r>
          </a:p>
          <a:p>
            <a:r>
              <a:rPr lang="en-GB" dirty="0" smtClean="0"/>
              <a:t>Or can </a:t>
            </a:r>
            <a:r>
              <a:rPr lang="en-GB" i="1" dirty="0" smtClean="0"/>
              <a:t>cast</a:t>
            </a:r>
            <a:r>
              <a:rPr lang="en-GB" dirty="0" smtClean="0"/>
              <a:t> </a:t>
            </a:r>
            <a:r>
              <a:rPr lang="en-GB" dirty="0" err="1" smtClean="0"/>
              <a:t>HWVars</a:t>
            </a:r>
            <a:r>
              <a:rPr lang="en-GB" dirty="0" smtClean="0"/>
              <a:t> from one type to another</a:t>
            </a:r>
          </a:p>
          <a:p>
            <a:r>
              <a:rPr lang="en-GB" dirty="0" smtClean="0"/>
              <a:t>Types are Java objects, just like </a:t>
            </a:r>
            <a:r>
              <a:rPr lang="en-GB" dirty="0" err="1" smtClean="0"/>
              <a:t>HWVars</a:t>
            </a:r>
            <a:r>
              <a:rPr lang="en-GB" dirty="0" smtClean="0"/>
              <a:t>, </a:t>
            </a:r>
            <a:br>
              <a:rPr lang="en-GB" dirty="0" smtClean="0"/>
            </a:br>
            <a:endParaRPr lang="en-GB" dirty="0" smtClean="0"/>
          </a:p>
          <a:p>
            <a:endParaRPr lang="en-GB" dirty="0" smtClean="0"/>
          </a:p>
          <a:p>
            <a:pPr>
              <a:buNone/>
            </a:pPr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994122"/>
          </a:xfrm>
        </p:spPr>
        <p:txBody>
          <a:bodyPr>
            <a:normAutofit/>
          </a:bodyPr>
          <a:lstStyle/>
          <a:p>
            <a:r>
              <a:rPr lang="en-GB" dirty="0" smtClean="0"/>
              <a:t>Number Representation in </a:t>
            </a:r>
            <a:r>
              <a:rPr lang="en-GB" dirty="0" err="1" smtClean="0"/>
              <a:t>MaxCompiler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63688" y="4221088"/>
            <a:ext cx="61561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// Create an input of type </a:t>
            </a:r>
            <a:r>
              <a:rPr lang="en-GB" sz="1600" i="1" dirty="0" smtClean="0">
                <a:latin typeface="Courier New" pitchFamily="49" charset="0"/>
                <a:cs typeface="Courier New" pitchFamily="49" charset="0"/>
              </a:rPr>
              <a:t>t</a:t>
            </a: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(String name,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HWType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t); 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// Create an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of type </a:t>
            </a:r>
            <a:r>
              <a:rPr lang="en-GB" sz="1600" i="1" dirty="0" smtClean="0">
                <a:latin typeface="Courier New" pitchFamily="49" charset="0"/>
                <a:cs typeface="Courier New" pitchFamily="49" charset="0"/>
              </a:rPr>
              <a:t>t 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with constant value</a:t>
            </a: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constant.var(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HWType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t, double value);</a:t>
            </a:r>
          </a:p>
          <a:p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// Cast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i="1" dirty="0" smtClean="0">
                <a:latin typeface="Courier New" pitchFamily="49" charset="0"/>
                <a:cs typeface="Courier New" pitchFamily="49" charset="0"/>
              </a:rPr>
              <a:t>y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to type </a:t>
            </a:r>
            <a:r>
              <a:rPr lang="en-GB" sz="1600" i="1" dirty="0" smtClean="0">
                <a:latin typeface="Courier New" pitchFamily="49" charset="0"/>
                <a:cs typeface="Courier New" pitchFamily="49" charset="0"/>
              </a:rPr>
              <a:t>t</a:t>
            </a: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y.cast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HWType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t);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Floating point numbers with base 2, flexible exponent and mantissa</a:t>
            </a:r>
          </a:p>
          <a:p>
            <a:r>
              <a:rPr lang="en-GB" dirty="0" smtClean="0"/>
              <a:t>Compatible with IEEE floating point </a:t>
            </a:r>
            <a:r>
              <a:rPr lang="en-GB" b="1" dirty="0" smtClean="0"/>
              <a:t>except</a:t>
            </a:r>
            <a:r>
              <a:rPr lang="en-GB" b="1" i="1" dirty="0" smtClean="0"/>
              <a:t> </a:t>
            </a:r>
            <a:r>
              <a:rPr lang="en-GB" dirty="0" smtClean="0"/>
              <a:t>does not support </a:t>
            </a:r>
            <a:r>
              <a:rPr lang="en-GB" dirty="0" err="1" smtClean="0"/>
              <a:t>denormal</a:t>
            </a:r>
            <a:r>
              <a:rPr lang="en-GB" dirty="0" smtClean="0"/>
              <a:t> numbers</a:t>
            </a:r>
          </a:p>
          <a:p>
            <a:pPr lvl="1"/>
            <a:r>
              <a:rPr lang="en-GB" dirty="0" smtClean="0"/>
              <a:t>In custom computers choose to use a larger exponent</a:t>
            </a:r>
          </a:p>
          <a:p>
            <a:endParaRPr lang="en-GB" dirty="0" smtClean="0"/>
          </a:p>
          <a:p>
            <a:r>
              <a:rPr lang="en-GB" dirty="0" smtClean="0"/>
              <a:t>Examples: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hwFloat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899592" y="3522494"/>
            <a:ext cx="7848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HWType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t =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exponent_bits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mantissa_bits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31640" y="4581128"/>
          <a:ext cx="6696743" cy="15064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49756"/>
                <a:gridCol w="1833632"/>
                <a:gridCol w="1913355"/>
              </a:tblGrid>
              <a:tr h="29943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Exponent bits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Mantissa bits</a:t>
                      </a:r>
                      <a:endParaRPr lang="en-GB" dirty="0"/>
                    </a:p>
                  </a:txBody>
                  <a:tcPr/>
                </a:tc>
              </a:tr>
              <a:tr h="380241">
                <a:tc>
                  <a:txBody>
                    <a:bodyPr/>
                    <a:lstStyle/>
                    <a:p>
                      <a:r>
                        <a:rPr lang="en-GB" dirty="0" smtClean="0"/>
                        <a:t>IEEE single precision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24</a:t>
                      </a:r>
                      <a:endParaRPr lang="en-GB" dirty="0"/>
                    </a:p>
                  </a:txBody>
                  <a:tcPr/>
                </a:tc>
              </a:tr>
              <a:tr h="380241">
                <a:tc>
                  <a:txBody>
                    <a:bodyPr/>
                    <a:lstStyle/>
                    <a:p>
                      <a:r>
                        <a:rPr lang="en-GB" dirty="0" smtClean="0"/>
                        <a:t>IEEE double precision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11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53</a:t>
                      </a:r>
                      <a:endParaRPr lang="en-GB" dirty="0"/>
                    </a:p>
                  </a:txBody>
                  <a:tcPr/>
                </a:tc>
              </a:tr>
              <a:tr h="380241">
                <a:tc>
                  <a:txBody>
                    <a:bodyPr/>
                    <a:lstStyle/>
                    <a:p>
                      <a:r>
                        <a:rPr lang="en-GB" dirty="0" smtClean="0"/>
                        <a:t>FPGA optimized low precision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17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rot="16200000" flipV="1">
            <a:off x="6248401" y="3943349"/>
            <a:ext cx="247652" cy="57154"/>
          </a:xfrm>
          <a:prstGeom prst="straightConnector1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0" y="4010025"/>
            <a:ext cx="2619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Including the sign bit</a:t>
            </a:r>
            <a:endParaRPr lang="en-GB" sz="16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81425" y="6067425"/>
            <a:ext cx="314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Why </a:t>
            </a:r>
            <a:r>
              <a:rPr lang="en-GB" b="1" dirty="0" err="1" smtClean="0">
                <a:solidFill>
                  <a:srgbClr val="FF0000"/>
                </a:solidFill>
              </a:rPr>
              <a:t>hwFloat</a:t>
            </a:r>
            <a:r>
              <a:rPr lang="en-GB" b="1" dirty="0" smtClean="0">
                <a:solidFill>
                  <a:srgbClr val="FF0000"/>
                </a:solidFill>
              </a:rPr>
              <a:t>(7,17)…?</a:t>
            </a:r>
            <a:endParaRPr lang="en-GB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Fixed point numbers</a:t>
            </a:r>
          </a:p>
          <a:p>
            <a:r>
              <a:rPr lang="en-GB" dirty="0" smtClean="0"/>
              <a:t>Flexible integer and fraction bits</a:t>
            </a:r>
          </a:p>
          <a:p>
            <a:r>
              <a:rPr lang="en-GB" dirty="0" smtClean="0"/>
              <a:t>Flexible sign mode</a:t>
            </a:r>
          </a:p>
          <a:p>
            <a:pPr lvl="1"/>
            <a:r>
              <a:rPr lang="en-GB" dirty="0" err="1" smtClean="0"/>
              <a:t>SignMode.UNSIGNED</a:t>
            </a:r>
            <a:r>
              <a:rPr lang="en-GB" dirty="0" smtClean="0"/>
              <a:t> or </a:t>
            </a:r>
            <a:r>
              <a:rPr lang="en-GB" dirty="0" err="1" smtClean="0"/>
              <a:t>SignMode.TWOSCOMPLEMENT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Common cases have useful aliases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hwFix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3246075"/>
            <a:ext cx="8424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HWType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t =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hwFix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integer_bits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fraction_bits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SignMode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sm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15616" y="4437112"/>
          <a:ext cx="7200799" cy="150648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5699"/>
                <a:gridCol w="1376669"/>
                <a:gridCol w="1656184"/>
                <a:gridCol w="2232247"/>
              </a:tblGrid>
              <a:tr h="29943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Integer bits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Fraction bits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Sign mode</a:t>
                      </a:r>
                      <a:endParaRPr lang="en-GB" dirty="0"/>
                    </a:p>
                  </a:txBody>
                  <a:tcPr/>
                </a:tc>
              </a:tr>
              <a:tr h="380241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hwInt</a:t>
                      </a:r>
                      <a:r>
                        <a:rPr lang="en-GB" dirty="0" smtClean="0"/>
                        <a:t>(N)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TWOSCOMPLEMENT</a:t>
                      </a:r>
                      <a:endParaRPr lang="en-GB" dirty="0"/>
                    </a:p>
                  </a:txBody>
                  <a:tcPr/>
                </a:tc>
              </a:tr>
              <a:tr h="380241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hwUInt</a:t>
                      </a:r>
                      <a:r>
                        <a:rPr lang="en-GB" dirty="0" smtClean="0"/>
                        <a:t>(N)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UNSIGNED</a:t>
                      </a:r>
                      <a:endParaRPr lang="en-GB" dirty="0"/>
                    </a:p>
                  </a:txBody>
                  <a:tcPr/>
                </a:tc>
              </a:tr>
              <a:tr h="380241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hwBool</a:t>
                      </a:r>
                      <a:r>
                        <a:rPr lang="en-GB" dirty="0" smtClean="0"/>
                        <a:t>()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UNSIGNED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Can mix different types in a </a:t>
            </a:r>
            <a:r>
              <a:rPr lang="en-GB" dirty="0" err="1" smtClean="0"/>
              <a:t>MaxCompiler</a:t>
            </a:r>
            <a:r>
              <a:rPr lang="en-GB" dirty="0" smtClean="0"/>
              <a:t> kernel to use the most appropriate type for each operation</a:t>
            </a:r>
          </a:p>
          <a:p>
            <a:pPr lvl="1"/>
            <a:r>
              <a:rPr lang="en-GB" dirty="0" smtClean="0"/>
              <a:t>Type conversions costs area – must cast manually</a:t>
            </a:r>
          </a:p>
          <a:p>
            <a:r>
              <a:rPr lang="en-GB" dirty="0" smtClean="0"/>
              <a:t>Types can be parameter to a kernel program</a:t>
            </a:r>
          </a:p>
          <a:p>
            <a:pPr lvl="1"/>
            <a:r>
              <a:rPr lang="en-GB" dirty="0" smtClean="0"/>
              <a:t>Can generate the same kernel with different types</a:t>
            </a:r>
          </a:p>
          <a:p>
            <a:pPr lvl="1"/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Mixed Types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3388618"/>
            <a:ext cx="831641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extends Kernel {</a:t>
            </a: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MyKernel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KernelParameters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k,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HWType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t_in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HWType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t_out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	super(k);</a:t>
            </a: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p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(“p”,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(8,24)); </a:t>
            </a: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q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io.input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(“q”,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t_in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6700" algn="l"/>
                <a:tab pos="542925" algn="l"/>
              </a:tabLst>
            </a:pP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r = p * p;</a:t>
            </a:r>
          </a:p>
          <a:p>
            <a:pPr>
              <a:tabLst>
                <a:tab pos="266700" algn="l"/>
                <a:tab pos="542925" algn="l"/>
              </a:tabLst>
            </a:pP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s = r +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q.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cast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r.getType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io.output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(“s”,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s.</a:t>
            </a:r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cast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t_out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t_out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tabLst>
                <a:tab pos="266700" algn="l"/>
                <a:tab pos="542925" algn="l"/>
              </a:tabLst>
            </a:pP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66531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When we remove bits from the RHS of a number we may want to perform </a:t>
            </a:r>
            <a:r>
              <a:rPr lang="en-GB" i="1" dirty="0" smtClean="0"/>
              <a:t>rounding</a:t>
            </a:r>
            <a:r>
              <a:rPr lang="en-GB" dirty="0" smtClean="0"/>
              <a:t>. </a:t>
            </a:r>
          </a:p>
          <a:p>
            <a:pPr lvl="1"/>
            <a:r>
              <a:rPr lang="en-GB" dirty="0" smtClean="0"/>
              <a:t>Casting / type conversion</a:t>
            </a:r>
          </a:p>
          <a:p>
            <a:pPr lvl="1"/>
            <a:r>
              <a:rPr lang="en-GB" dirty="0" smtClean="0"/>
              <a:t>Inside arithmetic operations</a:t>
            </a:r>
          </a:p>
          <a:p>
            <a:r>
              <a:rPr lang="en-GB" dirty="0" smtClean="0"/>
              <a:t>Different possibilities</a:t>
            </a:r>
          </a:p>
          <a:p>
            <a:pPr lvl="1"/>
            <a:r>
              <a:rPr lang="en-GB" dirty="0" smtClean="0"/>
              <a:t>TRUNCATE: throw away unwanted bits</a:t>
            </a:r>
          </a:p>
          <a:p>
            <a:pPr lvl="1"/>
            <a:r>
              <a:rPr lang="en-GB" dirty="0" smtClean="0"/>
              <a:t>TONEAR: if &gt;=0.5, round up (add 1)</a:t>
            </a:r>
          </a:p>
          <a:p>
            <a:pPr lvl="1"/>
            <a:r>
              <a:rPr lang="en-GB" dirty="0" smtClean="0"/>
              <a:t>TONEAREVEN: if &gt;0.5 round up, if &lt;0.5 round down, if =0.5 then round to the nearest even number</a:t>
            </a:r>
          </a:p>
          <a:p>
            <a:r>
              <a:rPr lang="en-GB" dirty="0" smtClean="0"/>
              <a:t>Lots of less common alternatives:</a:t>
            </a:r>
          </a:p>
          <a:p>
            <a:pPr lvl="1"/>
            <a:r>
              <a:rPr lang="en-GB" dirty="0" smtClean="0"/>
              <a:t>Towards zero, towards positive infinity, towards negative infinity, random…. </a:t>
            </a:r>
          </a:p>
          <a:p>
            <a:r>
              <a:rPr lang="en-GB" dirty="0" smtClean="0"/>
              <a:t>Very important in iterative calculations – may affect convergence behaviour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Rounding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Floating point arithmetic uses TONEAREVEN</a:t>
            </a:r>
          </a:p>
          <a:p>
            <a:r>
              <a:rPr lang="en-GB" dirty="0" smtClean="0"/>
              <a:t>Fixed point rounding is flexible, controlled by the </a:t>
            </a:r>
            <a:r>
              <a:rPr lang="en-GB" i="1" dirty="0" err="1" smtClean="0"/>
              <a:t>RoundingMode</a:t>
            </a:r>
            <a:endParaRPr lang="en-GB" i="1" dirty="0" smtClean="0"/>
          </a:p>
          <a:p>
            <a:pPr lvl="1"/>
            <a:r>
              <a:rPr lang="en-GB" dirty="0" smtClean="0"/>
              <a:t>TRUNCATE, TONEAR and TONEAREVEN are in-built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Rounding in </a:t>
            </a:r>
            <a:r>
              <a:rPr lang="en-GB" dirty="0" err="1" smtClean="0"/>
              <a:t>MaxCompiler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153901" y="3955941"/>
            <a:ext cx="7142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z;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optimization.pushRoundingMode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RoundingMode.TRUNCATE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z =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z.cast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smaller_type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optimization.popRoundingMode</a:t>
            </a:r>
            <a:r>
              <a:rPr lang="en-GB" sz="1600" b="1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GB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Arithmetic Styles</a:t>
            </a:r>
            <a:endParaRPr lang="en-GB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3313310" y="37083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Rectangle 4"/>
          <p:cNvSpPr>
            <a:spLocks noChangeArrowheads="1"/>
          </p:cNvSpPr>
          <p:nvPr/>
        </p:nvSpPr>
        <p:spPr bwMode="auto">
          <a:xfrm>
            <a:off x="3694310" y="37083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5"/>
          <p:cNvSpPr>
            <a:spLocks noChangeArrowheads="1"/>
          </p:cNvSpPr>
          <p:nvPr/>
        </p:nvSpPr>
        <p:spPr bwMode="auto">
          <a:xfrm>
            <a:off x="4075310" y="37083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4456310" y="37083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4837310" y="37083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8"/>
          <p:cNvSpPr>
            <a:spLocks noChangeArrowheads="1"/>
          </p:cNvSpPr>
          <p:nvPr/>
        </p:nvSpPr>
        <p:spPr bwMode="auto">
          <a:xfrm>
            <a:off x="6177160" y="3316188"/>
            <a:ext cx="3048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Rectangle 9"/>
          <p:cNvSpPr>
            <a:spLocks noChangeArrowheads="1"/>
          </p:cNvSpPr>
          <p:nvPr/>
        </p:nvSpPr>
        <p:spPr bwMode="auto">
          <a:xfrm>
            <a:off x="7091560" y="3316188"/>
            <a:ext cx="3048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6786760" y="3316188"/>
            <a:ext cx="3048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11"/>
          <p:cNvSpPr>
            <a:spLocks noChangeArrowheads="1"/>
          </p:cNvSpPr>
          <p:nvPr/>
        </p:nvSpPr>
        <p:spPr bwMode="auto">
          <a:xfrm>
            <a:off x="6481960" y="3316188"/>
            <a:ext cx="3048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Oval 12"/>
          <p:cNvSpPr>
            <a:spLocks noChangeArrowheads="1"/>
          </p:cNvSpPr>
          <p:nvPr/>
        </p:nvSpPr>
        <p:spPr bwMode="auto">
          <a:xfrm>
            <a:off x="4037210" y="1984275"/>
            <a:ext cx="6096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4189610" y="2212875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AutoShape 14"/>
          <p:cNvSpPr>
            <a:spLocks noChangeArrowheads="1"/>
          </p:cNvSpPr>
          <p:nvPr/>
        </p:nvSpPr>
        <p:spPr bwMode="auto">
          <a:xfrm>
            <a:off x="3808610" y="2365275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AutoShape 15"/>
          <p:cNvSpPr>
            <a:spLocks noChangeArrowheads="1"/>
          </p:cNvSpPr>
          <p:nvPr/>
        </p:nvSpPr>
        <p:spPr bwMode="auto">
          <a:xfrm>
            <a:off x="4570610" y="2365275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AutoShape 16"/>
          <p:cNvSpPr>
            <a:spLocks noChangeArrowheads="1"/>
          </p:cNvSpPr>
          <p:nvPr/>
        </p:nvSpPr>
        <p:spPr bwMode="auto">
          <a:xfrm>
            <a:off x="2932310" y="3860700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AutoShape 17"/>
          <p:cNvSpPr>
            <a:spLocks noChangeArrowheads="1"/>
          </p:cNvSpPr>
          <p:nvPr/>
        </p:nvSpPr>
        <p:spPr bwMode="auto">
          <a:xfrm>
            <a:off x="5218310" y="3860700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AutoShape 18"/>
          <p:cNvSpPr>
            <a:spLocks noChangeArrowheads="1"/>
          </p:cNvSpPr>
          <p:nvPr/>
        </p:nvSpPr>
        <p:spPr bwMode="auto">
          <a:xfrm>
            <a:off x="6335910" y="2374800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AutoShape 19"/>
          <p:cNvSpPr>
            <a:spLocks noChangeArrowheads="1"/>
          </p:cNvSpPr>
          <p:nvPr/>
        </p:nvSpPr>
        <p:spPr bwMode="auto">
          <a:xfrm>
            <a:off x="7097910" y="2374800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AutoShape 20"/>
          <p:cNvSpPr>
            <a:spLocks noChangeArrowheads="1"/>
          </p:cNvSpPr>
          <p:nvPr/>
        </p:nvSpPr>
        <p:spPr bwMode="auto">
          <a:xfrm>
            <a:off x="5796160" y="3849588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AutoShape 21"/>
          <p:cNvSpPr>
            <a:spLocks noChangeArrowheads="1"/>
          </p:cNvSpPr>
          <p:nvPr/>
        </p:nvSpPr>
        <p:spPr bwMode="auto">
          <a:xfrm>
            <a:off x="7472560" y="3849588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Oval 22"/>
          <p:cNvSpPr>
            <a:spLocks noChangeArrowheads="1"/>
          </p:cNvSpPr>
          <p:nvPr/>
        </p:nvSpPr>
        <p:spPr bwMode="auto">
          <a:xfrm>
            <a:off x="6640710" y="1612800"/>
            <a:ext cx="4572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Rectangle 23"/>
          <p:cNvSpPr>
            <a:spLocks noChangeArrowheads="1"/>
          </p:cNvSpPr>
          <p:nvPr/>
        </p:nvSpPr>
        <p:spPr bwMode="auto">
          <a:xfrm>
            <a:off x="6716910" y="1841400"/>
            <a:ext cx="3048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 Box 24"/>
          <p:cNvSpPr txBox="1">
            <a:spLocks noChangeArrowheads="1"/>
          </p:cNvSpPr>
          <p:nvPr/>
        </p:nvSpPr>
        <p:spPr bwMode="auto">
          <a:xfrm>
            <a:off x="651600" y="2028725"/>
            <a:ext cx="1451038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accent5"/>
                </a:solidFill>
              </a:rPr>
              <a:t>Sequential</a:t>
            </a:r>
          </a:p>
          <a:p>
            <a:pPr eaLnBrk="0" hangingPunct="0"/>
            <a:r>
              <a:rPr lang="en-US" sz="1800" dirty="0">
                <a:solidFill>
                  <a:schemeClr val="accent5"/>
                </a:solidFill>
              </a:rPr>
              <a:t>- loop x times</a:t>
            </a:r>
          </a:p>
        </p:txBody>
      </p:sp>
      <p:sp>
        <p:nvSpPr>
          <p:cNvPr id="69" name="Text Box 25"/>
          <p:cNvSpPr txBox="1">
            <a:spLocks noChangeArrowheads="1"/>
          </p:cNvSpPr>
          <p:nvPr/>
        </p:nvSpPr>
        <p:spPr bwMode="auto">
          <a:xfrm>
            <a:off x="651600" y="3543200"/>
            <a:ext cx="1564339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accent5"/>
                </a:solidFill>
              </a:rPr>
              <a:t>Pipelined</a:t>
            </a:r>
          </a:p>
          <a:p>
            <a:pPr eaLnBrk="0" hangingPunct="0"/>
            <a:r>
              <a:rPr lang="en-US" sz="1800" dirty="0">
                <a:solidFill>
                  <a:schemeClr val="accent5"/>
                </a:solidFill>
              </a:rPr>
              <a:t>- loop unrolled</a:t>
            </a:r>
          </a:p>
        </p:txBody>
      </p:sp>
      <p:sp>
        <p:nvSpPr>
          <p:cNvPr id="70" name="Text Box 26"/>
          <p:cNvSpPr txBox="1">
            <a:spLocks noChangeArrowheads="1"/>
          </p:cNvSpPr>
          <p:nvPr/>
        </p:nvSpPr>
        <p:spPr bwMode="auto">
          <a:xfrm>
            <a:off x="651073" y="4781450"/>
            <a:ext cx="2014141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1" dirty="0">
                <a:solidFill>
                  <a:schemeClr val="accent5"/>
                </a:solidFill>
              </a:rPr>
              <a:t>Combinational</a:t>
            </a:r>
          </a:p>
          <a:p>
            <a:pPr eaLnBrk="0" hangingPunct="0"/>
            <a:r>
              <a:rPr lang="en-US" sz="1800" dirty="0">
                <a:solidFill>
                  <a:schemeClr val="accent5"/>
                </a:solidFill>
              </a:rPr>
              <a:t>- loop unrolled</a:t>
            </a:r>
          </a:p>
          <a:p>
            <a:pPr eaLnBrk="0" hangingPunct="0"/>
            <a:r>
              <a:rPr lang="en-US" sz="1800" dirty="0">
                <a:solidFill>
                  <a:schemeClr val="accent5"/>
                </a:solidFill>
              </a:rPr>
              <a:t>- no registers</a:t>
            </a:r>
          </a:p>
          <a:p>
            <a:pPr eaLnBrk="0" hangingPunct="0"/>
            <a:r>
              <a:rPr lang="en-US" sz="1800" dirty="0">
                <a:solidFill>
                  <a:schemeClr val="accent5"/>
                </a:solidFill>
              </a:rPr>
              <a:t>- logic minimization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71" name="AutoShape 27"/>
          <p:cNvSpPr>
            <a:spLocks noChangeArrowheads="1"/>
          </p:cNvSpPr>
          <p:nvPr/>
        </p:nvSpPr>
        <p:spPr bwMode="auto">
          <a:xfrm>
            <a:off x="2916435" y="5384700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AutoShape 28"/>
          <p:cNvSpPr>
            <a:spLocks noChangeArrowheads="1"/>
          </p:cNvSpPr>
          <p:nvPr/>
        </p:nvSpPr>
        <p:spPr bwMode="auto">
          <a:xfrm>
            <a:off x="5153223" y="5359300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Oval 29"/>
          <p:cNvSpPr>
            <a:spLocks noChangeArrowheads="1"/>
          </p:cNvSpPr>
          <p:nvPr/>
        </p:nvSpPr>
        <p:spPr bwMode="auto">
          <a:xfrm>
            <a:off x="3340298" y="5224363"/>
            <a:ext cx="170815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AutoShape 30"/>
          <p:cNvSpPr>
            <a:spLocks noChangeArrowheads="1"/>
          </p:cNvSpPr>
          <p:nvPr/>
        </p:nvSpPr>
        <p:spPr bwMode="auto">
          <a:xfrm>
            <a:off x="5748535" y="5370413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AutoShape 31"/>
          <p:cNvSpPr>
            <a:spLocks noChangeArrowheads="1"/>
          </p:cNvSpPr>
          <p:nvPr/>
        </p:nvSpPr>
        <p:spPr bwMode="auto">
          <a:xfrm>
            <a:off x="7963098" y="5324375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Oval 32"/>
          <p:cNvSpPr>
            <a:spLocks noChangeArrowheads="1"/>
          </p:cNvSpPr>
          <p:nvPr/>
        </p:nvSpPr>
        <p:spPr bwMode="auto">
          <a:xfrm>
            <a:off x="6140648" y="4781450"/>
            <a:ext cx="1708150" cy="12080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Line 33"/>
          <p:cNvSpPr>
            <a:spLocks noChangeShapeType="1"/>
          </p:cNvSpPr>
          <p:nvPr/>
        </p:nvSpPr>
        <p:spPr bwMode="auto">
          <a:xfrm>
            <a:off x="3568898" y="3708300"/>
            <a:ext cx="0" cy="303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8" name="Line 34"/>
          <p:cNvSpPr>
            <a:spLocks noChangeShapeType="1"/>
          </p:cNvSpPr>
          <p:nvPr/>
        </p:nvSpPr>
        <p:spPr bwMode="auto">
          <a:xfrm>
            <a:off x="3940373" y="3714650"/>
            <a:ext cx="0" cy="303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79" name="Line 35"/>
          <p:cNvSpPr>
            <a:spLocks noChangeShapeType="1"/>
          </p:cNvSpPr>
          <p:nvPr/>
        </p:nvSpPr>
        <p:spPr bwMode="auto">
          <a:xfrm>
            <a:off x="4334073" y="3721000"/>
            <a:ext cx="0" cy="303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0" name="Line 36"/>
          <p:cNvSpPr>
            <a:spLocks noChangeShapeType="1"/>
          </p:cNvSpPr>
          <p:nvPr/>
        </p:nvSpPr>
        <p:spPr bwMode="auto">
          <a:xfrm>
            <a:off x="4707135" y="3714650"/>
            <a:ext cx="0" cy="303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1" name="Line 37"/>
          <p:cNvSpPr>
            <a:spLocks noChangeShapeType="1"/>
          </p:cNvSpPr>
          <p:nvPr/>
        </p:nvSpPr>
        <p:spPr bwMode="auto">
          <a:xfrm>
            <a:off x="5089723" y="3721000"/>
            <a:ext cx="0" cy="303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2" name="Line 38"/>
          <p:cNvSpPr>
            <a:spLocks noChangeShapeType="1"/>
          </p:cNvSpPr>
          <p:nvPr/>
        </p:nvSpPr>
        <p:spPr bwMode="auto">
          <a:xfrm>
            <a:off x="4446785" y="2222400"/>
            <a:ext cx="0" cy="303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3" name="Line 39"/>
          <p:cNvSpPr>
            <a:spLocks noChangeShapeType="1"/>
          </p:cNvSpPr>
          <p:nvPr/>
        </p:nvSpPr>
        <p:spPr bwMode="auto">
          <a:xfrm>
            <a:off x="6431160" y="3333650"/>
            <a:ext cx="0" cy="1214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4" name="Line 40"/>
          <p:cNvSpPr>
            <a:spLocks noChangeShapeType="1"/>
          </p:cNvSpPr>
          <p:nvPr/>
        </p:nvSpPr>
        <p:spPr bwMode="auto">
          <a:xfrm>
            <a:off x="6740723" y="3317775"/>
            <a:ext cx="0" cy="1203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5" name="Line 41"/>
          <p:cNvSpPr>
            <a:spLocks noChangeShapeType="1"/>
          </p:cNvSpPr>
          <p:nvPr/>
        </p:nvSpPr>
        <p:spPr bwMode="auto">
          <a:xfrm>
            <a:off x="7050285" y="3335238"/>
            <a:ext cx="0" cy="1193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6" name="Line 42"/>
          <p:cNvSpPr>
            <a:spLocks noChangeShapeType="1"/>
          </p:cNvSpPr>
          <p:nvPr/>
        </p:nvSpPr>
        <p:spPr bwMode="auto">
          <a:xfrm>
            <a:off x="7359848" y="3320950"/>
            <a:ext cx="0" cy="1203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7" name="Line 43"/>
          <p:cNvSpPr>
            <a:spLocks noChangeShapeType="1"/>
          </p:cNvSpPr>
          <p:nvPr/>
        </p:nvSpPr>
        <p:spPr bwMode="auto">
          <a:xfrm>
            <a:off x="6982023" y="1854100"/>
            <a:ext cx="0" cy="1203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8" name="Line 44"/>
          <p:cNvSpPr>
            <a:spLocks noChangeShapeType="1"/>
          </p:cNvSpPr>
          <p:nvPr/>
        </p:nvSpPr>
        <p:spPr bwMode="auto">
          <a:xfrm>
            <a:off x="528835" y="4676675"/>
            <a:ext cx="79851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8" name="Line 45"/>
          <p:cNvSpPr>
            <a:spLocks noChangeShapeType="1"/>
          </p:cNvSpPr>
          <p:nvPr/>
        </p:nvSpPr>
        <p:spPr bwMode="auto">
          <a:xfrm>
            <a:off x="551060" y="3170138"/>
            <a:ext cx="79851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9" name="Text Box 46"/>
          <p:cNvSpPr txBox="1">
            <a:spLocks noChangeArrowheads="1"/>
          </p:cNvSpPr>
          <p:nvPr/>
        </p:nvSpPr>
        <p:spPr bwMode="auto">
          <a:xfrm>
            <a:off x="3694310" y="1144488"/>
            <a:ext cx="120738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dirty="0">
                <a:solidFill>
                  <a:schemeClr val="accent5"/>
                </a:solidFill>
              </a:rPr>
              <a:t>Digit-Serial</a:t>
            </a:r>
          </a:p>
        </p:txBody>
      </p:sp>
      <p:sp>
        <p:nvSpPr>
          <p:cNvPr id="120" name="Text Box 47"/>
          <p:cNvSpPr txBox="1">
            <a:spLocks noChangeArrowheads="1"/>
          </p:cNvSpPr>
          <p:nvPr/>
        </p:nvSpPr>
        <p:spPr bwMode="auto">
          <a:xfrm>
            <a:off x="6426398" y="1123850"/>
            <a:ext cx="86908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dirty="0">
                <a:solidFill>
                  <a:schemeClr val="accent5"/>
                </a:solidFill>
              </a:rPr>
              <a:t>Parallel</a:t>
            </a:r>
          </a:p>
        </p:txBody>
      </p:sp>
      <p:sp>
        <p:nvSpPr>
          <p:cNvPr id="121" name="Line 48"/>
          <p:cNvSpPr>
            <a:spLocks noChangeShapeType="1"/>
          </p:cNvSpPr>
          <p:nvPr/>
        </p:nvSpPr>
        <p:spPr bwMode="auto">
          <a:xfrm>
            <a:off x="619323" y="1531838"/>
            <a:ext cx="79851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" name="Line 49"/>
          <p:cNvSpPr>
            <a:spLocks noChangeShapeType="1"/>
          </p:cNvSpPr>
          <p:nvPr/>
        </p:nvSpPr>
        <p:spPr bwMode="auto">
          <a:xfrm flipH="1">
            <a:off x="2719585" y="1206400"/>
            <a:ext cx="11113" cy="48148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3" name="Line 50"/>
          <p:cNvSpPr>
            <a:spLocks noChangeShapeType="1"/>
          </p:cNvSpPr>
          <p:nvPr/>
        </p:nvSpPr>
        <p:spPr bwMode="auto">
          <a:xfrm flipH="1">
            <a:off x="5654873" y="1160363"/>
            <a:ext cx="11112" cy="48148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4" name="Rectangle 51"/>
          <p:cNvSpPr>
            <a:spLocks noChangeArrowheads="1"/>
          </p:cNvSpPr>
          <p:nvPr/>
        </p:nvSpPr>
        <p:spPr bwMode="auto">
          <a:xfrm>
            <a:off x="3232348" y="5257700"/>
            <a:ext cx="74612" cy="3032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5" name="Rectangle 52"/>
          <p:cNvSpPr>
            <a:spLocks noChangeArrowheads="1"/>
          </p:cNvSpPr>
          <p:nvPr/>
        </p:nvSpPr>
        <p:spPr bwMode="auto">
          <a:xfrm>
            <a:off x="5059560" y="5232300"/>
            <a:ext cx="74613" cy="3032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6" name="Rectangle 53"/>
          <p:cNvSpPr>
            <a:spLocks noChangeArrowheads="1"/>
          </p:cNvSpPr>
          <p:nvPr/>
        </p:nvSpPr>
        <p:spPr bwMode="auto">
          <a:xfrm>
            <a:off x="6053335" y="4813200"/>
            <a:ext cx="74613" cy="11826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7" name="Rectangle 54"/>
          <p:cNvSpPr>
            <a:spLocks noChangeArrowheads="1"/>
          </p:cNvSpPr>
          <p:nvPr/>
        </p:nvSpPr>
        <p:spPr bwMode="auto">
          <a:xfrm>
            <a:off x="7858323" y="4798913"/>
            <a:ext cx="74612" cy="11826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By default uses deeply pipelined arithmetic functions</a:t>
            </a:r>
          </a:p>
          <a:p>
            <a:pPr lvl="1"/>
            <a:r>
              <a:rPr lang="en-GB" dirty="0" smtClean="0"/>
              <a:t>Objective is high operating frequency</a:t>
            </a:r>
          </a:p>
          <a:p>
            <a:r>
              <a:rPr lang="en-GB" dirty="0" smtClean="0"/>
              <a:t>Can reduce pipelining gradually to produce combinatorial functions, controlled by </a:t>
            </a:r>
            <a:r>
              <a:rPr lang="en-GB" i="1" dirty="0" smtClean="0"/>
              <a:t>pushing </a:t>
            </a:r>
            <a:r>
              <a:rPr lang="en-GB" dirty="0" smtClean="0"/>
              <a:t>and </a:t>
            </a:r>
            <a:r>
              <a:rPr lang="en-GB" i="1" dirty="0" smtClean="0"/>
              <a:t>popping</a:t>
            </a:r>
            <a:r>
              <a:rPr lang="en-GB" dirty="0" smtClean="0"/>
              <a:t> a “pipelining factor”</a:t>
            </a:r>
          </a:p>
          <a:p>
            <a:pPr lvl="1"/>
            <a:r>
              <a:rPr lang="en-GB" dirty="0" smtClean="0"/>
              <a:t>1.0 = maximum pipelining ; 0.0 = no pipelining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Arithmetic in </a:t>
            </a:r>
            <a:r>
              <a:rPr lang="en-GB" dirty="0" err="1" smtClean="0"/>
              <a:t>MaxCompiler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619672" y="3898791"/>
            <a:ext cx="62646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HWVar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 x, y, z; // floating point numbers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z = x * y; // fully pipelined</a:t>
            </a: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optimization.pushPipeliningFactor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(0.5);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z += x; // half pipelined – lower latency</a:t>
            </a: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optimization.pushPipeliningFactor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(0.0);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z += y; // no pipelining</a:t>
            </a: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optimization.popPipeliningFactor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GB" sz="1600" b="1" dirty="0" err="1" smtClean="0">
                <a:latin typeface="Courier New" pitchFamily="49" charset="0"/>
                <a:cs typeface="Courier New" pitchFamily="49" charset="0"/>
              </a:rPr>
              <a:t>optimization.popPipeliningFactor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z = z * 2; // fully pipelined again</a:t>
            </a:r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42900" y="1124744"/>
            <a:ext cx="8801100" cy="5001419"/>
          </a:xfrm>
        </p:spPr>
        <p:txBody>
          <a:bodyPr/>
          <a:lstStyle/>
          <a:p>
            <a:r>
              <a:rPr lang="en-GB" dirty="0" smtClean="0"/>
              <a:t>Addition/subtraction:</a:t>
            </a:r>
          </a:p>
          <a:p>
            <a:pPr lvl="1"/>
            <a:r>
              <a:rPr lang="en-GB" dirty="0" smtClean="0"/>
              <a:t>~1 LUT/bit for fixed point, hundreds of LUTs for floating point</a:t>
            </a:r>
          </a:p>
          <a:p>
            <a:r>
              <a:rPr lang="en-GB" dirty="0" smtClean="0"/>
              <a:t>Multiplication: Can use DSP blocks </a:t>
            </a:r>
          </a:p>
          <a:p>
            <a:pPr lvl="1"/>
            <a:r>
              <a:rPr lang="en-GB" dirty="0" smtClean="0"/>
              <a:t>18x25bit multiply on Xilinx</a:t>
            </a:r>
          </a:p>
          <a:p>
            <a:pPr lvl="1"/>
            <a:r>
              <a:rPr lang="en-GB" dirty="0" smtClean="0"/>
              <a:t>Number of DSPs depends on total bits (fixed point) or mantissa </a:t>
            </a:r>
            <a:r>
              <a:rPr lang="en-GB" dirty="0" err="1" smtClean="0"/>
              <a:t>bitwidth</a:t>
            </a:r>
            <a:r>
              <a:rPr lang="en-GB" dirty="0" smtClean="0"/>
              <a:t> (floating point)</a:t>
            </a:r>
          </a:p>
          <a:p>
            <a:pPr lvl="1"/>
            <a:endParaRPr lang="en-GB" dirty="0" smtClean="0"/>
          </a:p>
          <a:p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Cost for arithmetic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7504" y="4252449"/>
          <a:ext cx="8892480" cy="18492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8192"/>
                <a:gridCol w="1692188"/>
                <a:gridCol w="1692188"/>
                <a:gridCol w="1889956"/>
                <a:gridCol w="1889956"/>
              </a:tblGrid>
              <a:tr h="2518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Floating point: </a:t>
                      </a:r>
                      <a:r>
                        <a:rPr lang="en-GB" dirty="0" err="1" smtClean="0"/>
                        <a:t>hwFloat</a:t>
                      </a:r>
                      <a:r>
                        <a:rPr lang="en-GB" dirty="0" smtClean="0"/>
                        <a:t>(E, M)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Fixed point: </a:t>
                      </a:r>
                      <a:r>
                        <a:rPr lang="en-GB" dirty="0" err="1" smtClean="0"/>
                        <a:t>hwFix</a:t>
                      </a:r>
                      <a:r>
                        <a:rPr lang="en-GB" dirty="0" smtClean="0"/>
                        <a:t>(I,</a:t>
                      </a:r>
                      <a:r>
                        <a:rPr lang="en-GB" baseline="0" dirty="0" smtClean="0"/>
                        <a:t> F, </a:t>
                      </a:r>
                      <a:r>
                        <a:rPr lang="en-GB" i="1" baseline="0" dirty="0" smtClean="0"/>
                        <a:t>TWOSCMP</a:t>
                      </a:r>
                      <a:r>
                        <a:rPr lang="en-GB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34791">
                <a:tc>
                  <a:txBody>
                    <a:bodyPr/>
                    <a:lstStyle/>
                    <a:p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smtClean="0"/>
                        <a:t>DSPs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smtClean="0"/>
                        <a:t>LUTs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smtClean="0"/>
                        <a:t>DSPs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smtClean="0"/>
                        <a:t>LUTs</a:t>
                      </a:r>
                      <a:endParaRPr lang="en-GB" b="1" dirty="0"/>
                    </a:p>
                  </a:txBody>
                  <a:tcPr/>
                </a:tc>
              </a:tr>
              <a:tr h="234218">
                <a:tc>
                  <a:txBody>
                    <a:bodyPr/>
                    <a:lstStyle/>
                    <a:p>
                      <a:r>
                        <a:rPr lang="en-GB" dirty="0" smtClean="0"/>
                        <a:t>Add/subtract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i="1" dirty="0" smtClean="0"/>
                        <a:t>O( </a:t>
                      </a:r>
                      <a:r>
                        <a:rPr lang="en-GB" dirty="0" smtClean="0"/>
                        <a:t>M</a:t>
                      </a:r>
                      <a:r>
                        <a:rPr lang="en-GB" dirty="0" smtClean="0">
                          <a:sym typeface="Symbol"/>
                        </a:rPr>
                        <a:t>log</a:t>
                      </a:r>
                      <a:r>
                        <a:rPr lang="en-GB" baseline="-25000" dirty="0" smtClean="0">
                          <a:sym typeface="Symbol"/>
                        </a:rPr>
                        <a:t>2</a:t>
                      </a:r>
                      <a:r>
                        <a:rPr lang="en-GB" dirty="0" smtClean="0">
                          <a:sym typeface="Symbol"/>
                        </a:rPr>
                        <a:t>(E) </a:t>
                      </a:r>
                      <a:r>
                        <a:rPr lang="en-GB" i="1" dirty="0" smtClean="0">
                          <a:sym typeface="Symbol"/>
                        </a:rPr>
                        <a:t>)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I+F</a:t>
                      </a:r>
                      <a:endParaRPr lang="en-GB" dirty="0"/>
                    </a:p>
                  </a:txBody>
                  <a:tcPr/>
                </a:tc>
              </a:tr>
              <a:tr h="352012">
                <a:tc>
                  <a:txBody>
                    <a:bodyPr/>
                    <a:lstStyle/>
                    <a:p>
                      <a:r>
                        <a:rPr lang="en-GB" dirty="0" smtClean="0"/>
                        <a:t>Multiply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i="1" dirty="0" smtClean="0"/>
                        <a:t>O( </a:t>
                      </a:r>
                      <a:r>
                        <a:rPr lang="en-GB" i="0" dirty="0" smtClean="0"/>
                        <a:t>ceil(</a:t>
                      </a:r>
                      <a:r>
                        <a:rPr lang="en-GB" dirty="0" smtClean="0"/>
                        <a:t>M/18)</a:t>
                      </a:r>
                      <a:r>
                        <a:rPr lang="en-GB" baseline="30000" dirty="0" smtClean="0"/>
                        <a:t>2</a:t>
                      </a:r>
                      <a:r>
                        <a:rPr lang="en-GB" dirty="0" smtClean="0"/>
                        <a:t> </a:t>
                      </a:r>
                      <a:r>
                        <a:rPr lang="en-GB" i="1" dirty="0" smtClean="0"/>
                        <a:t>)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O(E)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 smtClean="0"/>
                        <a:t>O( </a:t>
                      </a:r>
                      <a:r>
                        <a:rPr lang="en-GB" i="0" dirty="0" smtClean="0"/>
                        <a:t>ceil(</a:t>
                      </a:r>
                      <a:r>
                        <a:rPr lang="en-GB" dirty="0" smtClean="0"/>
                        <a:t>(I+F)/18)</a:t>
                      </a:r>
                      <a:r>
                        <a:rPr lang="en-GB" baseline="30000" dirty="0" smtClean="0"/>
                        <a:t>2</a:t>
                      </a:r>
                      <a:r>
                        <a:rPr lang="en-GB" dirty="0" smtClean="0"/>
                        <a:t> </a:t>
                      </a:r>
                      <a:r>
                        <a:rPr lang="en-GB" i="1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86191">
                <a:tc>
                  <a:txBody>
                    <a:bodyPr/>
                    <a:lstStyle/>
                    <a:p>
                      <a:r>
                        <a:rPr lang="en-GB" dirty="0" smtClean="0"/>
                        <a:t>Divide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i="1" dirty="0" smtClean="0"/>
                        <a:t>O( </a:t>
                      </a:r>
                      <a:r>
                        <a:rPr lang="en-GB" i="0" dirty="0" smtClean="0"/>
                        <a:t>M</a:t>
                      </a:r>
                      <a:r>
                        <a:rPr lang="en-GB" baseline="30000" dirty="0" smtClean="0"/>
                        <a:t>2 </a:t>
                      </a:r>
                      <a:r>
                        <a:rPr lang="en-GB" i="1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i="1" dirty="0" smtClean="0"/>
                        <a:t>O( </a:t>
                      </a:r>
                      <a:r>
                        <a:rPr lang="en-GB" dirty="0" smtClean="0"/>
                        <a:t>(I+F)</a:t>
                      </a:r>
                      <a:r>
                        <a:rPr lang="en-GB" baseline="30000" dirty="0" smtClean="0"/>
                        <a:t>2 </a:t>
                      </a:r>
                      <a:r>
                        <a:rPr lang="en-GB" i="1" baseline="0" dirty="0" smtClean="0"/>
                        <a:t>)</a:t>
                      </a:r>
                      <a:endParaRPr lang="en-GB" i="1" baseline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704975" y="3943350"/>
            <a:ext cx="558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Approximate cost models</a:t>
            </a:r>
            <a:endParaRPr lang="en-GB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4300" y="6124575"/>
            <a:ext cx="6153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I = Integer bits, F = Fraction bits. E = Exponent bits, M = Mantissa Bits</a:t>
            </a:r>
            <a:endParaRPr lang="en-GB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DSP usage for N x M multiplication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21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799" y="1514479"/>
          <a:ext cx="8743954" cy="4382040"/>
        </p:xfrm>
        <a:graphic>
          <a:graphicData uri="http://schemas.openxmlformats.org/drawingml/2006/table">
            <a:tbl>
              <a:tblPr/>
              <a:tblGrid>
                <a:gridCol w="658884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  <a:gridCol w="425530"/>
              </a:tblGrid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 dirty="0">
                          <a:latin typeface="Arial"/>
                        </a:rPr>
                        <a:t>Bits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18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20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28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30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38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40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48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50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52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54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 dirty="0">
                          <a:latin typeface="Arial"/>
                        </a:rPr>
                        <a:t>18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20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22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24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26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28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30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32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34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36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38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40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42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44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46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48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50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</a:tr>
              <a:tr h="19254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52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</a:tr>
              <a:tr h="19918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b="1" i="0" u="none" strike="noStrike">
                          <a:latin typeface="Arial"/>
                        </a:rPr>
                        <a:t>54</a:t>
                      </a:r>
                    </a:p>
                  </a:txBody>
                  <a:tcPr marL="5742" marR="5742" marT="5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742" marR="5742" marT="5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0"/>
                    </a:solidFill>
                  </a:tcPr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323850" y="1412776"/>
            <a:ext cx="3714750" cy="1588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-1189434" y="2924150"/>
            <a:ext cx="2880320" cy="1588"/>
          </a:xfrm>
          <a:prstGeom prst="straightConnector1">
            <a:avLst/>
          </a:prstGeom>
          <a:ln w="31750">
            <a:solidFill>
              <a:schemeClr val="accent5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-36512" y="140348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N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11154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M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LUT usage for floating point addition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22</a:t>
            </a:fld>
            <a:endParaRPr lang="en-GB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-53340" y="836712"/>
          <a:ext cx="9197340" cy="560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Consider fixed point compared to single precision floating point</a:t>
            </a:r>
          </a:p>
          <a:p>
            <a:r>
              <a:rPr lang="en-GB" dirty="0" smtClean="0"/>
              <a:t>If range is tightly confined, we could use </a:t>
            </a:r>
            <a:r>
              <a:rPr lang="en-GB" i="1" dirty="0" smtClean="0"/>
              <a:t>24-bit</a:t>
            </a:r>
            <a:r>
              <a:rPr lang="en-GB" dirty="0" smtClean="0"/>
              <a:t> fixed point </a:t>
            </a:r>
          </a:p>
          <a:p>
            <a:r>
              <a:rPr lang="en-GB" dirty="0" smtClean="0"/>
              <a:t>If data has a wider range, may need </a:t>
            </a:r>
            <a:r>
              <a:rPr lang="en-GB" i="1" dirty="0" smtClean="0"/>
              <a:t>32-bit </a:t>
            </a:r>
            <a:r>
              <a:rPr lang="en-GB" dirty="0" smtClean="0"/>
              <a:t>fixed point 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Arithmetic is not 100% of the chip. In practice, often see ~5x performance boost from fixed point.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Benefits of Fixed Point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4445" y="3397951"/>
          <a:ext cx="8003824" cy="16368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00956"/>
                <a:gridCol w="2000956"/>
                <a:gridCol w="2000956"/>
                <a:gridCol w="2000956"/>
              </a:tblGrid>
              <a:tr h="545630"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err="1" smtClean="0"/>
                        <a:t>hwFloat</a:t>
                      </a:r>
                      <a:r>
                        <a:rPr lang="en-GB" sz="2400" dirty="0" smtClean="0"/>
                        <a:t>(8,24)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err="1" smtClean="0"/>
                        <a:t>hwFix</a:t>
                      </a:r>
                      <a:r>
                        <a:rPr lang="en-GB" sz="2400" dirty="0" smtClean="0"/>
                        <a:t>(24,...)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err="1" smtClean="0"/>
                        <a:t>hwFix</a:t>
                      </a:r>
                      <a:r>
                        <a:rPr lang="en-GB" sz="2400" dirty="0" smtClean="0"/>
                        <a:t>(32,...)</a:t>
                      </a:r>
                      <a:endParaRPr lang="en-GB" sz="2400" dirty="0"/>
                    </a:p>
                  </a:txBody>
                  <a:tcPr/>
                </a:tc>
              </a:tr>
              <a:tr h="545630"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Add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500 LUTs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24 LUTs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32 LUTs</a:t>
                      </a:r>
                      <a:endParaRPr lang="en-GB" sz="2400" dirty="0"/>
                    </a:p>
                  </a:txBody>
                  <a:tcPr/>
                </a:tc>
              </a:tr>
              <a:tr h="545630">
                <a:tc>
                  <a:txBody>
                    <a:bodyPr/>
                    <a:lstStyle/>
                    <a:p>
                      <a:r>
                        <a:rPr lang="en-GB" sz="2400" dirty="0" smtClean="0"/>
                        <a:t>Multiply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2 DSPs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2</a:t>
                      </a:r>
                      <a:r>
                        <a:rPr lang="en-GB" sz="2400" baseline="0" dirty="0" smtClean="0"/>
                        <a:t> DSPs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400" dirty="0" smtClean="0"/>
                        <a:t>4 DSPs</a:t>
                      </a:r>
                      <a:endParaRPr lang="en-GB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ts val="2400"/>
              <a:buFont typeface="Arial"/>
              <a:buChar char="•"/>
            </a:pPr>
            <a:r>
              <a:rPr lang="es-ES" dirty="0" smtClean="0">
                <a:solidFill>
                  <a:srgbClr val="000000"/>
                </a:solidFill>
                <a:sym typeface="Symbol"/>
              </a:rPr>
              <a:t>A,B:. A (</a:t>
            </a:r>
            <a:r>
              <a:rPr lang="es-ES" dirty="0" err="1" smtClean="0">
                <a:solidFill>
                  <a:srgbClr val="000000"/>
                </a:solidFill>
                <a:sym typeface="Symbol"/>
              </a:rPr>
              <a:t>op</a:t>
            </a:r>
            <a:r>
              <a:rPr lang="es-ES" dirty="0" smtClean="0">
                <a:solidFill>
                  <a:srgbClr val="000000"/>
                </a:solidFill>
                <a:sym typeface="Symbol"/>
              </a:rPr>
              <a:t>) B = </a:t>
            </a:r>
            <a:r>
              <a:rPr lang="es-ES" dirty="0" err="1" smtClean="0">
                <a:solidFill>
                  <a:srgbClr val="000000"/>
                </a:solidFill>
                <a:sym typeface="Symbol"/>
              </a:rPr>
              <a:t>result</a:t>
            </a:r>
            <a:r>
              <a:rPr lang="es-ES" dirty="0" smtClean="0">
                <a:solidFill>
                  <a:srgbClr val="000000"/>
                </a:solidFill>
                <a:sym typeface="Symbol"/>
              </a:rPr>
              <a:t> + error</a:t>
            </a:r>
          </a:p>
          <a:p>
            <a:pPr>
              <a:buSzPts val="2400"/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</a:rPr>
              <a:t>Floating point </a:t>
            </a:r>
            <a:r>
              <a:rPr lang="en-GB" i="1" dirty="0" smtClean="0">
                <a:solidFill>
                  <a:srgbClr val="000000"/>
                </a:solidFill>
              </a:rPr>
              <a:t>introduces (dynamic) relative error</a:t>
            </a:r>
          </a:p>
          <a:p>
            <a:pPr lvl="1">
              <a:buSzPts val="2000"/>
              <a:buFont typeface="Arial"/>
              <a:buChar char="–"/>
            </a:pPr>
            <a:r>
              <a:rPr lang="en-GB" dirty="0" smtClean="0">
                <a:solidFill>
                  <a:srgbClr val="000000"/>
                </a:solidFill>
              </a:rPr>
              <a:t>Error = f(exponent of result) </a:t>
            </a:r>
            <a:r>
              <a:rPr lang="en-GB" dirty="0" smtClean="0">
                <a:solidFill>
                  <a:srgbClr val="000000"/>
                </a:solidFill>
                <a:sym typeface="Wingdings"/>
              </a:rPr>
              <a:t> relative error</a:t>
            </a:r>
          </a:p>
          <a:p>
            <a:pPr>
              <a:buSzPts val="2400"/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</a:rPr>
              <a:t>Fixed point </a:t>
            </a:r>
            <a:r>
              <a:rPr lang="en-GB" i="1" dirty="0" smtClean="0">
                <a:solidFill>
                  <a:srgbClr val="000000"/>
                </a:solidFill>
              </a:rPr>
              <a:t>introduces (static) absolute error</a:t>
            </a:r>
          </a:p>
          <a:p>
            <a:pPr lvl="1">
              <a:buSzPts val="2000"/>
              <a:buFont typeface="Arial"/>
              <a:buChar char="–"/>
            </a:pPr>
            <a:r>
              <a:rPr lang="en-GB" dirty="0" smtClean="0">
                <a:solidFill>
                  <a:srgbClr val="000000"/>
                </a:solidFill>
              </a:rPr>
              <a:t>Error = f(rightmost bit position of result) </a:t>
            </a:r>
            <a:r>
              <a:rPr lang="en-GB" dirty="0" smtClean="0">
                <a:solidFill>
                  <a:srgbClr val="000000"/>
                </a:solidFill>
                <a:sym typeface="Wingdings"/>
              </a:rPr>
              <a:t> static error</a:t>
            </a:r>
          </a:p>
          <a:p>
            <a:pPr>
              <a:buSzPts val="2000"/>
            </a:pPr>
            <a:r>
              <a:rPr lang="en-GB" dirty="0" smtClean="0">
                <a:solidFill>
                  <a:srgbClr val="000000"/>
                </a:solidFill>
                <a:sym typeface="Wingdings"/>
              </a:rPr>
              <a:t>Error is minimized by good rounding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Error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001419"/>
          </a:xfrm>
        </p:spPr>
        <p:txBody>
          <a:bodyPr>
            <a:normAutofit fontScale="85000" lnSpcReduction="10000"/>
          </a:bodyPr>
          <a:lstStyle/>
          <a:p>
            <a:r>
              <a:rPr lang="en-GB" dirty="0" smtClean="0"/>
              <a:t>Overflow</a:t>
            </a:r>
          </a:p>
          <a:p>
            <a:pPr lvl="1"/>
            <a:r>
              <a:rPr lang="en-GB" dirty="0" smtClean="0"/>
              <a:t>Number is too large (positive or negative) to be represented</a:t>
            </a:r>
          </a:p>
          <a:p>
            <a:pPr lvl="1"/>
            <a:r>
              <a:rPr lang="en-GB" dirty="0" smtClean="0"/>
              <a:t>Usually catastrophic – important data is lost/invalid</a:t>
            </a:r>
          </a:p>
          <a:p>
            <a:r>
              <a:rPr lang="en-GB" dirty="0" smtClean="0"/>
              <a:t>Underflow</a:t>
            </a:r>
          </a:p>
          <a:p>
            <a:pPr lvl="1"/>
            <a:r>
              <a:rPr lang="en-GB" dirty="0" smtClean="0"/>
              <a:t>Number is too small to be represented and rounds to zero</a:t>
            </a:r>
          </a:p>
          <a:p>
            <a:pPr lvl="1"/>
            <a:r>
              <a:rPr lang="en-GB" dirty="0" smtClean="0"/>
              <a:t>With fixed point, happens gradually</a:t>
            </a:r>
          </a:p>
          <a:p>
            <a:pPr lvl="1"/>
            <a:r>
              <a:rPr lang="en-GB" dirty="0" smtClean="0"/>
              <a:t>With floating point without </a:t>
            </a:r>
            <a:r>
              <a:rPr lang="en-GB" dirty="0" err="1" smtClean="0"/>
              <a:t>denormals</a:t>
            </a:r>
            <a:r>
              <a:rPr lang="en-GB" dirty="0" smtClean="0"/>
              <a:t>, happens suddenly</a:t>
            </a:r>
          </a:p>
          <a:p>
            <a:pPr lvl="1"/>
            <a:r>
              <a:rPr lang="en-GB" dirty="0" smtClean="0"/>
              <a:t>Usually </a:t>
            </a:r>
            <a:r>
              <a:rPr lang="en-GB" dirty="0" err="1" smtClean="0"/>
              <a:t>underflowing</a:t>
            </a:r>
            <a:r>
              <a:rPr lang="en-GB" dirty="0" smtClean="0"/>
              <a:t> data is not so important (numbers are very small)</a:t>
            </a:r>
          </a:p>
          <a:p>
            <a:pPr>
              <a:buSzPts val="2000"/>
            </a:pPr>
            <a:r>
              <a:rPr lang="en-GB" dirty="0" smtClean="0">
                <a:solidFill>
                  <a:srgbClr val="000000"/>
                </a:solidFill>
              </a:rPr>
              <a:t>Bias </a:t>
            </a:r>
          </a:p>
          <a:p>
            <a:pPr lvl="1">
              <a:buSzPts val="2000"/>
            </a:pPr>
            <a:r>
              <a:rPr lang="en-GB" dirty="0" smtClean="0"/>
              <a:t>If errors do not have a mean of zero, they will grow with repeated computation.</a:t>
            </a:r>
          </a:p>
          <a:p>
            <a:pPr lvl="1">
              <a:buSzPts val="2000"/>
            </a:pPr>
            <a:r>
              <a:rPr lang="en-GB" dirty="0" smtClean="0"/>
              <a:t>Big issue in iterative calculations </a:t>
            </a:r>
            <a:r>
              <a:rPr lang="en-GB" dirty="0" smtClean="0">
                <a:sym typeface="Wingdings" pitchFamily="2" charset="2"/>
              </a:rPr>
              <a:t> numbers gradually get more and more wrong!</a:t>
            </a:r>
          </a:p>
          <a:p>
            <a:pPr lvl="1">
              <a:buSzPts val="2000"/>
            </a:pPr>
            <a:r>
              <a:rPr lang="en-GB" dirty="0" smtClean="0">
                <a:sym typeface="Wingdings" pitchFamily="2" charset="2"/>
              </a:rPr>
              <a:t>TONEAREVEN rounding mode minimizes bias</a:t>
            </a:r>
            <a:endParaRPr lang="en-GB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Other </a:t>
            </a:r>
            <a:r>
              <a:rPr lang="en-GB" dirty="0" err="1" smtClean="0"/>
              <a:t>numerics</a:t>
            </a:r>
            <a:r>
              <a:rPr lang="en-GB" dirty="0" smtClean="0"/>
              <a:t> issues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ontent Placeholder 26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GB" sz="2400" dirty="0" smtClean="0"/>
              <a:t>Recommended reading: </a:t>
            </a:r>
          </a:p>
          <a:p>
            <a:pPr lvl="1">
              <a:lnSpc>
                <a:spcPct val="130000"/>
              </a:lnSpc>
            </a:pPr>
            <a:r>
              <a:rPr lang="en-GB" sz="2100" dirty="0" smtClean="0"/>
              <a:t>Goldberg, “What Every Computer Scientist Should Know About Floating-Point Arithmetic”, ACM Computing Surveys, March 1991</a:t>
            </a:r>
            <a:endParaRPr lang="en-US" sz="2100" dirty="0" smtClean="0"/>
          </a:p>
          <a:p>
            <a:pPr>
              <a:lnSpc>
                <a:spcPct val="130000"/>
              </a:lnSpc>
            </a:pPr>
            <a:endParaRPr lang="en-GB" sz="2400" dirty="0" smtClean="0"/>
          </a:p>
          <a:p>
            <a:pPr>
              <a:lnSpc>
                <a:spcPct val="130000"/>
              </a:lnSpc>
            </a:pPr>
            <a:r>
              <a:rPr lang="en-GB" sz="2400" dirty="0" smtClean="0"/>
              <a:t>Textbooks:</a:t>
            </a:r>
          </a:p>
          <a:p>
            <a:pPr lvl="1">
              <a:lnSpc>
                <a:spcPct val="130000"/>
              </a:lnSpc>
            </a:pPr>
            <a:r>
              <a:rPr lang="en-GB" sz="2000" dirty="0" err="1" smtClean="0"/>
              <a:t>Koren</a:t>
            </a:r>
            <a:r>
              <a:rPr lang="en-GB" sz="2000" dirty="0" smtClean="0"/>
              <a:t>, “Computer Arithmetic Algorithms,” 1998.</a:t>
            </a:r>
          </a:p>
          <a:p>
            <a:pPr lvl="1">
              <a:lnSpc>
                <a:spcPct val="130000"/>
              </a:lnSpc>
            </a:pPr>
            <a:r>
              <a:rPr lang="en-GB" sz="2000" dirty="0" err="1" smtClean="0"/>
              <a:t>Pahrami</a:t>
            </a:r>
            <a:r>
              <a:rPr lang="en-GB" sz="2000" dirty="0" smtClean="0"/>
              <a:t>, ”Computer Arithmetic: Algorithms and Hardware Designs,” Oxford University Press, 2000.</a:t>
            </a:r>
          </a:p>
          <a:p>
            <a:pPr lvl="1">
              <a:lnSpc>
                <a:spcPct val="130000"/>
              </a:lnSpc>
            </a:pPr>
            <a:r>
              <a:rPr lang="en-GB" sz="2000" dirty="0" err="1" smtClean="0"/>
              <a:t>Waser</a:t>
            </a:r>
            <a:r>
              <a:rPr lang="en-GB" sz="2000" dirty="0" smtClean="0"/>
              <a:t>, Flynn, “Introduction for Arithmetic for Digital Systems Designers,” Holt, </a:t>
            </a:r>
            <a:r>
              <a:rPr lang="en-GB" sz="2000" dirty="0" err="1" smtClean="0"/>
              <a:t>Rinehard</a:t>
            </a:r>
            <a:r>
              <a:rPr lang="en-GB" sz="2000" dirty="0" smtClean="0"/>
              <a:t> &amp; Winston, 1982.</a:t>
            </a:r>
          </a:p>
          <a:p>
            <a:pPr lvl="1">
              <a:lnSpc>
                <a:spcPct val="130000"/>
              </a:lnSpc>
            </a:pPr>
            <a:r>
              <a:rPr lang="en-GB" sz="2000" dirty="0" err="1" smtClean="0"/>
              <a:t>Omondi</a:t>
            </a:r>
            <a:r>
              <a:rPr lang="en-GB" sz="2000" dirty="0" smtClean="0"/>
              <a:t>, “Computer Arithmetic Systems,” Prentice Hall, 1994.</a:t>
            </a:r>
          </a:p>
          <a:p>
            <a:pPr lvl="1">
              <a:lnSpc>
                <a:spcPct val="130000"/>
              </a:lnSpc>
            </a:pPr>
            <a:r>
              <a:rPr lang="en-GB" sz="2000" dirty="0" smtClean="0"/>
              <a:t>Hwang, “Computer Arithmetic: Principles, Architectures and Design,” Wiley, 1978.</a:t>
            </a:r>
          </a:p>
          <a:p>
            <a:pPr>
              <a:lnSpc>
                <a:spcPct val="130000"/>
              </a:lnSpc>
            </a:pPr>
            <a:endParaRPr lang="en-GB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A8B99-9408-4755-83CD-5550CF8601E7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994122"/>
          </a:xfrm>
        </p:spPr>
        <p:txBody>
          <a:bodyPr>
            <a:normAutofit/>
          </a:bodyPr>
          <a:lstStyle/>
          <a:p>
            <a:r>
              <a:rPr lang="en-GB" dirty="0" smtClean="0"/>
              <a:t>Further Reading on Computer Arithmetic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600" dirty="0" smtClean="0"/>
              <a:t>Write a </a:t>
            </a:r>
            <a:r>
              <a:rPr lang="en-GB" sz="1600" dirty="0" err="1" smtClean="0"/>
              <a:t>MaxCompiler</a:t>
            </a:r>
            <a:r>
              <a:rPr lang="en-GB" sz="1600" dirty="0" smtClean="0"/>
              <a:t> kernel that takes one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(8,24) </a:t>
            </a:r>
            <a:r>
              <a:rPr lang="en-GB" sz="1600" dirty="0" smtClean="0"/>
              <a:t>input stream and adds it to a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(11, 53)</a:t>
            </a:r>
            <a:r>
              <a:rPr lang="en-GB" sz="1600" dirty="0" smtClean="0"/>
              <a:t>input stream to produce a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(11, 53) </a:t>
            </a:r>
            <a:r>
              <a:rPr lang="en-GB" sz="1600" dirty="0" smtClean="0"/>
              <a:t>result. 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1600" dirty="0" smtClean="0"/>
              <a:t>What will be the result of trying to represent X=2</a:t>
            </a:r>
            <a:r>
              <a:rPr lang="en-GB" sz="1600" baseline="30000" dirty="0" smtClean="0"/>
              <a:t>32</a:t>
            </a:r>
            <a:r>
              <a:rPr lang="en-GB" sz="1600" dirty="0" smtClean="0"/>
              <a:t> and Y=2</a:t>
            </a:r>
            <a:r>
              <a:rPr lang="en-GB" sz="1600" baseline="30000" dirty="0" smtClean="0"/>
              <a:t>-2</a:t>
            </a:r>
            <a:r>
              <a:rPr lang="en-GB" sz="1600" dirty="0" smtClean="0"/>
              <a:t> in each of the following number types:</a:t>
            </a:r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r>
              <a:rPr lang="en-GB" sz="1600" dirty="0" smtClean="0"/>
              <a:t>Construct a test to show the difference between rounding modes on a multiplication operation of two </a:t>
            </a:r>
            <a:r>
              <a:rPr lang="en-GB" sz="1600" dirty="0" err="1" smtClean="0">
                <a:latin typeface="Courier New" pitchFamily="49" charset="0"/>
                <a:cs typeface="Courier New" pitchFamily="49" charset="0"/>
              </a:rPr>
              <a:t>hwFix</a:t>
            </a:r>
            <a:r>
              <a:rPr lang="en-GB" sz="1600" dirty="0" smtClean="0">
                <a:latin typeface="Courier New" pitchFamily="49" charset="0"/>
                <a:cs typeface="Courier New" pitchFamily="49" charset="0"/>
              </a:rPr>
              <a:t>(4, 4, TWOSCOMPLEMENT)</a:t>
            </a:r>
            <a:r>
              <a:rPr lang="en-GB" sz="1600" dirty="0" smtClean="0"/>
              <a:t> numbers. Vary the number of fraction bits – what is the impact on </a:t>
            </a:r>
            <a:r>
              <a:rPr lang="en-GB" sz="1600" smtClean="0"/>
              <a:t>the bias difference </a:t>
            </a:r>
            <a:r>
              <a:rPr lang="en-GB" sz="1600" dirty="0" smtClean="0"/>
              <a:t>between TONEAR </a:t>
            </a:r>
            <a:r>
              <a:rPr lang="en-GB" sz="1600" smtClean="0"/>
              <a:t>and TONEAREVEN and why?</a:t>
            </a: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Font typeface="+mj-lt"/>
              <a:buAutoNum type="arabicPeriod"/>
            </a:pPr>
            <a:endParaRPr lang="en-GB" sz="1600" dirty="0" smtClean="0"/>
          </a:p>
          <a:p>
            <a:pPr marL="514350" indent="-514350">
              <a:buNone/>
            </a:pPr>
            <a:endParaRPr lang="en-GB" sz="1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Exercises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52370" y="2592690"/>
            <a:ext cx="52723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hwFix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(32, 0, UNSIGNED)</a:t>
            </a: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hwFix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(32, 0, TWOSCOMPLEMENT)</a:t>
            </a: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hwFix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(28, 4, UNSIGNED)</a:t>
            </a: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hwFix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(32, 4, UNSIGNED)</a:t>
            </a: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(11, 53)</a:t>
            </a: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(8, 24)</a:t>
            </a: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(8, 32)</a:t>
            </a:r>
          </a:p>
          <a:p>
            <a:r>
              <a:rPr lang="en-GB" sz="1400" dirty="0" err="1" smtClean="0">
                <a:latin typeface="Courier New" pitchFamily="49" charset="0"/>
                <a:cs typeface="Courier New" pitchFamily="49" charset="0"/>
              </a:rPr>
              <a:t>hwFloat</a:t>
            </a:r>
            <a:r>
              <a:rPr lang="en-GB" sz="1400" dirty="0" smtClean="0">
                <a:latin typeface="Courier New" pitchFamily="49" charset="0"/>
                <a:cs typeface="Courier New" pitchFamily="49" charset="0"/>
              </a:rPr>
              <a:t>(8, 33)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ion 1 - MaxBlue">
  <a:themeElements>
    <a:clrScheme name="Maxeler">
      <a:dk1>
        <a:srgbClr val="000000"/>
      </a:dk1>
      <a:lt1>
        <a:srgbClr val="FFFFFF"/>
      </a:lt1>
      <a:dk2>
        <a:srgbClr val="535353"/>
      </a:dk2>
      <a:lt2>
        <a:srgbClr val="FFFFFF"/>
      </a:lt2>
      <a:accent1>
        <a:srgbClr val="005089"/>
      </a:accent1>
      <a:accent2>
        <a:srgbClr val="FFFFFF"/>
      </a:accent2>
      <a:accent3>
        <a:srgbClr val="A6A6A6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xBlue slides - wave footer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MaxTemplate_July15_2011</Template>
  <TotalTime>2075</TotalTime>
  <Words>2157</Words>
  <Application>Microsoft Office PowerPoint</Application>
  <PresentationFormat>On-screen Show (4:3)</PresentationFormat>
  <Paragraphs>915</Paragraphs>
  <Slides>27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Section 1 - MaxBlue</vt:lpstr>
      <vt:lpstr>MaxBlue slides - wave footer</vt:lpstr>
      <vt:lpstr>Equation</vt:lpstr>
      <vt:lpstr>Slide 1</vt:lpstr>
      <vt:lpstr>Lecture Overview</vt:lpstr>
      <vt:lpstr>Why we care</vt:lpstr>
      <vt:lpstr>Number Representation</vt:lpstr>
      <vt:lpstr>One’s Complement</vt:lpstr>
      <vt:lpstr>Two’s Complement</vt:lpstr>
      <vt:lpstr>Signed N-bit Integers</vt:lpstr>
      <vt:lpstr>Fixed Point Numbers</vt:lpstr>
      <vt:lpstr>Fixed Point Maths</vt:lpstr>
      <vt:lpstr>Floating Point Representation</vt:lpstr>
      <vt:lpstr>Floating Point Maths</vt:lpstr>
      <vt:lpstr>Number Representation in MaxCompiler</vt:lpstr>
      <vt:lpstr>hwFloat</vt:lpstr>
      <vt:lpstr>hwFix</vt:lpstr>
      <vt:lpstr>Mixed Types</vt:lpstr>
      <vt:lpstr>Rounding</vt:lpstr>
      <vt:lpstr>Rounding in MaxCompiler</vt:lpstr>
      <vt:lpstr>Arithmetic Styles</vt:lpstr>
      <vt:lpstr>Arithmetic in MaxCompiler</vt:lpstr>
      <vt:lpstr>Cost for arithmetic</vt:lpstr>
      <vt:lpstr>DSP usage for N x M multiplication</vt:lpstr>
      <vt:lpstr>LUT usage for floating point addition</vt:lpstr>
      <vt:lpstr>Benefits of Fixed Point</vt:lpstr>
      <vt:lpstr>Error</vt:lpstr>
      <vt:lpstr>Other numerics issues</vt:lpstr>
      <vt:lpstr>Further Reading on Computer Arithmetic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Collicutt</dc:creator>
  <cp:lastModifiedBy>oliver</cp:lastModifiedBy>
  <cp:revision>60</cp:revision>
  <dcterms:created xsi:type="dcterms:W3CDTF">2011-07-15T22:28:52Z</dcterms:created>
  <dcterms:modified xsi:type="dcterms:W3CDTF">2011-09-28T18:42:31Z</dcterms:modified>
</cp:coreProperties>
</file>