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346" r:id="rId2"/>
    <p:sldId id="343" r:id="rId3"/>
    <p:sldId id="321" r:id="rId4"/>
    <p:sldId id="325" r:id="rId5"/>
    <p:sldId id="326" r:id="rId6"/>
    <p:sldId id="327" r:id="rId7"/>
    <p:sldId id="328" r:id="rId8"/>
    <p:sldId id="337" r:id="rId9"/>
    <p:sldId id="338" r:id="rId10"/>
    <p:sldId id="344" r:id="rId11"/>
    <p:sldId id="322" r:id="rId12"/>
    <p:sldId id="329" r:id="rId13"/>
    <p:sldId id="330" r:id="rId14"/>
    <p:sldId id="331" r:id="rId15"/>
    <p:sldId id="332" r:id="rId16"/>
    <p:sldId id="345" r:id="rId17"/>
    <p:sldId id="323" r:id="rId18"/>
    <p:sldId id="333" r:id="rId19"/>
    <p:sldId id="334" r:id="rId20"/>
    <p:sldId id="335" r:id="rId21"/>
    <p:sldId id="336" r:id="rId22"/>
    <p:sldId id="339" r:id="rId23"/>
    <p:sldId id="340" r:id="rId24"/>
    <p:sldId id="341" r:id="rId25"/>
    <p:sldId id="324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425D7D0-25B1-4F5B-8FB6-C1A48A7334D5}">
          <p14:sldIdLst>
            <p14:sldId id="346"/>
            <p14:sldId id="343"/>
            <p14:sldId id="321"/>
            <p14:sldId id="325"/>
            <p14:sldId id="326"/>
            <p14:sldId id="327"/>
            <p14:sldId id="328"/>
            <p14:sldId id="337"/>
            <p14:sldId id="338"/>
            <p14:sldId id="344"/>
            <p14:sldId id="322"/>
            <p14:sldId id="329"/>
            <p14:sldId id="330"/>
            <p14:sldId id="331"/>
            <p14:sldId id="332"/>
            <p14:sldId id="345"/>
            <p14:sldId id="323"/>
            <p14:sldId id="333"/>
            <p14:sldId id="334"/>
            <p14:sldId id="335"/>
            <p14:sldId id="336"/>
            <p14:sldId id="339"/>
            <p14:sldId id="340"/>
            <p14:sldId id="341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126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jordjevic, Vuk" userId="5a135a82-7b25-4768-930d-d6a73f12ba6c" providerId="ADAL" clId="{908BEC71-EDA2-4F71-ACDC-59D3201D0471}"/>
    <pc:docChg chg="undo custSel addSld delSld modSld sldOrd modSection">
      <pc:chgData name="Djordjevic, Vuk" userId="5a135a82-7b25-4768-930d-d6a73f12ba6c" providerId="ADAL" clId="{908BEC71-EDA2-4F71-ACDC-59D3201D0471}" dt="2026-06-05T12:34:50.870" v="978" actId="20577"/>
      <pc:docMkLst>
        <pc:docMk/>
      </pc:docMkLst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297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298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299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00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01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02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03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08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09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10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11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12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13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14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15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16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17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18"/>
        </pc:sldMkLst>
      </pc:sldChg>
      <pc:sldChg chg="add del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19"/>
        </pc:sldMkLst>
      </pc:sldChg>
      <pc:sldChg chg="modSp add del mod">
        <pc:chgData name="Djordjevic, Vuk" userId="5a135a82-7b25-4768-930d-d6a73f12ba6c" providerId="ADAL" clId="{908BEC71-EDA2-4F71-ACDC-59D3201D0471}" dt="2026-06-05T11:32:47.922" v="236" actId="47"/>
        <pc:sldMkLst>
          <pc:docMk/>
          <pc:sldMk cId="0" sldId="320"/>
        </pc:sldMkLst>
        <pc:spChg chg="mod">
          <ac:chgData name="Djordjevic, Vuk" userId="5a135a82-7b25-4768-930d-d6a73f12ba6c" providerId="ADAL" clId="{908BEC71-EDA2-4F71-ACDC-59D3201D0471}" dt="2026-06-05T11:23:25.733" v="50" actId="20577"/>
          <ac:spMkLst>
            <pc:docMk/>
            <pc:sldMk cId="0" sldId="320"/>
            <ac:spMk id="10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2:30:40.233" v="970" actId="26606"/>
        <pc:sldMkLst>
          <pc:docMk/>
          <pc:sldMk cId="0" sldId="321"/>
        </pc:sldMkLst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21"/>
            <ac:spMk id="1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21"/>
            <ac:spMk id="19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21"/>
            <ac:spMk id="2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21"/>
            <ac:spMk id="3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21"/>
            <ac:spMk id="3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21"/>
            <ac:spMk id="51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2:30:40.233" v="970" actId="26606"/>
        <pc:sldMkLst>
          <pc:docMk/>
          <pc:sldMk cId="0" sldId="322"/>
        </pc:sldMkLst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22"/>
            <ac:spMk id="4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22"/>
            <ac:spMk id="1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22"/>
            <ac:spMk id="15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22"/>
            <ac:spMk id="16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22"/>
            <ac:spMk id="3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22"/>
            <ac:spMk id="3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5:44.764" v="558" actId="26606"/>
          <ac:spMkLst>
            <pc:docMk/>
            <pc:sldMk cId="0" sldId="322"/>
            <ac:spMk id="51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1:55:44.764" v="558" actId="26606"/>
        <pc:sldMkLst>
          <pc:docMk/>
          <pc:sldMk cId="0" sldId="323"/>
        </pc:sldMkLst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23"/>
            <ac:spMk id="4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23"/>
            <ac:spMk id="1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23"/>
            <ac:spMk id="19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5:44.764" v="558" actId="26606"/>
          <ac:spMkLst>
            <pc:docMk/>
            <pc:sldMk cId="0" sldId="323"/>
            <ac:spMk id="51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2:30:40.233" v="970" actId="26606"/>
        <pc:sldMkLst>
          <pc:docMk/>
          <pc:sldMk cId="0" sldId="324"/>
        </pc:sldMkLst>
        <pc:spChg chg="mod">
          <ac:chgData name="Djordjevic, Vuk" userId="5a135a82-7b25-4768-930d-d6a73f12ba6c" providerId="ADAL" clId="{908BEC71-EDA2-4F71-ACDC-59D3201D0471}" dt="2026-06-05T09:51:55.830" v="2" actId="26606"/>
          <ac:spMkLst>
            <pc:docMk/>
            <pc:sldMk cId="0" sldId="324"/>
            <ac:spMk id="5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19:07.634" v="33" actId="26606"/>
          <ac:spMkLst>
            <pc:docMk/>
            <pc:sldMk cId="0" sldId="324"/>
            <ac:spMk id="8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24"/>
            <ac:spMk id="1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09:53:42.243" v="3" actId="26606"/>
          <ac:spMkLst>
            <pc:docMk/>
            <pc:sldMk cId="0" sldId="324"/>
            <ac:spMk id="1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5:44.764" v="558" actId="26606"/>
          <ac:spMkLst>
            <pc:docMk/>
            <pc:sldMk cId="0" sldId="324"/>
            <ac:spMk id="13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2:30:40.233" v="970" actId="26606"/>
        <pc:sldMkLst>
          <pc:docMk/>
          <pc:sldMk cId="0" sldId="325"/>
        </pc:sldMkLst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25"/>
            <ac:spMk id="24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2:30:40.233" v="970" actId="26606"/>
        <pc:sldMkLst>
          <pc:docMk/>
          <pc:sldMk cId="0" sldId="326"/>
        </pc:sldMkLst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26"/>
            <ac:spMk id="24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2:30:40.233" v="970" actId="26606"/>
        <pc:sldMkLst>
          <pc:docMk/>
          <pc:sldMk cId="0" sldId="327"/>
        </pc:sldMkLst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27"/>
            <ac:spMk id="24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2:30:40.233" v="970" actId="26606"/>
        <pc:sldMkLst>
          <pc:docMk/>
          <pc:sldMk cId="0" sldId="328"/>
        </pc:sldMkLst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28"/>
            <ac:spMk id="28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1:55:44.764" v="558" actId="26606"/>
        <pc:sldMkLst>
          <pc:docMk/>
          <pc:sldMk cId="0" sldId="329"/>
        </pc:sldMkLst>
        <pc:spChg chg="mod">
          <ac:chgData name="Djordjevic, Vuk" userId="5a135a82-7b25-4768-930d-d6a73f12ba6c" providerId="ADAL" clId="{908BEC71-EDA2-4F71-ACDC-59D3201D0471}" dt="2026-06-05T11:55:44.764" v="558" actId="26606"/>
          <ac:spMkLst>
            <pc:docMk/>
            <pc:sldMk cId="0" sldId="329"/>
            <ac:spMk id="24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1:55:44.764" v="558" actId="26606"/>
        <pc:sldMkLst>
          <pc:docMk/>
          <pc:sldMk cId="0" sldId="330"/>
        </pc:sldMkLst>
        <pc:spChg chg="mod">
          <ac:chgData name="Djordjevic, Vuk" userId="5a135a82-7b25-4768-930d-d6a73f12ba6c" providerId="ADAL" clId="{908BEC71-EDA2-4F71-ACDC-59D3201D0471}" dt="2026-06-05T11:55:44.764" v="558" actId="26606"/>
          <ac:spMkLst>
            <pc:docMk/>
            <pc:sldMk cId="0" sldId="330"/>
            <ac:spMk id="24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1:55:44.764" v="558" actId="26606"/>
        <pc:sldMkLst>
          <pc:docMk/>
          <pc:sldMk cId="0" sldId="331"/>
        </pc:sldMkLst>
        <pc:spChg chg="mod">
          <ac:chgData name="Djordjevic, Vuk" userId="5a135a82-7b25-4768-930d-d6a73f12ba6c" providerId="ADAL" clId="{908BEC71-EDA2-4F71-ACDC-59D3201D0471}" dt="2026-06-05T11:55:44.764" v="558" actId="26606"/>
          <ac:spMkLst>
            <pc:docMk/>
            <pc:sldMk cId="0" sldId="331"/>
            <ac:spMk id="24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1:55:44.764" v="558" actId="26606"/>
        <pc:sldMkLst>
          <pc:docMk/>
          <pc:sldMk cId="0" sldId="332"/>
        </pc:sldMkLst>
        <pc:spChg chg="mod">
          <ac:chgData name="Djordjevic, Vuk" userId="5a135a82-7b25-4768-930d-d6a73f12ba6c" providerId="ADAL" clId="{908BEC71-EDA2-4F71-ACDC-59D3201D0471}" dt="2026-06-05T11:55:44.764" v="558" actId="26606"/>
          <ac:spMkLst>
            <pc:docMk/>
            <pc:sldMk cId="0" sldId="332"/>
            <ac:spMk id="30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1:55:44.764" v="558" actId="26606"/>
        <pc:sldMkLst>
          <pc:docMk/>
          <pc:sldMk cId="0" sldId="333"/>
        </pc:sldMkLst>
        <pc:spChg chg="mod">
          <ac:chgData name="Djordjevic, Vuk" userId="5a135a82-7b25-4768-930d-d6a73f12ba6c" providerId="ADAL" clId="{908BEC71-EDA2-4F71-ACDC-59D3201D0471}" dt="2026-06-05T11:55:44.764" v="558" actId="26606"/>
          <ac:spMkLst>
            <pc:docMk/>
            <pc:sldMk cId="0" sldId="333"/>
            <ac:spMk id="36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1:55:44.764" v="558" actId="26606"/>
        <pc:sldMkLst>
          <pc:docMk/>
          <pc:sldMk cId="0" sldId="334"/>
        </pc:sldMkLst>
        <pc:spChg chg="mod">
          <ac:chgData name="Djordjevic, Vuk" userId="5a135a82-7b25-4768-930d-d6a73f12ba6c" providerId="ADAL" clId="{908BEC71-EDA2-4F71-ACDC-59D3201D0471}" dt="2026-06-05T11:55:44.764" v="558" actId="26606"/>
          <ac:spMkLst>
            <pc:docMk/>
            <pc:sldMk cId="0" sldId="334"/>
            <ac:spMk id="36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1:55:44.764" v="558" actId="26606"/>
        <pc:sldMkLst>
          <pc:docMk/>
          <pc:sldMk cId="0" sldId="335"/>
        </pc:sldMkLst>
        <pc:spChg chg="mod">
          <ac:chgData name="Djordjevic, Vuk" userId="5a135a82-7b25-4768-930d-d6a73f12ba6c" providerId="ADAL" clId="{908BEC71-EDA2-4F71-ACDC-59D3201D0471}" dt="2026-06-05T11:55:44.764" v="558" actId="26606"/>
          <ac:spMkLst>
            <pc:docMk/>
            <pc:sldMk cId="0" sldId="335"/>
            <ac:spMk id="36" creationId="{00000000-0000-0000-0000-000000000000}"/>
          </ac:spMkLst>
        </pc:spChg>
      </pc:sldChg>
      <pc:sldChg chg="modSp add mod">
        <pc:chgData name="Djordjevic, Vuk" userId="5a135a82-7b25-4768-930d-d6a73f12ba6c" providerId="ADAL" clId="{908BEC71-EDA2-4F71-ACDC-59D3201D0471}" dt="2026-06-05T11:55:44.764" v="558" actId="26606"/>
        <pc:sldMkLst>
          <pc:docMk/>
          <pc:sldMk cId="0" sldId="336"/>
        </pc:sldMkLst>
        <pc:spChg chg="mod">
          <ac:chgData name="Djordjevic, Vuk" userId="5a135a82-7b25-4768-930d-d6a73f12ba6c" providerId="ADAL" clId="{908BEC71-EDA2-4F71-ACDC-59D3201D0471}" dt="2026-06-05T11:55:44.764" v="558" actId="26606"/>
          <ac:spMkLst>
            <pc:docMk/>
            <pc:sldMk cId="0" sldId="336"/>
            <ac:spMk id="36" creationId="{00000000-0000-0000-0000-000000000000}"/>
          </ac:spMkLst>
        </pc:spChg>
      </pc:sldChg>
      <pc:sldChg chg="modSp add del mod">
        <pc:chgData name="Djordjevic, Vuk" userId="5a135a82-7b25-4768-930d-d6a73f12ba6c" providerId="ADAL" clId="{908BEC71-EDA2-4F71-ACDC-59D3201D0471}" dt="2026-06-05T12:34:50.870" v="978" actId="20577"/>
        <pc:sldMkLst>
          <pc:docMk/>
          <pc:sldMk cId="0" sldId="337"/>
        </pc:sldMkLst>
        <pc:spChg chg="mod">
          <ac:chgData name="Djordjevic, Vuk" userId="5a135a82-7b25-4768-930d-d6a73f12ba6c" providerId="ADAL" clId="{908BEC71-EDA2-4F71-ACDC-59D3201D0471}" dt="2026-06-05T12:34:50.870" v="978" actId="20577"/>
          <ac:spMkLst>
            <pc:docMk/>
            <pc:sldMk cId="0" sldId="337"/>
            <ac:spMk id="1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37"/>
            <ac:spMk id="31" creationId="{00000000-0000-0000-0000-000000000000}"/>
          </ac:spMkLst>
        </pc:spChg>
      </pc:sldChg>
      <pc:sldChg chg="modSp add del mod">
        <pc:chgData name="Djordjevic, Vuk" userId="5a135a82-7b25-4768-930d-d6a73f12ba6c" providerId="ADAL" clId="{908BEC71-EDA2-4F71-ACDC-59D3201D0471}" dt="2026-06-05T12:30:40.233" v="970" actId="26606"/>
        <pc:sldMkLst>
          <pc:docMk/>
          <pc:sldMk cId="0" sldId="338"/>
        </pc:sldMkLst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38"/>
            <ac:spMk id="1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38"/>
            <ac:spMk id="3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38"/>
            <ac:spMk id="31" creationId="{00000000-0000-0000-0000-000000000000}"/>
          </ac:spMkLst>
        </pc:spChg>
      </pc:sldChg>
      <pc:sldChg chg="modSp add del mod">
        <pc:chgData name="Djordjevic, Vuk" userId="5a135a82-7b25-4768-930d-d6a73f12ba6c" providerId="ADAL" clId="{908BEC71-EDA2-4F71-ACDC-59D3201D0471}" dt="2026-06-05T12:30:40.233" v="970" actId="26606"/>
        <pc:sldMkLst>
          <pc:docMk/>
          <pc:sldMk cId="0" sldId="339"/>
        </pc:sldMkLst>
        <pc:spChg chg="mod">
          <ac:chgData name="Djordjevic, Vuk" userId="5a135a82-7b25-4768-930d-d6a73f12ba6c" providerId="ADAL" clId="{908BEC71-EDA2-4F71-ACDC-59D3201D0471}" dt="2026-06-05T11:51:01.262" v="555" actId="20577"/>
          <ac:spMkLst>
            <pc:docMk/>
            <pc:sldMk cId="0" sldId="339"/>
            <ac:spMk id="1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39"/>
            <ac:spMk id="3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5:44.764" v="558" actId="26606"/>
          <ac:spMkLst>
            <pc:docMk/>
            <pc:sldMk cId="0" sldId="339"/>
            <ac:spMk id="31" creationId="{00000000-0000-0000-0000-000000000000}"/>
          </ac:spMkLst>
        </pc:spChg>
      </pc:sldChg>
      <pc:sldChg chg="addSp delSp modSp add mod">
        <pc:chgData name="Djordjevic, Vuk" userId="5a135a82-7b25-4768-930d-d6a73f12ba6c" providerId="ADAL" clId="{908BEC71-EDA2-4F71-ACDC-59D3201D0471}" dt="2026-06-05T12:30:40.233" v="970" actId="26606"/>
        <pc:sldMkLst>
          <pc:docMk/>
          <pc:sldMk cId="0" sldId="340"/>
        </pc:sldMkLst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0"/>
            <ac:spMk id="2" creationId="{00000000-0000-0000-0000-000000000000}"/>
          </ac:spMkLst>
        </pc:spChg>
        <pc:spChg chg="add del 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0"/>
            <ac:spMk id="10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0"/>
            <ac:spMk id="101" creationId="{00000000-0000-0000-0000-000000000000}"/>
          </ac:spMkLst>
        </pc:spChg>
      </pc:sldChg>
      <pc:sldChg chg="addSp delSp modSp add mod">
        <pc:chgData name="Djordjevic, Vuk" userId="5a135a82-7b25-4768-930d-d6a73f12ba6c" providerId="ADAL" clId="{908BEC71-EDA2-4F71-ACDC-59D3201D0471}" dt="2026-06-05T12:22:38.169" v="966" actId="1076"/>
        <pc:sldMkLst>
          <pc:docMk/>
          <pc:sldMk cId="0" sldId="341"/>
        </pc:sldMkLst>
        <pc:spChg chg="mod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1"/>
            <ac:spMk id="3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1"/>
            <ac:spMk id="2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1"/>
            <ac:spMk id="21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1"/>
            <ac:spMk id="23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1"/>
            <ac:spMk id="24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1"/>
            <ac:spMk id="3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1"/>
            <ac:spMk id="31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3:29.662" v="556" actId="26606"/>
          <ac:spMkLst>
            <pc:docMk/>
            <pc:sldMk cId="0" sldId="341"/>
            <ac:spMk id="33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22:38.169" v="966" actId="1076"/>
          <ac:spMkLst>
            <pc:docMk/>
            <pc:sldMk cId="0" sldId="341"/>
            <ac:spMk id="34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1"/>
            <ac:spMk id="35" creationId="{00000000-0000-0000-0000-000000000000}"/>
          </ac:spMkLst>
        </pc:spChg>
        <pc:spChg chg="add del mod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1"/>
            <ac:spMk id="5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5:44.764" v="558" actId="26606"/>
          <ac:spMkLst>
            <pc:docMk/>
            <pc:sldMk cId="0" sldId="341"/>
            <ac:spMk id="81" creationId="{00000000-0000-0000-0000-000000000000}"/>
          </ac:spMkLst>
        </pc:spChg>
      </pc:sldChg>
      <pc:sldChg chg="modSp add del mod">
        <pc:chgData name="Djordjevic, Vuk" userId="5a135a82-7b25-4768-930d-d6a73f12ba6c" providerId="ADAL" clId="{908BEC71-EDA2-4F71-ACDC-59D3201D0471}" dt="2026-06-05T11:50:34.065" v="509" actId="47"/>
        <pc:sldMkLst>
          <pc:docMk/>
          <pc:sldMk cId="0" sldId="342"/>
        </pc:sldMkLst>
        <pc:spChg chg="mod">
          <ac:chgData name="Djordjevic, Vuk" userId="5a135a82-7b25-4768-930d-d6a73f12ba6c" providerId="ADAL" clId="{908BEC71-EDA2-4F71-ACDC-59D3201D0471}" dt="2026-06-05T11:19:07.634" v="33" actId="26606"/>
          <ac:spMkLst>
            <pc:docMk/>
            <pc:sldMk cId="0" sldId="342"/>
            <ac:spMk id="18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19:07.634" v="33" actId="26606"/>
          <ac:spMkLst>
            <pc:docMk/>
            <pc:sldMk cId="0" sldId="342"/>
            <ac:spMk id="101" creationId="{00000000-0000-0000-0000-000000000000}"/>
          </ac:spMkLst>
        </pc:spChg>
      </pc:sldChg>
      <pc:sldChg chg="addSp delSp modSp add mod ord">
        <pc:chgData name="Djordjevic, Vuk" userId="5a135a82-7b25-4768-930d-d6a73f12ba6c" providerId="ADAL" clId="{908BEC71-EDA2-4F71-ACDC-59D3201D0471}" dt="2026-06-05T12:30:40.233" v="970" actId="26606"/>
        <pc:sldMkLst>
          <pc:docMk/>
          <pc:sldMk cId="0" sldId="343"/>
        </pc:sldMkLst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3"/>
            <ac:spMk id="1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3"/>
            <ac:spMk id="15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3"/>
            <ac:spMk id="18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3"/>
            <ac:spMk id="19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3"/>
            <ac:spMk id="23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3"/>
            <ac:spMk id="24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3"/>
            <ac:spMk id="25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3"/>
            <ac:spMk id="27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3"/>
            <ac:spMk id="3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5:44.764" v="558" actId="26606"/>
          <ac:spMkLst>
            <pc:docMk/>
            <pc:sldMk cId="0" sldId="343"/>
            <ac:spMk id="31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3"/>
            <ac:spMk id="32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3"/>
            <ac:spMk id="33" creationId="{00000000-0000-0000-0000-000000000000}"/>
          </ac:spMkLst>
        </pc:spChg>
        <pc:spChg chg="add del 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3"/>
            <ac:spMk id="201" creationId="{00000000-0000-0000-0000-000000000000}"/>
          </ac:spMkLst>
        </pc:spChg>
      </pc:sldChg>
      <pc:sldChg chg="addSp delSp modSp add mod ord">
        <pc:chgData name="Djordjevic, Vuk" userId="5a135a82-7b25-4768-930d-d6a73f12ba6c" providerId="ADAL" clId="{908BEC71-EDA2-4F71-ACDC-59D3201D0471}" dt="2026-06-05T12:30:40.233" v="970" actId="26606"/>
        <pc:sldMkLst>
          <pc:docMk/>
          <pc:sldMk cId="0" sldId="344"/>
        </pc:sldMkLst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4"/>
            <ac:spMk id="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4"/>
            <ac:spMk id="1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4"/>
            <ac:spMk id="1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07:50.418" v="8" actId="26606"/>
          <ac:spMkLst>
            <pc:docMk/>
            <pc:sldMk cId="0" sldId="344"/>
            <ac:spMk id="16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4"/>
            <ac:spMk id="19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4"/>
            <ac:spMk id="2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4"/>
            <ac:spMk id="22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4"/>
            <ac:spMk id="23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4"/>
            <ac:spMk id="24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4"/>
            <ac:spMk id="25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4"/>
            <ac:spMk id="27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4"/>
            <ac:spMk id="3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4"/>
            <ac:spMk id="31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4"/>
            <ac:spMk id="32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4"/>
            <ac:spMk id="35" creationId="{00000000-0000-0000-0000-000000000000}"/>
          </ac:spMkLst>
        </pc:spChg>
        <pc:spChg chg="add del 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4"/>
            <ac:spMk id="301" creationId="{00000000-0000-0000-0000-000000000000}"/>
          </ac:spMkLst>
        </pc:spChg>
      </pc:sldChg>
      <pc:sldChg chg="addSp delSp modSp add mod ord">
        <pc:chgData name="Djordjevic, Vuk" userId="5a135a82-7b25-4768-930d-d6a73f12ba6c" providerId="ADAL" clId="{908BEC71-EDA2-4F71-ACDC-59D3201D0471}" dt="2026-06-05T12:30:40.233" v="970" actId="26606"/>
        <pc:sldMkLst>
          <pc:docMk/>
          <pc:sldMk cId="0" sldId="345"/>
        </pc:sldMkLst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5"/>
            <ac:spMk id="1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5"/>
            <ac:spMk id="1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5"/>
            <ac:spMk id="16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5"/>
            <ac:spMk id="17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5"/>
            <ac:spMk id="2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5"/>
            <ac:spMk id="21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5"/>
            <ac:spMk id="22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5"/>
            <ac:spMk id="25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5"/>
            <ac:spMk id="27" creationId="{00000000-0000-0000-0000-000000000000}"/>
          </ac:spMkLst>
        </pc:spChg>
        <pc:spChg chg="add del 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5"/>
            <ac:spMk id="30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2:30:40.233" v="970" actId="26606"/>
          <ac:spMkLst>
            <pc:docMk/>
            <pc:sldMk cId="0" sldId="345"/>
            <ac:spMk id="31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11:20.946" v="32" actId="26606"/>
          <ac:spMkLst>
            <pc:docMk/>
            <pc:sldMk cId="0" sldId="345"/>
            <ac:spMk id="35" creationId="{00000000-0000-0000-0000-000000000000}"/>
          </ac:spMkLst>
        </pc:spChg>
        <pc:spChg chg="mod">
          <ac:chgData name="Djordjevic, Vuk" userId="5a135a82-7b25-4768-930d-d6a73f12ba6c" providerId="ADAL" clId="{908BEC71-EDA2-4F71-ACDC-59D3201D0471}" dt="2026-06-05T10:23:04.327" v="6" actId="26606"/>
          <ac:spMkLst>
            <pc:docMk/>
            <pc:sldMk cId="0" sldId="345"/>
            <ac:spMk id="401" creationId="{00000000-0000-0000-0000-000000000000}"/>
          </ac:spMkLst>
        </pc:spChg>
      </pc:sldChg>
      <pc:sldChg chg="addSp delSp modSp add mod">
        <pc:chgData name="Djordjevic, Vuk" userId="5a135a82-7b25-4768-930d-d6a73f12ba6c" providerId="ADAL" clId="{908BEC71-EDA2-4F71-ACDC-59D3201D0471}" dt="2026-06-05T11:54:02.003" v="557" actId="26606"/>
        <pc:sldMkLst>
          <pc:docMk/>
          <pc:sldMk cId="0" sldId="346"/>
        </pc:sldMkLst>
        <pc:spChg chg="mod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6"/>
            <ac:spMk id="10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6"/>
            <ac:spMk id="11" creationId="{00000000-0000-0000-0000-000000000000}"/>
          </ac:spMkLst>
        </pc:spChg>
        <pc:spChg chg="del">
          <ac:chgData name="Djordjevic, Vuk" userId="5a135a82-7b25-4768-930d-d6a73f12ba6c" providerId="ADAL" clId="{908BEC71-EDA2-4F71-ACDC-59D3201D0471}" dt="2026-06-05T11:33:06.693" v="238" actId="478"/>
          <ac:spMkLst>
            <pc:docMk/>
            <pc:sldMk cId="0" sldId="346"/>
            <ac:spMk id="15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6"/>
            <ac:spMk id="20" creationId="{00000000-0000-0000-0000-000000000000}"/>
          </ac:spMkLst>
        </pc:spChg>
        <pc:spChg chg="add del">
          <ac:chgData name="Djordjevic, Vuk" userId="5a135a82-7b25-4768-930d-d6a73f12ba6c" providerId="ADAL" clId="{908BEC71-EDA2-4F71-ACDC-59D3201D0471}" dt="2026-06-05T11:54:02.003" v="557" actId="26606"/>
          <ac:spMkLst>
            <pc:docMk/>
            <pc:sldMk cId="0" sldId="346"/>
            <ac:spMk id="3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35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inTitle"/>
          <p:cNvSpPr txBox="1"/>
          <p:nvPr/>
        </p:nvSpPr>
        <p:spPr>
          <a:xfrm>
            <a:off x="548640" y="1600000"/>
            <a:ext cx="8046720" cy="7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600" b="1" dirty="0">
                <a:solidFill>
                  <a:srgbClr val="065A60"/>
                </a:solidFill>
                <a:latin typeface="Trebuchet MS"/>
              </a:rPr>
              <a:t>Prefix Scan </a:t>
            </a:r>
            <a:r>
              <a:rPr lang="en-US" sz="3600" b="1" dirty="0" err="1">
                <a:solidFill>
                  <a:srgbClr val="065A60"/>
                </a:solidFill>
                <a:latin typeface="Trebuchet MS"/>
              </a:rPr>
              <a:t>kroz</a:t>
            </a:r>
            <a:r>
              <a:rPr lang="en-US" sz="3600" b="1" dirty="0">
                <a:solidFill>
                  <a:srgbClr val="065A60"/>
                </a:solidFill>
                <a:latin typeface="Trebuchet MS"/>
              </a:rPr>
              <a:t> tri </a:t>
            </a:r>
            <a:r>
              <a:rPr lang="en-US" sz="3600" b="1" dirty="0" err="1">
                <a:solidFill>
                  <a:srgbClr val="065A60"/>
                </a:solidFill>
                <a:latin typeface="Trebuchet MS"/>
              </a:rPr>
              <a:t>paradigme</a:t>
            </a:r>
            <a:endParaRPr lang="en-US" sz="3600" b="1" dirty="0">
              <a:solidFill>
                <a:srgbClr val="065A60"/>
              </a:solidFill>
              <a:latin typeface="Trebuchet MS"/>
            </a:endParaRPr>
          </a:p>
        </p:txBody>
      </p:sp>
      <p:sp>
        <p:nvSpPr>
          <p:cNvPr id="11" name="Sub"/>
          <p:cNvSpPr txBox="1"/>
          <p:nvPr/>
        </p:nvSpPr>
        <p:spPr>
          <a:xfrm>
            <a:off x="548640" y="2400000"/>
            <a:ext cx="8046720" cy="36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/>
              </a:rPr>
              <a:t>IoT</a:t>
            </a:r>
            <a:r>
              <a:rPr lang="en-US" sz="2000" dirty="0">
                <a:solidFill>
                  <a:srgbClr val="64748B"/>
                </a:solidFill>
                <a:latin typeface="Trebuchet MS"/>
              </a:rPr>
              <a:t>  •  </a:t>
            </a:r>
            <a:r>
              <a:rPr lang="en-US" sz="2000" b="1" dirty="0">
                <a:solidFill>
                  <a:srgbClr val="65A30D"/>
                </a:solidFill>
                <a:latin typeface="Trebuchet MS"/>
              </a:rPr>
              <a:t>WSN</a:t>
            </a:r>
            <a:r>
              <a:rPr lang="en-US" sz="2000" dirty="0">
                <a:solidFill>
                  <a:srgbClr val="64748B"/>
                </a:solidFill>
                <a:latin typeface="Trebuchet MS"/>
              </a:rPr>
              <a:t>  •  </a:t>
            </a:r>
            <a:r>
              <a:rPr lang="en-US" sz="2000" b="1" dirty="0" err="1">
                <a:solidFill>
                  <a:srgbClr val="92400E"/>
                </a:solidFill>
                <a:latin typeface="Trebuchet MS"/>
              </a:rPr>
              <a:t>Opto</a:t>
            </a:r>
            <a:endParaRPr lang="en-US" sz="2000" b="1" dirty="0">
              <a:solidFill>
                <a:srgbClr val="92400E"/>
              </a:solidFill>
              <a:latin typeface="Trebuchet MS"/>
            </a:endParaRPr>
          </a:p>
        </p:txBody>
      </p:sp>
      <p:sp>
        <p:nvSpPr>
          <p:cNvPr id="30" name="Author"/>
          <p:cNvSpPr txBox="1"/>
          <p:nvPr/>
        </p:nvSpPr>
        <p:spPr>
          <a:xfrm>
            <a:off x="548640" y="4200000"/>
            <a:ext cx="8046720" cy="38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b="1">
                <a:solidFill>
                  <a:srgbClr val="065A60"/>
                </a:solidFill>
                <a:latin typeface="Trebuchet MS"/>
              </a:rPr>
              <a:t>Vuk Đorđević</a:t>
            </a:r>
            <a:r>
              <a:rPr lang="en-US" sz="1600">
                <a:solidFill>
                  <a:srgbClr val="64748B"/>
                </a:solidFill>
                <a:latin typeface="Calibri"/>
              </a:rPr>
              <a:t>    ·    </a:t>
            </a:r>
            <a:r>
              <a:rPr lang="en-US" sz="1400">
                <a:solidFill>
                  <a:srgbClr val="475569"/>
                </a:solidFill>
                <a:latin typeface="Calibri"/>
              </a:rPr>
              <a:t>br. indeksa 2024/3102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Šta je IoT i kako radi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Internet of Things — milijarde uređaja koji šalju podatke u oblak u realnom vremenu</a:t>
            </a:r>
          </a:p>
        </p:txBody>
      </p:sp>
      <p:sp>
        <p:nvSpPr>
          <p:cNvPr id="10" name="BlkBG"/>
          <p:cNvSpPr/>
          <p:nvPr/>
        </p:nvSpPr>
        <p:spPr>
          <a:xfrm>
            <a:off x="548640" y="1188720"/>
            <a:ext cx="3923280" cy="14184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lkHdr"/>
          <p:cNvSpPr/>
          <p:nvPr/>
        </p:nvSpPr>
        <p:spPr>
          <a:xfrm>
            <a:off x="685800" y="1280160"/>
            <a:ext cx="36489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>
                <a:solidFill>
                  <a:srgbClr val="065A60"/>
                </a:solidFill>
                <a:latin typeface="Trebuchet MS"/>
              </a:rPr>
              <a:t>Šta je to?</a:t>
            </a:r>
          </a:p>
        </p:txBody>
      </p:sp>
      <p:sp>
        <p:nvSpPr>
          <p:cNvPr id="12" name="BlkBody"/>
          <p:cNvSpPr/>
          <p:nvPr/>
        </p:nvSpPr>
        <p:spPr>
          <a:xfrm>
            <a:off x="731520" y="1691640"/>
            <a:ext cx="3557520" cy="824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065A60"/>
                </a:solidFill>
                <a:latin typeface="Calibri"/>
              </a:rPr>
              <a:t>Senzori i uređaji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(telefoni, mašine, automobili) povezani na internet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065A60"/>
                </a:solidFill>
                <a:latin typeface="Calibri"/>
              </a:rPr>
              <a:t>Šalju podatke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u oblak — često, malo po malo (telemetrija)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065A60"/>
                </a:solidFill>
                <a:latin typeface="Calibri"/>
              </a:rPr>
              <a:t>Oblak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agregira, analizira i odlučuje šta da uradi</a:t>
            </a:r>
          </a:p>
        </p:txBody>
      </p:sp>
      <p:sp>
        <p:nvSpPr>
          <p:cNvPr id="15" name="BlkBG"/>
          <p:cNvSpPr/>
          <p:nvPr/>
        </p:nvSpPr>
        <p:spPr>
          <a:xfrm>
            <a:off x="4791920" y="1188720"/>
            <a:ext cx="3923280" cy="141840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BlkHdr"/>
          <p:cNvSpPr/>
          <p:nvPr/>
        </p:nvSpPr>
        <p:spPr>
          <a:xfrm>
            <a:off x="4929080" y="1280160"/>
            <a:ext cx="36489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>
                <a:solidFill>
                  <a:srgbClr val="4338CA"/>
                </a:solidFill>
                <a:latin typeface="Trebuchet MS"/>
              </a:rPr>
              <a:t>Zašto postoji?</a:t>
            </a:r>
          </a:p>
        </p:txBody>
      </p:sp>
      <p:sp>
        <p:nvSpPr>
          <p:cNvPr id="17" name="BlkBody"/>
          <p:cNvSpPr/>
          <p:nvPr/>
        </p:nvSpPr>
        <p:spPr>
          <a:xfrm>
            <a:off x="4974800" y="1691640"/>
            <a:ext cx="3557520" cy="824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4338CA"/>
                </a:solidFill>
                <a:latin typeface="Calibri"/>
              </a:rPr>
              <a:t>Previše uređaja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za centralni server — milijarde, ne hiljade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4338CA"/>
                </a:solidFill>
                <a:latin typeface="Calibri"/>
              </a:rPr>
              <a:t>Realno-vremenski uvid: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ne želiš da čekaš satima na izveštaj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4338CA"/>
                </a:solidFill>
                <a:latin typeface="Calibri"/>
              </a:rPr>
              <a:t>Cloud skalira jeftino: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plaćaš samo onoliko koliko trošiš</a:t>
            </a:r>
          </a:p>
        </p:txBody>
      </p:sp>
      <p:sp>
        <p:nvSpPr>
          <p:cNvPr id="20" name="BlkBG"/>
          <p:cNvSpPr/>
          <p:nvPr/>
        </p:nvSpPr>
        <p:spPr>
          <a:xfrm>
            <a:off x="548640" y="2698560"/>
            <a:ext cx="3923280" cy="1418400"/>
          </a:xfrm>
          <a:prstGeom prst="rect">
            <a:avLst/>
          </a:prstGeom>
          <a:solidFill>
            <a:srgbClr val="ECFC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BlkHdr"/>
          <p:cNvSpPr/>
          <p:nvPr/>
        </p:nvSpPr>
        <p:spPr>
          <a:xfrm>
            <a:off x="685800" y="2790000"/>
            <a:ext cx="36489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>
                <a:solidFill>
                  <a:srgbClr val="65A30D"/>
                </a:solidFill>
                <a:latin typeface="Trebuchet MS"/>
              </a:rPr>
              <a:t>Ključni koncepti</a:t>
            </a:r>
          </a:p>
        </p:txBody>
      </p:sp>
      <p:sp>
        <p:nvSpPr>
          <p:cNvPr id="22" name="BlkBody"/>
          <p:cNvSpPr/>
          <p:nvPr/>
        </p:nvSpPr>
        <p:spPr>
          <a:xfrm>
            <a:off x="731520" y="3201480"/>
            <a:ext cx="3557520" cy="824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65A30D"/>
                </a:solidFill>
                <a:latin typeface="Calibri"/>
              </a:rPr>
              <a:t>Ingest: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primanje poruka — IoT Core (AWS) ili IoT Hub (Azure)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65A30D"/>
                </a:solidFill>
                <a:latin typeface="Calibri"/>
              </a:rPr>
              <a:t>Shard: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particija stream-a po ključu — paralelna obrada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65A30D"/>
                </a:solidFill>
                <a:latin typeface="Calibri"/>
              </a:rPr>
              <a:t>Batch: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Lambda dobija 100–1000 poruka odjednom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65A30D"/>
                </a:solidFill>
                <a:latin typeface="Calibri"/>
              </a:rPr>
              <a:t>Reduce tree: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spajanje parcijalnih rezultata u finalni</a:t>
            </a:r>
          </a:p>
        </p:txBody>
      </p:sp>
      <p:sp>
        <p:nvSpPr>
          <p:cNvPr id="25" name="BlkBG"/>
          <p:cNvSpPr/>
          <p:nvPr/>
        </p:nvSpPr>
        <p:spPr>
          <a:xfrm>
            <a:off x="4791920" y="2698560"/>
            <a:ext cx="3923280" cy="14184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BlkHdr"/>
          <p:cNvSpPr/>
          <p:nvPr/>
        </p:nvSpPr>
        <p:spPr>
          <a:xfrm>
            <a:off x="4929080" y="2790000"/>
            <a:ext cx="36489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>
                <a:solidFill>
                  <a:srgbClr val="92400E"/>
                </a:solidFill>
                <a:latin typeface="Trebuchet MS"/>
              </a:rPr>
              <a:t>Realni primer</a:t>
            </a:r>
          </a:p>
        </p:txBody>
      </p:sp>
      <p:sp>
        <p:nvSpPr>
          <p:cNvPr id="27" name="BlkBody"/>
          <p:cNvSpPr/>
          <p:nvPr/>
        </p:nvSpPr>
        <p:spPr>
          <a:xfrm>
            <a:off x="4974800" y="3201480"/>
            <a:ext cx="3557520" cy="824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92400E"/>
                </a:solidFill>
                <a:latin typeface="Calibri"/>
              </a:rPr>
              <a:t>Fitness narukvica: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10M uređaja šalje puls svake sekunde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92400E"/>
                </a:solidFill>
                <a:latin typeface="Calibri"/>
              </a:rPr>
              <a:t>Detekcija anomalija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u &lt; 100 ms — alarm pre srčanog napada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92400E"/>
                </a:solidFill>
                <a:latin typeface="Calibri"/>
              </a:rPr>
              <a:t>Cena: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$0.00001 po događaju, bez servera za održavanje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92400E"/>
                </a:solidFill>
                <a:latin typeface="Calibri"/>
              </a:rPr>
              <a:t>Za prefix scan: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kumulativni broj koraka kroz vreme</a:t>
            </a:r>
          </a:p>
        </p:txBody>
      </p:sp>
      <p:sp>
        <p:nvSpPr>
          <p:cNvPr id="31" name="PageNum"/>
          <p:cNvSpPr txBox="1">
            <a:spLocks/>
          </p:cNvSpPr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2/25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elloch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buNone/>
            </a:pPr>
            <a:r>
              <a:rPr lang="en-US" sz="3200" b="1">
                <a:solidFill>
                  <a:srgbClr val="065A60"/>
                </a:solidFill>
                <a:latin typeface="Trebuchet MS"/>
              </a:rPr>
              <a:t>Prefix Scan na IoT (AWS i Azure)</a:t>
            </a:r>
          </a:p>
        </p:txBody>
      </p:sp>
      <p:sp>
        <p:nvSpPr>
          <p:cNvPr id="5" name="Sub"/>
          <p:cNvSpPr/>
          <p:nvPr/>
        </p:nvSpPr>
        <p:spPr>
          <a:xfrm>
            <a:off x="54864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Distribuirano stablo: Lambda + Kinesis / Stream Analytics + IoT Hub</a:t>
            </a:r>
          </a:p>
        </p:txBody>
      </p:sp>
      <p:sp>
        <p:nvSpPr>
          <p:cNvPr id="10" name="C1BG"/>
          <p:cNvSpPr/>
          <p:nvPr/>
        </p:nvSpPr>
        <p:spPr>
          <a:xfrm>
            <a:off x="548640" y="1691640"/>
            <a:ext cx="3840480" cy="795528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C1Lbl"/>
          <p:cNvSpPr/>
          <p:nvPr/>
        </p:nvSpPr>
        <p:spPr>
          <a:xfrm>
            <a:off x="7315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Algoritam</a:t>
            </a:r>
          </a:p>
        </p:txBody>
      </p:sp>
      <p:sp>
        <p:nvSpPr>
          <p:cNvPr id="12" name="C1Val"/>
          <p:cNvSpPr/>
          <p:nvPr/>
        </p:nvSpPr>
        <p:spPr>
          <a:xfrm>
            <a:off x="73152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Stablo-redukcija u oblaku</a:t>
            </a:r>
          </a:p>
        </p:txBody>
      </p:sp>
      <p:sp>
        <p:nvSpPr>
          <p:cNvPr id="13" name="C2BG"/>
          <p:cNvSpPr/>
          <p:nvPr/>
        </p:nvSpPr>
        <p:spPr>
          <a:xfrm>
            <a:off x="548640" y="2560320"/>
            <a:ext cx="3840480" cy="71323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C2Lbl"/>
          <p:cNvSpPr/>
          <p:nvPr/>
        </p:nvSpPr>
        <p:spPr>
          <a:xfrm>
            <a:off x="73152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Rad</a:t>
            </a:r>
          </a:p>
        </p:txBody>
      </p:sp>
      <p:sp>
        <p:nvSpPr>
          <p:cNvPr id="15" name="C2Val"/>
          <p:cNvSpPr/>
          <p:nvPr/>
        </p:nvSpPr>
        <p:spPr>
          <a:xfrm>
            <a:off x="7315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O(N)</a:t>
            </a:r>
          </a:p>
        </p:txBody>
      </p:sp>
      <p:sp>
        <p:nvSpPr>
          <p:cNvPr id="16" name="C2Desc"/>
          <p:cNvSpPr/>
          <p:nvPr/>
        </p:nvSpPr>
        <p:spPr>
          <a:xfrm>
            <a:off x="256032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100">
                <a:solidFill>
                  <a:srgbClr val="475569"/>
                </a:solidFill>
                <a:latin typeface="Calibri"/>
              </a:rPr>
              <a:t>N događaja iz uređaja</a:t>
            </a:r>
          </a:p>
        </p:txBody>
      </p:sp>
      <p:sp>
        <p:nvSpPr>
          <p:cNvPr id="17" name="C3BG"/>
          <p:cNvSpPr/>
          <p:nvPr/>
        </p:nvSpPr>
        <p:spPr>
          <a:xfrm>
            <a:off x="548640" y="3429000"/>
            <a:ext cx="3840480" cy="71323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C3Lbl"/>
          <p:cNvSpPr/>
          <p:nvPr/>
        </p:nvSpPr>
        <p:spPr>
          <a:xfrm>
            <a:off x="73152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Vreme</a:t>
            </a:r>
          </a:p>
        </p:txBody>
      </p:sp>
      <p:sp>
        <p:nvSpPr>
          <p:cNvPr id="19" name="C3Val"/>
          <p:cNvSpPr/>
          <p:nvPr/>
        </p:nvSpPr>
        <p:spPr>
          <a:xfrm>
            <a:off x="73152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O(log N) + RTT</a:t>
            </a:r>
          </a:p>
        </p:txBody>
      </p:sp>
      <p:sp>
        <p:nvSpPr>
          <p:cNvPr id="20" name="C3Desc"/>
          <p:cNvSpPr/>
          <p:nvPr/>
        </p:nvSpPr>
        <p:spPr>
          <a:xfrm>
            <a:off x="256032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100">
                <a:solidFill>
                  <a:srgbClr val="475569"/>
                </a:solidFill>
                <a:latin typeface="Calibri"/>
              </a:rPr>
              <a:t>mrežna latencija dominira</a:t>
            </a:r>
          </a:p>
        </p:txBody>
      </p:sp>
      <p:sp>
        <p:nvSpPr>
          <p:cNvPr id="30" name="CmpBG"/>
          <p:cNvSpPr/>
          <p:nvPr/>
        </p:nvSpPr>
        <p:spPr>
          <a:xfrm>
            <a:off x="4937760" y="1691640"/>
            <a:ext cx="3840480" cy="13260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CmpTitle"/>
          <p:cNvSpPr/>
          <p:nvPr/>
        </p:nvSpPr>
        <p:spPr>
          <a:xfrm>
            <a:off x="512064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>
                <a:solidFill>
                  <a:srgbClr val="065A60"/>
                </a:solidFill>
                <a:latin typeface="Trebuchet MS"/>
              </a:rPr>
              <a:t>AWS vs. Azure</a:t>
            </a:r>
          </a:p>
        </p:txBody>
      </p:sp>
      <p:sp>
        <p:nvSpPr>
          <p:cNvPr id="32" name="CmpBody"/>
          <p:cNvSpPr/>
          <p:nvPr/>
        </p:nvSpPr>
        <p:spPr>
          <a:xfrm>
            <a:off x="5120640" y="2011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spcAft>
                <a:spcPts val="400"/>
              </a:spcAft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AWS: IoT Core → Kinesis → Lambda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— shard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prozori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>
              <a:spcAft>
                <a:spcPts val="400"/>
              </a:spcAft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Azure: IoT Hub → Stream Analytics,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—                   tumbling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paralelizam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Edge: Greengrass / IoT Edge — </a:t>
            </a:r>
            <a:r>
              <a:rPr lang="en-US" sz="110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 —                           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pred-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agregacija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blizu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je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uređaja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0" name="PhaseBG"/>
          <p:cNvSpPr/>
          <p:nvPr/>
        </p:nvSpPr>
        <p:spPr>
          <a:xfrm>
            <a:off x="4937760" y="3063240"/>
            <a:ext cx="384048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PhaseText"/>
          <p:cNvSpPr/>
          <p:nvPr/>
        </p:nvSpPr>
        <p:spPr>
          <a:xfrm>
            <a:off x="5120640" y="3109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spcAft>
                <a:spcPts val="400"/>
              </a:spcAft>
              <a:buNone/>
            </a:pPr>
            <a:r>
              <a:rPr lang="en-US" sz="1000" b="1">
                <a:solidFill>
                  <a:srgbClr val="0D9488"/>
                </a:solidFill>
                <a:latin typeface="Consolas"/>
              </a:rPr>
              <a:t>Koraci algoritma</a:t>
            </a:r>
          </a:p>
          <a:p>
            <a:pPr>
              <a:spcAft>
                <a:spcPts val="60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Consolas"/>
              </a:rPr>
              <a:t>1. Uređaji šalju x[i] na IoT Core / Hub</a:t>
            </a:r>
          </a:p>
          <a:p>
            <a:pPr>
              <a:spcAft>
                <a:spcPts val="400"/>
              </a:spcAft>
              <a:buNone/>
            </a:pPr>
            <a:r>
              <a:rPr lang="en-US" sz="1000" b="1">
                <a:solidFill>
                  <a:srgbClr val="0D9488"/>
                </a:solidFill>
                <a:latin typeface="Consolas"/>
              </a:rPr>
              <a:t>2. Shard/partition: lokalni prefix u Lambdi</a:t>
            </a:r>
          </a:p>
          <a:p>
            <a:pPr>
              <a:buNone/>
            </a:pPr>
            <a:r>
              <a:rPr lang="en-US" sz="900">
                <a:solidFill>
                  <a:srgbClr val="E2E8F0"/>
                </a:solidFill>
                <a:latin typeface="Consolas"/>
              </a:rPr>
              <a:t>3. Reduce-tree spaja parcijalne sume → y[i]</a:t>
            </a:r>
          </a:p>
        </p:txBody>
      </p:sp>
      <p:sp>
        <p:nvSpPr>
          <p:cNvPr id="50" name="Footer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Latencija mreže (sub-100ms po Lambda invocation) ograničava ukupno vreme</a:t>
            </a:r>
          </a:p>
        </p:txBody>
      </p:sp>
      <p:sp>
        <p:nvSpPr>
          <p:cNvPr id="51" name="PageNum 51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3/25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IoT topologija: device → cloud → output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AWS: IoT Core + Kinesis + Lambda  •  Azure: IoT Hub + Stream Analytics + Functions</a:t>
            </a:r>
          </a:p>
        </p:txBody>
      </p:sp>
      <p:sp>
        <p:nvSpPr>
          <p:cNvPr id="10" name="Dev0"/>
          <p:cNvSpPr/>
          <p:nvPr/>
        </p:nvSpPr>
        <p:spPr>
          <a:xfrm>
            <a:off x="1272000" y="3400000"/>
            <a:ext cx="15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D1</a:t>
            </a:r>
          </a:p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x[0] = 3</a:t>
            </a:r>
          </a:p>
        </p:txBody>
      </p:sp>
      <p:sp>
        <p:nvSpPr>
          <p:cNvPr id="11" name="Dev1"/>
          <p:cNvSpPr/>
          <p:nvPr/>
        </p:nvSpPr>
        <p:spPr>
          <a:xfrm>
            <a:off x="2972000" y="3400000"/>
            <a:ext cx="15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D2</a:t>
            </a:r>
          </a:p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x[1] = 1</a:t>
            </a:r>
          </a:p>
        </p:txBody>
      </p:sp>
      <p:sp>
        <p:nvSpPr>
          <p:cNvPr id="12" name="Dev2"/>
          <p:cNvSpPr/>
          <p:nvPr/>
        </p:nvSpPr>
        <p:spPr>
          <a:xfrm>
            <a:off x="4672000" y="3400000"/>
            <a:ext cx="15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D3</a:t>
            </a:r>
          </a:p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x[2] = 4</a:t>
            </a:r>
          </a:p>
        </p:txBody>
      </p:sp>
      <p:sp>
        <p:nvSpPr>
          <p:cNvPr id="13" name="Dev3"/>
          <p:cNvSpPr/>
          <p:nvPr/>
        </p:nvSpPr>
        <p:spPr>
          <a:xfrm>
            <a:off x="6372000" y="3400000"/>
            <a:ext cx="15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D4</a:t>
            </a:r>
          </a:p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x[3] = 2</a:t>
            </a:r>
          </a:p>
        </p:txBody>
      </p:sp>
      <p:sp>
        <p:nvSpPr>
          <p:cNvPr id="14" name="Cl0"/>
          <p:cNvSpPr/>
          <p:nvPr/>
        </p:nvSpPr>
        <p:spPr>
          <a:xfrm>
            <a:off x="772000" y="1500000"/>
            <a:ext cx="2400000" cy="6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IoT Core / IoT Hub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ingest</a:t>
            </a:r>
          </a:p>
        </p:txBody>
      </p:sp>
      <p:sp>
        <p:nvSpPr>
          <p:cNvPr id="15" name="Cl1"/>
          <p:cNvSpPr/>
          <p:nvPr/>
        </p:nvSpPr>
        <p:spPr>
          <a:xfrm>
            <a:off x="3372000" y="1500000"/>
            <a:ext cx="2400000" cy="6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Kinesis / Stream Analytics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shard prefix</a:t>
            </a:r>
          </a:p>
        </p:txBody>
      </p:sp>
      <p:sp>
        <p:nvSpPr>
          <p:cNvPr id="16" name="Cl2"/>
          <p:cNvSpPr/>
          <p:nvPr/>
        </p:nvSpPr>
        <p:spPr>
          <a:xfrm>
            <a:off x="5972000" y="1500000"/>
            <a:ext cx="2400000" cy="6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Lambda / Functions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reduce tree</a:t>
            </a:r>
          </a:p>
        </p:txBody>
      </p:sp>
      <p:cxnSp>
        <p:nvCxnSpPr>
          <p:cNvPr id="17" name="a0"/>
          <p:cNvCxnSpPr/>
          <p:nvPr/>
        </p:nvCxnSpPr>
        <p:spPr>
          <a:xfrm flipH="1" flipV="1">
            <a:off x="1972000" y="2100000"/>
            <a:ext cx="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1"/>
          <p:cNvCxnSpPr/>
          <p:nvPr/>
        </p:nvCxnSpPr>
        <p:spPr>
          <a:xfrm flipH="1" flipV="1">
            <a:off x="1972000" y="2100000"/>
            <a:ext cx="17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a2"/>
          <p:cNvCxnSpPr/>
          <p:nvPr/>
        </p:nvCxnSpPr>
        <p:spPr>
          <a:xfrm flipH="1" flipV="1">
            <a:off x="1972000" y="2100000"/>
            <a:ext cx="34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a3"/>
          <p:cNvCxnSpPr/>
          <p:nvPr/>
        </p:nvCxnSpPr>
        <p:spPr>
          <a:xfrm flipH="1" flipV="1">
            <a:off x="1972000" y="2100000"/>
            <a:ext cx="51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la0"/>
          <p:cNvCxnSpPr/>
          <p:nvPr/>
        </p:nvCxnSpPr>
        <p:spPr>
          <a:xfrm>
            <a:off x="3172000" y="1800000"/>
            <a:ext cx="200000" cy="1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la1"/>
          <p:cNvCxnSpPr/>
          <p:nvPr/>
        </p:nvCxnSpPr>
        <p:spPr>
          <a:xfrm>
            <a:off x="5772000" y="1800000"/>
            <a:ext cx="200000" cy="1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p"/>
          <p:cNvSpPr/>
          <p:nvPr/>
        </p:nvSpPr>
        <p:spPr>
          <a:xfrm>
            <a:off x="548640" y="4350000"/>
            <a:ext cx="8046720" cy="280000"/>
          </a:xfrm>
          <a:prstGeom prst="rect">
            <a:avLst/>
          </a:prstGeom>
          <a:noFill/>
          <a:ln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4 uređaja → IoT broker → shard prefix → reduce tree → y[i] u skladište</a:t>
            </a:r>
          </a:p>
        </p:txBody>
      </p:sp>
      <p:sp>
        <p:nvSpPr>
          <p:cNvPr id="24" name="PageNum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4/25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Korak 1: uređaji objavljuju x[i]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Sva 4 uređaja istovremeno publish-uju na MQTT topic /telemetry</a:t>
            </a:r>
          </a:p>
        </p:txBody>
      </p:sp>
      <p:sp>
        <p:nvSpPr>
          <p:cNvPr id="10" name="Dev0"/>
          <p:cNvSpPr/>
          <p:nvPr/>
        </p:nvSpPr>
        <p:spPr>
          <a:xfrm>
            <a:off x="1272000" y="3400000"/>
            <a:ext cx="1500000" cy="6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D1</a:t>
            </a:r>
          </a:p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x[0] = 3</a:t>
            </a:r>
          </a:p>
        </p:txBody>
      </p:sp>
      <p:sp>
        <p:nvSpPr>
          <p:cNvPr id="11" name="Dev1"/>
          <p:cNvSpPr/>
          <p:nvPr/>
        </p:nvSpPr>
        <p:spPr>
          <a:xfrm>
            <a:off x="2972000" y="3400000"/>
            <a:ext cx="1500000" cy="6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D2</a:t>
            </a:r>
          </a:p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x[1] = 1</a:t>
            </a:r>
          </a:p>
        </p:txBody>
      </p:sp>
      <p:sp>
        <p:nvSpPr>
          <p:cNvPr id="12" name="Dev2"/>
          <p:cNvSpPr/>
          <p:nvPr/>
        </p:nvSpPr>
        <p:spPr>
          <a:xfrm>
            <a:off x="4672000" y="3400000"/>
            <a:ext cx="1500000" cy="6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D3</a:t>
            </a:r>
          </a:p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x[2] = 4</a:t>
            </a:r>
          </a:p>
        </p:txBody>
      </p:sp>
      <p:sp>
        <p:nvSpPr>
          <p:cNvPr id="13" name="Dev3"/>
          <p:cNvSpPr/>
          <p:nvPr/>
        </p:nvSpPr>
        <p:spPr>
          <a:xfrm>
            <a:off x="6372000" y="3400000"/>
            <a:ext cx="1500000" cy="6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D4</a:t>
            </a:r>
          </a:p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x[3] = 2</a:t>
            </a:r>
          </a:p>
        </p:txBody>
      </p:sp>
      <p:sp>
        <p:nvSpPr>
          <p:cNvPr id="14" name="Cl0"/>
          <p:cNvSpPr/>
          <p:nvPr/>
        </p:nvSpPr>
        <p:spPr>
          <a:xfrm>
            <a:off x="772000" y="1500000"/>
            <a:ext cx="2400000" cy="6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IoT Core / IoT Hub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ingest</a:t>
            </a:r>
          </a:p>
        </p:txBody>
      </p:sp>
      <p:sp>
        <p:nvSpPr>
          <p:cNvPr id="15" name="Cl1"/>
          <p:cNvSpPr/>
          <p:nvPr/>
        </p:nvSpPr>
        <p:spPr>
          <a:xfrm>
            <a:off x="3372000" y="1500000"/>
            <a:ext cx="2400000" cy="6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Kinesis / Stream Analytics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shard prefix</a:t>
            </a:r>
          </a:p>
        </p:txBody>
      </p:sp>
      <p:sp>
        <p:nvSpPr>
          <p:cNvPr id="16" name="Cl2"/>
          <p:cNvSpPr/>
          <p:nvPr/>
        </p:nvSpPr>
        <p:spPr>
          <a:xfrm>
            <a:off x="5972000" y="1500000"/>
            <a:ext cx="2400000" cy="6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Lambda / Functions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reduce tree</a:t>
            </a:r>
          </a:p>
        </p:txBody>
      </p:sp>
      <p:cxnSp>
        <p:nvCxnSpPr>
          <p:cNvPr id="17" name="a0"/>
          <p:cNvCxnSpPr/>
          <p:nvPr/>
        </p:nvCxnSpPr>
        <p:spPr>
          <a:xfrm flipH="1" flipV="1">
            <a:off x="1972000" y="2100000"/>
            <a:ext cx="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1"/>
          <p:cNvCxnSpPr/>
          <p:nvPr/>
        </p:nvCxnSpPr>
        <p:spPr>
          <a:xfrm flipH="1" flipV="1">
            <a:off x="1972000" y="2100000"/>
            <a:ext cx="17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a2"/>
          <p:cNvCxnSpPr/>
          <p:nvPr/>
        </p:nvCxnSpPr>
        <p:spPr>
          <a:xfrm flipH="1" flipV="1">
            <a:off x="1972000" y="2100000"/>
            <a:ext cx="34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a3"/>
          <p:cNvCxnSpPr/>
          <p:nvPr/>
        </p:nvCxnSpPr>
        <p:spPr>
          <a:xfrm flipH="1" flipV="1">
            <a:off x="1972000" y="2100000"/>
            <a:ext cx="51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la0"/>
          <p:cNvCxnSpPr/>
          <p:nvPr/>
        </p:nvCxnSpPr>
        <p:spPr>
          <a:xfrm>
            <a:off x="3172000" y="1800000"/>
            <a:ext cx="200000" cy="1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la1"/>
          <p:cNvCxnSpPr/>
          <p:nvPr/>
        </p:nvCxnSpPr>
        <p:spPr>
          <a:xfrm>
            <a:off x="5772000" y="1800000"/>
            <a:ext cx="200000" cy="1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p"/>
          <p:cNvSpPr/>
          <p:nvPr/>
        </p:nvSpPr>
        <p:spPr>
          <a:xfrm>
            <a:off x="548640" y="4350000"/>
            <a:ext cx="8046720" cy="280000"/>
          </a:xfrm>
          <a:prstGeom prst="rect">
            <a:avLst/>
          </a:prstGeom>
          <a:noFill/>
          <a:ln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MQTT publish: svaki uređaj šalje x[i] sa svojim timestamp-om</a:t>
            </a:r>
          </a:p>
        </p:txBody>
      </p:sp>
      <p:sp>
        <p:nvSpPr>
          <p:cNvPr id="24" name="PageNum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5/25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Korak 2: shard prefix u oblaku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IoT Core ruter → Kinesis shard → Lambda batch (event-source mapping)</a:t>
            </a:r>
          </a:p>
        </p:txBody>
      </p:sp>
      <p:sp>
        <p:nvSpPr>
          <p:cNvPr id="10" name="Dev0"/>
          <p:cNvSpPr/>
          <p:nvPr/>
        </p:nvSpPr>
        <p:spPr>
          <a:xfrm>
            <a:off x="1272000" y="3400000"/>
            <a:ext cx="15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D1</a:t>
            </a:r>
          </a:p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x[0] = 3</a:t>
            </a:r>
          </a:p>
        </p:txBody>
      </p:sp>
      <p:sp>
        <p:nvSpPr>
          <p:cNvPr id="11" name="Dev1"/>
          <p:cNvSpPr/>
          <p:nvPr/>
        </p:nvSpPr>
        <p:spPr>
          <a:xfrm>
            <a:off x="2972000" y="3400000"/>
            <a:ext cx="15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D2</a:t>
            </a:r>
          </a:p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x[1] = 1</a:t>
            </a:r>
          </a:p>
        </p:txBody>
      </p:sp>
      <p:sp>
        <p:nvSpPr>
          <p:cNvPr id="12" name="Dev2"/>
          <p:cNvSpPr/>
          <p:nvPr/>
        </p:nvSpPr>
        <p:spPr>
          <a:xfrm>
            <a:off x="4672000" y="3400000"/>
            <a:ext cx="15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D3</a:t>
            </a:r>
          </a:p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x[2] = 4</a:t>
            </a:r>
          </a:p>
        </p:txBody>
      </p:sp>
      <p:sp>
        <p:nvSpPr>
          <p:cNvPr id="13" name="Dev3"/>
          <p:cNvSpPr/>
          <p:nvPr/>
        </p:nvSpPr>
        <p:spPr>
          <a:xfrm>
            <a:off x="6372000" y="3400000"/>
            <a:ext cx="15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D4</a:t>
            </a:r>
          </a:p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x[3] = 2</a:t>
            </a:r>
          </a:p>
        </p:txBody>
      </p:sp>
      <p:sp>
        <p:nvSpPr>
          <p:cNvPr id="14" name="Cl0"/>
          <p:cNvSpPr/>
          <p:nvPr/>
        </p:nvSpPr>
        <p:spPr>
          <a:xfrm>
            <a:off x="772000" y="1500000"/>
            <a:ext cx="2400000" cy="6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IoT Core / IoT Hub</a:t>
            </a:r>
          </a:p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15" name="Cl1"/>
          <p:cNvSpPr/>
          <p:nvPr/>
        </p:nvSpPr>
        <p:spPr>
          <a:xfrm>
            <a:off x="3372000" y="1500000"/>
            <a:ext cx="2400000" cy="6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Kinesis / Stream Analytics</a:t>
            </a:r>
          </a:p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shard prefix</a:t>
            </a:r>
          </a:p>
        </p:txBody>
      </p:sp>
      <p:sp>
        <p:nvSpPr>
          <p:cNvPr id="16" name="Cl2"/>
          <p:cNvSpPr/>
          <p:nvPr/>
        </p:nvSpPr>
        <p:spPr>
          <a:xfrm>
            <a:off x="5972000" y="1500000"/>
            <a:ext cx="2400000" cy="6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Lambda / Functions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reduce tree</a:t>
            </a:r>
          </a:p>
        </p:txBody>
      </p:sp>
      <p:cxnSp>
        <p:nvCxnSpPr>
          <p:cNvPr id="17" name="a0"/>
          <p:cNvCxnSpPr/>
          <p:nvPr/>
        </p:nvCxnSpPr>
        <p:spPr>
          <a:xfrm flipH="1" flipV="1">
            <a:off x="1972000" y="2100000"/>
            <a:ext cx="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1"/>
          <p:cNvCxnSpPr/>
          <p:nvPr/>
        </p:nvCxnSpPr>
        <p:spPr>
          <a:xfrm flipH="1" flipV="1">
            <a:off x="1972000" y="2100000"/>
            <a:ext cx="17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a2"/>
          <p:cNvCxnSpPr/>
          <p:nvPr/>
        </p:nvCxnSpPr>
        <p:spPr>
          <a:xfrm flipH="1" flipV="1">
            <a:off x="1972000" y="2100000"/>
            <a:ext cx="34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a3"/>
          <p:cNvCxnSpPr/>
          <p:nvPr/>
        </p:nvCxnSpPr>
        <p:spPr>
          <a:xfrm flipH="1" flipV="1">
            <a:off x="1972000" y="2100000"/>
            <a:ext cx="51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la0"/>
          <p:cNvCxnSpPr/>
          <p:nvPr/>
        </p:nvCxnSpPr>
        <p:spPr>
          <a:xfrm>
            <a:off x="3172000" y="1800000"/>
            <a:ext cx="200000" cy="1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la1"/>
          <p:cNvCxnSpPr/>
          <p:nvPr/>
        </p:nvCxnSpPr>
        <p:spPr>
          <a:xfrm>
            <a:off x="5772000" y="1800000"/>
            <a:ext cx="200000" cy="1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p"/>
          <p:cNvSpPr/>
          <p:nvPr/>
        </p:nvSpPr>
        <p:spPr>
          <a:xfrm>
            <a:off x="548640" y="4350000"/>
            <a:ext cx="8046720" cy="280000"/>
          </a:xfrm>
          <a:prstGeom prst="rect">
            <a:avLst/>
          </a:prstGeom>
          <a:noFill/>
          <a:ln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Kinesis shard prima x[0..3], partition key = device_id; Lambda računa lokalne prefikse u batch-u</a:t>
            </a:r>
          </a:p>
        </p:txBody>
      </p:sp>
      <p:sp>
        <p:nvSpPr>
          <p:cNvPr id="24" name="PageNum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6/25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Korak 3: reduce-tree → y[i]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Lambda fan-in: kombinuje sve parcijalne prefikse u finalni rezultat</a:t>
            </a:r>
          </a:p>
        </p:txBody>
      </p:sp>
      <p:sp>
        <p:nvSpPr>
          <p:cNvPr id="10" name="Dev0"/>
          <p:cNvSpPr/>
          <p:nvPr/>
        </p:nvSpPr>
        <p:spPr>
          <a:xfrm>
            <a:off x="1272000" y="3400000"/>
            <a:ext cx="15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D1</a:t>
            </a:r>
          </a:p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x[0] = 3</a:t>
            </a:r>
          </a:p>
        </p:txBody>
      </p:sp>
      <p:sp>
        <p:nvSpPr>
          <p:cNvPr id="11" name="Dev1"/>
          <p:cNvSpPr/>
          <p:nvPr/>
        </p:nvSpPr>
        <p:spPr>
          <a:xfrm>
            <a:off x="2972000" y="3400000"/>
            <a:ext cx="15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D2</a:t>
            </a:r>
          </a:p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x[1] = 1</a:t>
            </a:r>
          </a:p>
        </p:txBody>
      </p:sp>
      <p:sp>
        <p:nvSpPr>
          <p:cNvPr id="12" name="Dev2"/>
          <p:cNvSpPr/>
          <p:nvPr/>
        </p:nvSpPr>
        <p:spPr>
          <a:xfrm>
            <a:off x="4672000" y="3400000"/>
            <a:ext cx="15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D3</a:t>
            </a:r>
          </a:p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x[2] = 4</a:t>
            </a:r>
          </a:p>
        </p:txBody>
      </p:sp>
      <p:sp>
        <p:nvSpPr>
          <p:cNvPr id="13" name="Dev3"/>
          <p:cNvSpPr/>
          <p:nvPr/>
        </p:nvSpPr>
        <p:spPr>
          <a:xfrm>
            <a:off x="6372000" y="3400000"/>
            <a:ext cx="15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D4</a:t>
            </a:r>
          </a:p>
          <a:p>
            <a:pPr algn="ctr"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</a:rPr>
              <a:t>x[3] = 2</a:t>
            </a:r>
          </a:p>
        </p:txBody>
      </p:sp>
      <p:sp>
        <p:nvSpPr>
          <p:cNvPr id="14" name="Cl0"/>
          <p:cNvSpPr/>
          <p:nvPr/>
        </p:nvSpPr>
        <p:spPr>
          <a:xfrm>
            <a:off x="772000" y="1500000"/>
            <a:ext cx="2400000" cy="6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IoT Core / IoT Hub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ingest</a:t>
            </a:r>
          </a:p>
        </p:txBody>
      </p:sp>
      <p:sp>
        <p:nvSpPr>
          <p:cNvPr id="15" name="Cl1"/>
          <p:cNvSpPr/>
          <p:nvPr/>
        </p:nvSpPr>
        <p:spPr>
          <a:xfrm>
            <a:off x="3372000" y="1500000"/>
            <a:ext cx="2400000" cy="6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Kinesis / Stream Analytics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shard prefix</a:t>
            </a:r>
          </a:p>
        </p:txBody>
      </p:sp>
      <p:sp>
        <p:nvSpPr>
          <p:cNvPr id="16" name="Cl2"/>
          <p:cNvSpPr/>
          <p:nvPr/>
        </p:nvSpPr>
        <p:spPr>
          <a:xfrm>
            <a:off x="5972000" y="1500000"/>
            <a:ext cx="2400000" cy="6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Lambda / Functions</a:t>
            </a:r>
          </a:p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reduce tree</a:t>
            </a:r>
          </a:p>
        </p:txBody>
      </p:sp>
      <p:cxnSp>
        <p:nvCxnSpPr>
          <p:cNvPr id="17" name="a0"/>
          <p:cNvCxnSpPr/>
          <p:nvPr/>
        </p:nvCxnSpPr>
        <p:spPr>
          <a:xfrm flipH="1" flipV="1">
            <a:off x="1972000" y="2100000"/>
            <a:ext cx="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1"/>
          <p:cNvCxnSpPr/>
          <p:nvPr/>
        </p:nvCxnSpPr>
        <p:spPr>
          <a:xfrm flipH="1" flipV="1">
            <a:off x="1972000" y="2100000"/>
            <a:ext cx="17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a2"/>
          <p:cNvCxnSpPr/>
          <p:nvPr/>
        </p:nvCxnSpPr>
        <p:spPr>
          <a:xfrm flipH="1" flipV="1">
            <a:off x="1972000" y="2100000"/>
            <a:ext cx="34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a3"/>
          <p:cNvCxnSpPr/>
          <p:nvPr/>
        </p:nvCxnSpPr>
        <p:spPr>
          <a:xfrm flipH="1" flipV="1">
            <a:off x="1972000" y="2100000"/>
            <a:ext cx="5150000" cy="1300000"/>
          </a:xfrm>
          <a:prstGeom prst="straightConnector1">
            <a:avLst/>
          </a:prstGeom>
          <a:ln w="19050"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la0"/>
          <p:cNvCxnSpPr/>
          <p:nvPr/>
        </p:nvCxnSpPr>
        <p:spPr>
          <a:xfrm>
            <a:off x="3172000" y="1800000"/>
            <a:ext cx="200000" cy="1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la1"/>
          <p:cNvCxnSpPr/>
          <p:nvPr/>
        </p:nvCxnSpPr>
        <p:spPr>
          <a:xfrm>
            <a:off x="5772000" y="1800000"/>
            <a:ext cx="200000" cy="1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Y0"/>
          <p:cNvSpPr/>
          <p:nvPr/>
        </p:nvSpPr>
        <p:spPr>
          <a:xfrm>
            <a:off x="1272000" y="4350000"/>
            <a:ext cx="1500000" cy="380000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92400E"/>
                </a:solidFill>
                <a:latin typeface="Calibri"/>
              </a:rPr>
              <a:t>y[0] = 3</a:t>
            </a:r>
          </a:p>
        </p:txBody>
      </p:sp>
      <p:sp>
        <p:nvSpPr>
          <p:cNvPr id="24" name="Y1"/>
          <p:cNvSpPr/>
          <p:nvPr/>
        </p:nvSpPr>
        <p:spPr>
          <a:xfrm>
            <a:off x="2972000" y="4350000"/>
            <a:ext cx="1500000" cy="380000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92400E"/>
                </a:solidFill>
                <a:latin typeface="Calibri"/>
              </a:rPr>
              <a:t>y[1] = 4</a:t>
            </a:r>
          </a:p>
        </p:txBody>
      </p:sp>
      <p:sp>
        <p:nvSpPr>
          <p:cNvPr id="25" name="Y2"/>
          <p:cNvSpPr/>
          <p:nvPr/>
        </p:nvSpPr>
        <p:spPr>
          <a:xfrm>
            <a:off x="4672000" y="4350000"/>
            <a:ext cx="1500000" cy="380000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92400E"/>
                </a:solidFill>
                <a:latin typeface="Calibri"/>
              </a:rPr>
              <a:t>y[2] = 8</a:t>
            </a:r>
          </a:p>
        </p:txBody>
      </p:sp>
      <p:sp>
        <p:nvSpPr>
          <p:cNvPr id="26" name="Y3"/>
          <p:cNvSpPr/>
          <p:nvPr/>
        </p:nvSpPr>
        <p:spPr>
          <a:xfrm>
            <a:off x="6372000" y="4350000"/>
            <a:ext cx="1500000" cy="380000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92400E"/>
                </a:solidFill>
                <a:latin typeface="Calibri"/>
              </a:rPr>
              <a:t>y[3] = 10</a:t>
            </a:r>
          </a:p>
        </p:txBody>
      </p:sp>
      <p:sp>
        <p:nvSpPr>
          <p:cNvPr id="27" name="Cap"/>
          <p:cNvSpPr/>
          <p:nvPr/>
        </p:nvSpPr>
        <p:spPr>
          <a:xfrm>
            <a:off x="548640" y="4780000"/>
            <a:ext cx="8046720" cy="280000"/>
          </a:xfrm>
          <a:prstGeom prst="rect">
            <a:avLst/>
          </a:prstGeom>
          <a:noFill/>
          <a:ln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Reduce-tree spaja shard parcijale: y = [3, 4, 8, 10] → DynamoDB / Cosmos DB</a:t>
            </a:r>
          </a:p>
        </p:txBody>
      </p:sp>
      <p:sp>
        <p:nvSpPr>
          <p:cNvPr id="28" name="PageNum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7/25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IoT detalj: AWS pristup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MQTT → IoT Core → Kinesis → Lambda → DynamoDB / S3</a:t>
            </a:r>
          </a:p>
        </p:txBody>
      </p:sp>
      <p:sp>
        <p:nvSpPr>
          <p:cNvPr id="10" name="ColBG"/>
          <p:cNvSpPr/>
          <p:nvPr/>
        </p:nvSpPr>
        <p:spPr>
          <a:xfrm>
            <a:off x="548640" y="1280160"/>
            <a:ext cx="4297680" cy="28800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ColHdr"/>
          <p:cNvSpPr/>
          <p:nvPr/>
        </p:nvSpPr>
        <p:spPr>
          <a:xfrm>
            <a:off x="685800" y="1371600"/>
            <a:ext cx="40233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>
                <a:solidFill>
                  <a:srgbClr val="065A60"/>
                </a:solidFill>
                <a:latin typeface="Trebuchet MS"/>
              </a:rPr>
              <a:t>Pipeline (serverless)</a:t>
            </a:r>
          </a:p>
        </p:txBody>
      </p:sp>
      <p:sp>
        <p:nvSpPr>
          <p:cNvPr id="12" name="ColBody"/>
          <p:cNvSpPr/>
          <p:nvPr/>
        </p:nvSpPr>
        <p:spPr>
          <a:xfrm>
            <a:off x="731520" y="1783080"/>
            <a:ext cx="3931920" cy="22856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IoT Core: 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MQTT/HTTPS ingest, X.509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mTLS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, Rules Engine SQL</a:t>
            </a:r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Kinesis Data Streams: 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shard po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partition_key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=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device_id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,         1MB/s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zapis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Lambda event-source: 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batch 100–1000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zapisa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parallelizationFactor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do 10</a:t>
            </a:r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Greengrass (edge):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lokalna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pred-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agregacija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pre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slanja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u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oblak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Sink: 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DynamoDB za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prefikse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, S3 za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sirove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zapise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0" name="MetricBG"/>
          <p:cNvSpPr/>
          <p:nvPr/>
        </p:nvSpPr>
        <p:spPr>
          <a:xfrm>
            <a:off x="5212080" y="1280160"/>
            <a:ext cx="3383280" cy="6858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MetricTxt"/>
          <p:cNvSpPr/>
          <p:nvPr/>
        </p:nvSpPr>
        <p:spPr>
          <a:xfrm>
            <a:off x="5303520" y="1325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</a:rPr>
              <a:t>End-to-end latencija</a:t>
            </a:r>
          </a:p>
          <a:p>
            <a:pPr algn="ctr">
              <a:buNone/>
            </a:pPr>
            <a:r>
              <a:rPr lang="en-US" sz="1600" b="1">
                <a:solidFill>
                  <a:srgbClr val="92400E"/>
                </a:solidFill>
                <a:latin typeface="Trebuchet MS"/>
              </a:rPr>
              <a:t>&lt; 100 ms</a:t>
            </a:r>
          </a:p>
          <a:p>
            <a:pPr algn="ctr">
              <a:buNone/>
            </a:pPr>
            <a:r>
              <a:rPr lang="en-US" sz="900">
                <a:solidFill>
                  <a:srgbClr val="475569"/>
                </a:solidFill>
                <a:latin typeface="Calibri"/>
              </a:rPr>
              <a:t>anomaly detection (10M uređaja)</a:t>
            </a:r>
          </a:p>
        </p:txBody>
      </p:sp>
      <p:sp>
        <p:nvSpPr>
          <p:cNvPr id="22" name="MetricBG"/>
          <p:cNvSpPr/>
          <p:nvPr/>
        </p:nvSpPr>
        <p:spPr>
          <a:xfrm>
            <a:off x="5212080" y="2057400"/>
            <a:ext cx="3383280" cy="6858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MetricTxt"/>
          <p:cNvSpPr/>
          <p:nvPr/>
        </p:nvSpPr>
        <p:spPr>
          <a:xfrm>
            <a:off x="5303520" y="2103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</a:rPr>
              <a:t>Cena po događaju</a:t>
            </a:r>
          </a:p>
          <a:p>
            <a:pPr algn="ctr">
              <a:buNone/>
            </a:pPr>
            <a:r>
              <a:rPr lang="en-US" sz="1600" b="1">
                <a:solidFill>
                  <a:srgbClr val="0D9488"/>
                </a:solidFill>
                <a:latin typeface="Trebuchet MS"/>
              </a:rPr>
              <a:t>$0.00001</a:t>
            </a:r>
          </a:p>
          <a:p>
            <a:pPr algn="ctr">
              <a:buNone/>
            </a:pPr>
            <a:r>
              <a:rPr lang="en-US" sz="900">
                <a:solidFill>
                  <a:srgbClr val="475569"/>
                </a:solidFill>
                <a:latin typeface="Calibri"/>
              </a:rPr>
              <a:t>vs. provisioned: −85%</a:t>
            </a:r>
          </a:p>
        </p:txBody>
      </p:sp>
      <p:sp>
        <p:nvSpPr>
          <p:cNvPr id="24" name="MetricBG"/>
          <p:cNvSpPr/>
          <p:nvPr/>
        </p:nvSpPr>
        <p:spPr>
          <a:xfrm>
            <a:off x="5212080" y="2834640"/>
            <a:ext cx="3383280" cy="68580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MetricTxt"/>
          <p:cNvSpPr/>
          <p:nvPr/>
        </p:nvSpPr>
        <p:spPr>
          <a:xfrm>
            <a:off x="5303520" y="2880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</a:rPr>
              <a:t>Skala</a:t>
            </a:r>
          </a:p>
          <a:p>
            <a:pPr algn="ctr">
              <a:buNone/>
            </a:pPr>
            <a:r>
              <a:rPr lang="en-US" sz="1600" b="1">
                <a:solidFill>
                  <a:srgbClr val="4338CA"/>
                </a:solidFill>
                <a:latin typeface="Trebuchet MS"/>
              </a:rPr>
              <a:t>10 → 10M</a:t>
            </a:r>
          </a:p>
          <a:p>
            <a:pPr algn="ctr">
              <a:buNone/>
            </a:pPr>
            <a:r>
              <a:rPr lang="en-US" sz="900">
                <a:solidFill>
                  <a:srgbClr val="475569"/>
                </a:solidFill>
                <a:latin typeface="Calibri"/>
              </a:rPr>
              <a:t>uređaja, bez ručnog skaliranja</a:t>
            </a:r>
          </a:p>
        </p:txBody>
      </p:sp>
      <p:sp>
        <p:nvSpPr>
          <p:cNvPr id="26" name="MetricBG"/>
          <p:cNvSpPr/>
          <p:nvPr/>
        </p:nvSpPr>
        <p:spPr>
          <a:xfrm>
            <a:off x="5212080" y="3611880"/>
            <a:ext cx="3383280" cy="5486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MetricTxt"/>
          <p:cNvSpPr/>
          <p:nvPr/>
        </p:nvSpPr>
        <p:spPr>
          <a:xfrm>
            <a:off x="530352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</a:rPr>
              <a:t>Propusnost</a:t>
            </a:r>
          </a:p>
          <a:p>
            <a:pPr algn="ctr">
              <a:buNone/>
            </a:pPr>
            <a:r>
              <a:rPr lang="en-US" sz="1600" b="1">
                <a:solidFill>
                  <a:srgbClr val="92400E"/>
                </a:solidFill>
                <a:latin typeface="Trebuchet MS"/>
              </a:rPr>
              <a:t>1B+ event/mes</a:t>
            </a:r>
          </a:p>
          <a:p>
            <a:pPr algn="ctr">
              <a:buNone/>
            </a:pPr>
            <a:r>
              <a:rPr lang="en-US" sz="900">
                <a:solidFill>
                  <a:srgbClr val="475569"/>
                </a:solidFill>
                <a:latin typeface="Calibri"/>
              </a:rPr>
              <a:t>već dokazano u produkciji</a:t>
            </a:r>
          </a:p>
        </p:txBody>
      </p:sp>
      <p:sp>
        <p:nvSpPr>
          <p:cNvPr id="30" name="Footer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Karakteristična AWS prednost: duboka integracija — SageMaker Neo modeli automatski optimizovani za edge</a:t>
            </a:r>
          </a:p>
        </p:txBody>
      </p:sp>
      <p:sp>
        <p:nvSpPr>
          <p:cNvPr id="31" name="PageNum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8/25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IoT detalj: Azure pristup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AMQP → IoT Hub → Stream Analytics → Functions → Cosmos DB</a:t>
            </a:r>
          </a:p>
        </p:txBody>
      </p:sp>
      <p:sp>
        <p:nvSpPr>
          <p:cNvPr id="10" name="ColBG"/>
          <p:cNvSpPr/>
          <p:nvPr/>
        </p:nvSpPr>
        <p:spPr>
          <a:xfrm>
            <a:off x="548640" y="1280160"/>
            <a:ext cx="4297680" cy="28800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ColHdr"/>
          <p:cNvSpPr/>
          <p:nvPr/>
        </p:nvSpPr>
        <p:spPr>
          <a:xfrm>
            <a:off x="685800" y="1371600"/>
            <a:ext cx="40233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>
                <a:solidFill>
                  <a:srgbClr val="065A60"/>
                </a:solidFill>
                <a:latin typeface="Trebuchet MS"/>
              </a:rPr>
              <a:t>Pipeline (hibrid cloud + edge)</a:t>
            </a:r>
          </a:p>
        </p:txBody>
      </p:sp>
      <p:sp>
        <p:nvSpPr>
          <p:cNvPr id="12" name="ColBody"/>
          <p:cNvSpPr/>
          <p:nvPr/>
        </p:nvSpPr>
        <p:spPr>
          <a:xfrm>
            <a:off x="731520" y="1783080"/>
            <a:ext cx="3931920" cy="22856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IoT Hub: 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MQTT / AMQP / HTTPS, device twins, X.509 / SAS</a:t>
            </a:r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Stream Analytics: 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SQL upiti, 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tumbling / hopping / 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sliding prozori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Azure Functions: 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trigger iz 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SA, JS/C#/Python serverless</a:t>
            </a:r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IoT Edge</a:t>
            </a:r>
            <a:r>
              <a:rPr lang="en-US" sz="1100" b="1">
                <a:solidFill>
                  <a:srgbClr val="065A60"/>
                </a:solidFill>
                <a:latin typeface="Calibri"/>
              </a:rPr>
              <a:t>: 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kontejnerizovan SA modul — radi i bez konekcije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Sink: 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Cosmos DB (multi-region), Azure Storage, Synapse</a:t>
            </a:r>
          </a:p>
        </p:txBody>
      </p:sp>
      <p:sp>
        <p:nvSpPr>
          <p:cNvPr id="20" name="MetricBG"/>
          <p:cNvSpPr/>
          <p:nvPr/>
        </p:nvSpPr>
        <p:spPr>
          <a:xfrm>
            <a:off x="5212080" y="1280160"/>
            <a:ext cx="3383280" cy="6858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MetricTxt"/>
          <p:cNvSpPr/>
          <p:nvPr/>
        </p:nvSpPr>
        <p:spPr>
          <a:xfrm>
            <a:off x="5303520" y="1325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</a:rPr>
              <a:t>Latencija na edge-u</a:t>
            </a:r>
          </a:p>
          <a:p>
            <a:pPr algn="ctr">
              <a:buNone/>
            </a:pPr>
            <a:r>
              <a:rPr lang="en-US" sz="1600" b="1">
                <a:solidFill>
                  <a:srgbClr val="92400E"/>
                </a:solidFill>
                <a:latin typeface="Trebuchet MS"/>
              </a:rPr>
              <a:t>ultra-low</a:t>
            </a:r>
          </a:p>
          <a:p>
            <a:pPr algn="ctr">
              <a:buNone/>
            </a:pPr>
            <a:r>
              <a:rPr lang="en-US" sz="900">
                <a:solidFill>
                  <a:srgbClr val="475569"/>
                </a:solidFill>
                <a:latin typeface="Calibri"/>
              </a:rPr>
              <a:t>lokalna SA bez RTT</a:t>
            </a:r>
          </a:p>
        </p:txBody>
      </p:sp>
      <p:sp>
        <p:nvSpPr>
          <p:cNvPr id="22" name="MetricBG"/>
          <p:cNvSpPr/>
          <p:nvPr/>
        </p:nvSpPr>
        <p:spPr>
          <a:xfrm>
            <a:off x="5212080" y="2057400"/>
            <a:ext cx="3383280" cy="6858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MetricTxt"/>
          <p:cNvSpPr/>
          <p:nvPr/>
        </p:nvSpPr>
        <p:spPr>
          <a:xfrm>
            <a:off x="5303520" y="2103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</a:rPr>
              <a:t>Otpornost</a:t>
            </a:r>
          </a:p>
          <a:p>
            <a:pPr algn="ctr">
              <a:buNone/>
            </a:pPr>
            <a:r>
              <a:rPr lang="en-US" sz="1600" b="1">
                <a:solidFill>
                  <a:srgbClr val="0D9488"/>
                </a:solidFill>
                <a:latin typeface="Trebuchet MS"/>
              </a:rPr>
              <a:t>offline-first</a:t>
            </a:r>
          </a:p>
          <a:p>
            <a:pPr algn="ctr">
              <a:buNone/>
            </a:pPr>
            <a:r>
              <a:rPr lang="en-US" sz="900">
                <a:solidFill>
                  <a:srgbClr val="475569"/>
                </a:solidFill>
                <a:latin typeface="Calibri"/>
              </a:rPr>
              <a:t>rad uz prekinutu vezu</a:t>
            </a:r>
          </a:p>
        </p:txBody>
      </p:sp>
      <p:sp>
        <p:nvSpPr>
          <p:cNvPr id="24" name="MetricBG"/>
          <p:cNvSpPr/>
          <p:nvPr/>
        </p:nvSpPr>
        <p:spPr>
          <a:xfrm>
            <a:off x="5212080" y="2834640"/>
            <a:ext cx="3383280" cy="68580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MetricTxt"/>
          <p:cNvSpPr/>
          <p:nvPr/>
        </p:nvSpPr>
        <p:spPr>
          <a:xfrm>
            <a:off x="5303520" y="2880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</a:rPr>
              <a:t>Window agregacije</a:t>
            </a:r>
          </a:p>
          <a:p>
            <a:pPr algn="ctr">
              <a:buNone/>
            </a:pPr>
            <a:r>
              <a:rPr lang="en-US" sz="1600" b="1">
                <a:solidFill>
                  <a:srgbClr val="4338CA"/>
                </a:solidFill>
                <a:latin typeface="Trebuchet MS"/>
              </a:rPr>
              <a:t>T ∈ ms–min</a:t>
            </a:r>
          </a:p>
          <a:p>
            <a:pPr algn="ctr">
              <a:buNone/>
            </a:pPr>
            <a:r>
              <a:rPr lang="en-US" sz="900">
                <a:solidFill>
                  <a:srgbClr val="475569"/>
                </a:solidFill>
                <a:latin typeface="Calibri"/>
              </a:rPr>
              <a:t>konfigurabilno SQL-om</a:t>
            </a:r>
          </a:p>
        </p:txBody>
      </p:sp>
      <p:sp>
        <p:nvSpPr>
          <p:cNvPr id="26" name="MetricBG"/>
          <p:cNvSpPr/>
          <p:nvPr/>
        </p:nvSpPr>
        <p:spPr>
          <a:xfrm>
            <a:off x="5212080" y="3611880"/>
            <a:ext cx="3383280" cy="5486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MetricTxt"/>
          <p:cNvSpPr/>
          <p:nvPr/>
        </p:nvSpPr>
        <p:spPr>
          <a:xfrm>
            <a:off x="530352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</a:rPr>
              <a:t>Governance</a:t>
            </a:r>
          </a:p>
          <a:p>
            <a:pPr algn="ctr">
              <a:buNone/>
            </a:pPr>
            <a:r>
              <a:rPr lang="en-US" sz="1600" b="1">
                <a:solidFill>
                  <a:srgbClr val="92400E"/>
                </a:solidFill>
                <a:latin typeface="Trebuchet MS"/>
              </a:rPr>
              <a:t>Azure Arc</a:t>
            </a:r>
          </a:p>
          <a:p>
            <a:pPr algn="ctr">
              <a:buNone/>
            </a:pPr>
            <a:r>
              <a:rPr lang="en-US" sz="900">
                <a:solidFill>
                  <a:srgbClr val="475569"/>
                </a:solidFill>
                <a:latin typeface="Calibri"/>
              </a:rPr>
              <a:t>hibridna / multi-cloud kontrola</a:t>
            </a:r>
          </a:p>
        </p:txBody>
      </p:sp>
      <p:sp>
        <p:nvSpPr>
          <p:cNvPr id="30" name="Footer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Karakteristična Azure prednost: hibrid — isti </a:t>
            </a:r>
            <a:r>
              <a:rPr lang="en-US" sz="1100" i="1" dirty="0">
                <a:solidFill>
                  <a:srgbClr val="475569"/>
                </a:solidFill>
                <a:latin typeface="Calibri"/>
              </a:rPr>
              <a:t>SA </a:t>
            </a:r>
            <a:r>
              <a:rPr lang="en-US" sz="1100" i="1">
                <a:solidFill>
                  <a:srgbClr val="475569"/>
                </a:solidFill>
                <a:latin typeface="Calibri"/>
              </a:rPr>
              <a:t>job radi u oblaku ili na </a:t>
            </a:r>
            <a:r>
              <a:rPr lang="en-US" sz="1100" i="1" dirty="0">
                <a:solidFill>
                  <a:srgbClr val="475569"/>
                </a:solidFill>
                <a:latin typeface="Calibri"/>
              </a:rPr>
              <a:t>IoT </a:t>
            </a:r>
            <a:r>
              <a:rPr lang="en-US" sz="1100" i="1">
                <a:solidFill>
                  <a:srgbClr val="475569"/>
                </a:solidFill>
                <a:latin typeface="Calibri"/>
              </a:rPr>
              <a:t>Edge uređaju</a:t>
            </a:r>
            <a:endParaRPr lang="en-US" sz="1100" i="1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31" name="PageNum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9/25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Šta je WSN i kako se razlikuje od IoT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Wireless Sensor Network — male baterijske kutijice koje pričaju radijom, bez interneta</a:t>
            </a:r>
          </a:p>
        </p:txBody>
      </p:sp>
      <p:sp>
        <p:nvSpPr>
          <p:cNvPr id="10" name="BlkBG"/>
          <p:cNvSpPr/>
          <p:nvPr/>
        </p:nvSpPr>
        <p:spPr>
          <a:xfrm>
            <a:off x="548640" y="1188720"/>
            <a:ext cx="3923280" cy="14184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lkHdr"/>
          <p:cNvSpPr/>
          <p:nvPr/>
        </p:nvSpPr>
        <p:spPr>
          <a:xfrm>
            <a:off x="685800" y="1280160"/>
            <a:ext cx="36489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>
                <a:solidFill>
                  <a:srgbClr val="065A60"/>
                </a:solidFill>
                <a:latin typeface="Trebuchet MS"/>
              </a:rPr>
              <a:t>Šta je to?</a:t>
            </a:r>
          </a:p>
        </p:txBody>
      </p:sp>
      <p:sp>
        <p:nvSpPr>
          <p:cNvPr id="12" name="BlkBody"/>
          <p:cNvSpPr/>
          <p:nvPr/>
        </p:nvSpPr>
        <p:spPr>
          <a:xfrm>
            <a:off x="731520" y="1691640"/>
            <a:ext cx="3557520" cy="824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 dirty="0">
                <a:solidFill>
                  <a:srgbClr val="065A60"/>
                </a:solidFill>
                <a:latin typeface="Calibri"/>
              </a:rPr>
              <a:t>"Mote" </a:t>
            </a:r>
            <a:r>
              <a:rPr lang="en-US" sz="1000" b="1">
                <a:solidFill>
                  <a:srgbClr val="065A60"/>
                </a:solidFill>
                <a:latin typeface="Calibri"/>
              </a:rPr>
              <a:t>= mali čvor: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veličine novčića, na baterijama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AA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065A60"/>
                </a:solidFill>
                <a:latin typeface="Calibri"/>
              </a:rPr>
              <a:t>Komunicira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samo bežično sa susedima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— slab signal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065A60"/>
                </a:solidFill>
                <a:latin typeface="Calibri"/>
              </a:rPr>
              <a:t>Nema interneta,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nema centralnog servera — sve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je P2P</a:t>
            </a:r>
          </a:p>
        </p:txBody>
      </p:sp>
      <p:sp>
        <p:nvSpPr>
          <p:cNvPr id="15" name="BlkBG"/>
          <p:cNvSpPr/>
          <p:nvPr/>
        </p:nvSpPr>
        <p:spPr>
          <a:xfrm>
            <a:off x="4791920" y="1188720"/>
            <a:ext cx="3923280" cy="141840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BlkHdr"/>
          <p:cNvSpPr/>
          <p:nvPr/>
        </p:nvSpPr>
        <p:spPr>
          <a:xfrm>
            <a:off x="4929080" y="1280160"/>
            <a:ext cx="36489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>
                <a:solidFill>
                  <a:srgbClr val="4338CA"/>
                </a:solidFill>
                <a:latin typeface="Trebuchet MS"/>
              </a:rPr>
              <a:t>Zašto postoji?</a:t>
            </a:r>
          </a:p>
        </p:txBody>
      </p:sp>
      <p:sp>
        <p:nvSpPr>
          <p:cNvPr id="17" name="BlkBody"/>
          <p:cNvSpPr/>
          <p:nvPr/>
        </p:nvSpPr>
        <p:spPr>
          <a:xfrm>
            <a:off x="4974800" y="1691640"/>
            <a:ext cx="3557520" cy="824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4338CA"/>
                </a:solidFill>
                <a:latin typeface="Calibri"/>
              </a:rPr>
              <a:t>Tamo gde nema interneta: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šume, polja, podzemlje, vojska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4338CA"/>
                </a:solidFill>
                <a:latin typeface="Calibri"/>
              </a:rPr>
              <a:t>Bačeno-i-zaboravljeno: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mora da radi mesecima bez ljudi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4338CA"/>
                </a:solidFill>
                <a:latin typeface="Calibri"/>
              </a:rPr>
              <a:t>Baterija dominira: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1 poslata poruka = 1000× više od 1 sabiranja</a:t>
            </a:r>
          </a:p>
        </p:txBody>
      </p:sp>
      <p:sp>
        <p:nvSpPr>
          <p:cNvPr id="20" name="BlkBG"/>
          <p:cNvSpPr/>
          <p:nvPr/>
        </p:nvSpPr>
        <p:spPr>
          <a:xfrm>
            <a:off x="548640" y="2698559"/>
            <a:ext cx="3923280" cy="1644839"/>
          </a:xfrm>
          <a:prstGeom prst="rect">
            <a:avLst/>
          </a:prstGeom>
          <a:solidFill>
            <a:srgbClr val="ECFC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BlkHdr"/>
          <p:cNvSpPr/>
          <p:nvPr/>
        </p:nvSpPr>
        <p:spPr>
          <a:xfrm>
            <a:off x="685800" y="2790000"/>
            <a:ext cx="36489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>
                <a:solidFill>
                  <a:srgbClr val="65A30D"/>
                </a:solidFill>
                <a:latin typeface="Trebuchet MS"/>
              </a:rPr>
              <a:t>Ključni koncepti</a:t>
            </a:r>
          </a:p>
        </p:txBody>
      </p:sp>
      <p:sp>
        <p:nvSpPr>
          <p:cNvPr id="22" name="BlkBody"/>
          <p:cNvSpPr/>
          <p:nvPr/>
        </p:nvSpPr>
        <p:spPr>
          <a:xfrm>
            <a:off x="731520" y="3201480"/>
            <a:ext cx="3557520" cy="824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 dirty="0">
                <a:solidFill>
                  <a:srgbClr val="65A30D"/>
                </a:solidFill>
                <a:latin typeface="Calibri"/>
              </a:rPr>
              <a:t>Spanning tree</a:t>
            </a:r>
            <a:r>
              <a:rPr lang="en-US" sz="1000" b="1">
                <a:solidFill>
                  <a:srgbClr val="65A30D"/>
                </a:solidFill>
                <a:latin typeface="Calibri"/>
              </a:rPr>
              <a:t>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čvorovi se sami organizuju u stablo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do "root"-a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 dirty="0">
                <a:solidFill>
                  <a:srgbClr val="65A30D"/>
                </a:solidFill>
                <a:latin typeface="Calibri"/>
              </a:rPr>
              <a:t>In-network aggregation</a:t>
            </a:r>
            <a:r>
              <a:rPr lang="en-US" sz="1000" b="1">
                <a:solidFill>
                  <a:srgbClr val="65A30D"/>
                </a:solidFill>
                <a:latin typeface="Calibri"/>
              </a:rPr>
              <a:t>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računaj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DOK ŠALJEŠ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, ne posle prikupljanja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 dirty="0">
                <a:solidFill>
                  <a:srgbClr val="65A30D"/>
                </a:solidFill>
                <a:latin typeface="Calibri"/>
              </a:rPr>
              <a:t>EPOCH</a:t>
            </a:r>
            <a:r>
              <a:rPr lang="en-US" sz="1000" b="1">
                <a:solidFill>
                  <a:srgbClr val="65A30D"/>
                </a:solidFill>
                <a:latin typeface="Calibri"/>
              </a:rPr>
              <a:t>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vreme (npr.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1s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) kad SVI šalju jedno očitavanje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 dirty="0">
                <a:solidFill>
                  <a:srgbClr val="65A30D"/>
                </a:solidFill>
                <a:latin typeface="Calibri"/>
              </a:rPr>
              <a:t>TAG </a:t>
            </a:r>
            <a:r>
              <a:rPr lang="en-US" sz="1000" b="1">
                <a:solidFill>
                  <a:srgbClr val="65A30D"/>
                </a:solidFill>
                <a:latin typeface="Calibri"/>
              </a:rPr>
              <a:t>/ TinyDB: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SQL-like upit preko mreže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— SELECT AVG(temp)</a:t>
            </a:r>
          </a:p>
        </p:txBody>
      </p:sp>
      <p:sp>
        <p:nvSpPr>
          <p:cNvPr id="25" name="BlkBG"/>
          <p:cNvSpPr/>
          <p:nvPr/>
        </p:nvSpPr>
        <p:spPr>
          <a:xfrm>
            <a:off x="4791920" y="2698560"/>
            <a:ext cx="3923280" cy="16448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BlkHdr"/>
          <p:cNvSpPr/>
          <p:nvPr/>
        </p:nvSpPr>
        <p:spPr>
          <a:xfrm>
            <a:off x="4929080" y="2790000"/>
            <a:ext cx="36489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>
                <a:solidFill>
                  <a:srgbClr val="92400E"/>
                </a:solidFill>
                <a:latin typeface="Trebuchet MS"/>
              </a:rPr>
              <a:t>Realni primer</a:t>
            </a:r>
          </a:p>
        </p:txBody>
      </p:sp>
      <p:sp>
        <p:nvSpPr>
          <p:cNvPr id="27" name="BlkBody"/>
          <p:cNvSpPr/>
          <p:nvPr/>
        </p:nvSpPr>
        <p:spPr>
          <a:xfrm>
            <a:off x="4974800" y="3201480"/>
            <a:ext cx="3557520" cy="824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92400E"/>
                </a:solidFill>
                <a:latin typeface="Calibri"/>
              </a:rPr>
              <a:t>Monitoring zemljotresa: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100 mota u zgradi mere vibracije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92400E"/>
                </a:solidFill>
                <a:latin typeface="Calibri"/>
              </a:rPr>
              <a:t>Šumski požari: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1000 mota na drveću, šalju samo "vruće"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92400E"/>
                </a:solidFill>
                <a:latin typeface="Calibri"/>
              </a:rPr>
              <a:t>Habitat ptica: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biolozi prate gnezda mesecima                             bez zamene baterija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 dirty="0">
                <a:solidFill>
                  <a:srgbClr val="92400E"/>
                </a:solidFill>
                <a:latin typeface="Calibri"/>
              </a:rPr>
              <a:t>Za prefix scan</a:t>
            </a:r>
            <a:r>
              <a:rPr lang="en-US" sz="1000" b="1">
                <a:solidFill>
                  <a:srgbClr val="92400E"/>
                </a:solidFill>
                <a:latin typeface="Calibri"/>
              </a:rPr>
              <a:t>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kumulativna suma se računa u toku puta              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ka root-u</a:t>
            </a:r>
          </a:p>
        </p:txBody>
      </p:sp>
      <p:sp>
        <p:nvSpPr>
          <p:cNvPr id="31" name="PageNum"/>
          <p:cNvSpPr txBox="1">
            <a:spLocks/>
          </p:cNvSpPr>
          <p:nvPr/>
        </p:nvSpPr>
        <p:spPr>
          <a:xfrm>
            <a:off x="8593962" y="4754880"/>
            <a:ext cx="2757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10/25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elloch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buNone/>
            </a:pPr>
            <a:r>
              <a:rPr lang="en-US" sz="3200" b="1" dirty="0">
                <a:solidFill>
                  <a:srgbClr val="065A60"/>
                </a:solidFill>
                <a:latin typeface="Trebuchet MS"/>
              </a:rPr>
              <a:t>Prefix </a:t>
            </a:r>
            <a:r>
              <a:rPr lang="en-US" sz="3200" b="1">
                <a:solidFill>
                  <a:srgbClr val="065A60"/>
                </a:solidFill>
                <a:latin typeface="Trebuchet MS"/>
              </a:rPr>
              <a:t>Scan na WSN</a:t>
            </a:r>
            <a:endParaRPr lang="en-US" sz="3200" b="1" dirty="0">
              <a:solidFill>
                <a:srgbClr val="065A60"/>
              </a:solidFill>
              <a:latin typeface="Trebuchet MS"/>
            </a:endParaRPr>
          </a:p>
        </p:txBody>
      </p:sp>
      <p:sp>
        <p:nvSpPr>
          <p:cNvPr id="5" name="Sub"/>
          <p:cNvSpPr/>
          <p:nvPr/>
        </p:nvSpPr>
        <p:spPr>
          <a:xfrm>
            <a:off x="54864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In-network agregacija: TAG / TinyDB nad ad-hoc stablom</a:t>
            </a:r>
          </a:p>
        </p:txBody>
      </p:sp>
      <p:sp>
        <p:nvSpPr>
          <p:cNvPr id="10" name="C1BG"/>
          <p:cNvSpPr/>
          <p:nvPr/>
        </p:nvSpPr>
        <p:spPr>
          <a:xfrm>
            <a:off x="548640" y="1691640"/>
            <a:ext cx="3840480" cy="795528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C1Lbl"/>
          <p:cNvSpPr/>
          <p:nvPr/>
        </p:nvSpPr>
        <p:spPr>
          <a:xfrm>
            <a:off x="7315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Algoritam</a:t>
            </a:r>
          </a:p>
        </p:txBody>
      </p:sp>
      <p:sp>
        <p:nvSpPr>
          <p:cNvPr id="12" name="C1Val"/>
          <p:cNvSpPr/>
          <p:nvPr/>
        </p:nvSpPr>
        <p:spPr>
          <a:xfrm>
            <a:off x="73152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Spanning-tree agregacija</a:t>
            </a:r>
          </a:p>
        </p:txBody>
      </p:sp>
      <p:sp>
        <p:nvSpPr>
          <p:cNvPr id="13" name="C2BG"/>
          <p:cNvSpPr/>
          <p:nvPr/>
        </p:nvSpPr>
        <p:spPr>
          <a:xfrm>
            <a:off x="548640" y="2560320"/>
            <a:ext cx="3840480" cy="71323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C2Lbl"/>
          <p:cNvSpPr/>
          <p:nvPr/>
        </p:nvSpPr>
        <p:spPr>
          <a:xfrm>
            <a:off x="73152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Rad</a:t>
            </a:r>
          </a:p>
        </p:txBody>
      </p:sp>
      <p:sp>
        <p:nvSpPr>
          <p:cNvPr id="15" name="C2Val"/>
          <p:cNvSpPr/>
          <p:nvPr/>
        </p:nvSpPr>
        <p:spPr>
          <a:xfrm>
            <a:off x="7315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O(N) poruka</a:t>
            </a:r>
          </a:p>
        </p:txBody>
      </p:sp>
      <p:sp>
        <p:nvSpPr>
          <p:cNvPr id="16" name="C2Desc"/>
          <p:cNvSpPr/>
          <p:nvPr/>
        </p:nvSpPr>
        <p:spPr>
          <a:xfrm>
            <a:off x="256032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100">
                <a:solidFill>
                  <a:srgbClr val="475569"/>
                </a:solidFill>
                <a:latin typeface="Calibri"/>
              </a:rPr>
              <a:t>svaki čvor šalje 1 PSR</a:t>
            </a:r>
          </a:p>
        </p:txBody>
      </p:sp>
      <p:sp>
        <p:nvSpPr>
          <p:cNvPr id="17" name="C3BG"/>
          <p:cNvSpPr/>
          <p:nvPr/>
        </p:nvSpPr>
        <p:spPr>
          <a:xfrm>
            <a:off x="548640" y="3429000"/>
            <a:ext cx="3840480" cy="71323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C3Lbl"/>
          <p:cNvSpPr/>
          <p:nvPr/>
        </p:nvSpPr>
        <p:spPr>
          <a:xfrm>
            <a:off x="73152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Vreme</a:t>
            </a:r>
          </a:p>
        </p:txBody>
      </p:sp>
      <p:sp>
        <p:nvSpPr>
          <p:cNvPr id="19" name="C3Val"/>
          <p:cNvSpPr/>
          <p:nvPr/>
        </p:nvSpPr>
        <p:spPr>
          <a:xfrm>
            <a:off x="73152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O(d) epoha</a:t>
            </a:r>
          </a:p>
        </p:txBody>
      </p:sp>
      <p:sp>
        <p:nvSpPr>
          <p:cNvPr id="20" name="C3Desc"/>
          <p:cNvSpPr/>
          <p:nvPr/>
        </p:nvSpPr>
        <p:spPr>
          <a:xfrm>
            <a:off x="256032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100">
                <a:solidFill>
                  <a:srgbClr val="475569"/>
                </a:solidFill>
                <a:latin typeface="Calibri"/>
              </a:rPr>
              <a:t>d = dubina stabla ≈ log N</a:t>
            </a:r>
          </a:p>
        </p:txBody>
      </p:sp>
      <p:sp>
        <p:nvSpPr>
          <p:cNvPr id="30" name="CmpBG"/>
          <p:cNvSpPr/>
          <p:nvPr/>
        </p:nvSpPr>
        <p:spPr>
          <a:xfrm>
            <a:off x="4937760" y="1691640"/>
            <a:ext cx="3840480" cy="1278941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CmpTitle"/>
          <p:cNvSpPr/>
          <p:nvPr/>
        </p:nvSpPr>
        <p:spPr>
          <a:xfrm>
            <a:off x="512064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>
                <a:solidFill>
                  <a:srgbClr val="065A60"/>
                </a:solidFill>
                <a:latin typeface="Trebuchet MS"/>
              </a:rPr>
              <a:t>TAG i gossip protokoli</a:t>
            </a:r>
          </a:p>
        </p:txBody>
      </p:sp>
      <p:sp>
        <p:nvSpPr>
          <p:cNvPr id="32" name="CmpBody"/>
          <p:cNvSpPr/>
          <p:nvPr/>
        </p:nvSpPr>
        <p:spPr>
          <a:xfrm>
            <a:off x="5120640" y="2011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spcAft>
                <a:spcPts val="400"/>
              </a:spcAft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TAG (Madden, UC Berkeley): SELECT SUM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—             preko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stabla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>
              <a:spcAft>
                <a:spcPts val="400"/>
              </a:spcAft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Push-Sum / Gossip: O(log N)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—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rundi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konvergencije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Energija: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komunikacija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≫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—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računanje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—                zavisi od baterije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0" name="PhaseBG"/>
          <p:cNvSpPr/>
          <p:nvPr/>
        </p:nvSpPr>
        <p:spPr>
          <a:xfrm>
            <a:off x="4937760" y="3063240"/>
            <a:ext cx="384048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PhaseText"/>
          <p:cNvSpPr/>
          <p:nvPr/>
        </p:nvSpPr>
        <p:spPr>
          <a:xfrm>
            <a:off x="5120640" y="3109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spcAft>
                <a:spcPts val="400"/>
              </a:spcAft>
              <a:buNone/>
            </a:pPr>
            <a:r>
              <a:rPr lang="en-US" sz="1000" b="1">
                <a:solidFill>
                  <a:srgbClr val="0D9488"/>
                </a:solidFill>
                <a:latin typeface="Consolas"/>
              </a:rPr>
              <a:t>Koraci algoritma</a:t>
            </a:r>
          </a:p>
          <a:p>
            <a:pPr>
              <a:spcAft>
                <a:spcPts val="60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Consolas"/>
              </a:rPr>
              <a:t>1. Root broadcast-uje upit, gradi stablo</a:t>
            </a:r>
          </a:p>
          <a:p>
            <a:pPr>
              <a:spcAft>
                <a:spcPts val="400"/>
              </a:spcAft>
              <a:buNone/>
            </a:pPr>
            <a:r>
              <a:rPr lang="en-US" sz="1000" b="1">
                <a:solidFill>
                  <a:srgbClr val="0D9488"/>
                </a:solidFill>
                <a:latin typeface="Consolas"/>
              </a:rPr>
              <a:t>2. Listovi → parent: parcijalne sume (PSR)</a:t>
            </a:r>
          </a:p>
          <a:p>
            <a:pPr>
              <a:buNone/>
            </a:pPr>
            <a:r>
              <a:rPr lang="en-US" sz="900">
                <a:solidFill>
                  <a:srgbClr val="E2E8F0"/>
                </a:solidFill>
                <a:latin typeface="Consolas"/>
              </a:rPr>
              <a:t>3. Root sklapa konačan prefix i emituje y[i]</a:t>
            </a:r>
          </a:p>
        </p:txBody>
      </p:sp>
      <p:sp>
        <p:nvSpPr>
          <p:cNvPr id="50" name="Footer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30ms po poruci dominira nad ~ms računanja — agregacija u mreži štedi energiju</a:t>
            </a:r>
          </a:p>
        </p:txBody>
      </p:sp>
      <p:sp>
        <p:nvSpPr>
          <p:cNvPr id="51" name="PageNum 51"/>
          <p:cNvSpPr txBox="1"/>
          <p:nvPr/>
        </p:nvSpPr>
        <p:spPr>
          <a:xfrm>
            <a:off x="8593962" y="4754880"/>
            <a:ext cx="2757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11/25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WSN topologija: ad-hoc stablo (TAG)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TinyDB / TAG: in-network agregacija duž spanning tree-a</a:t>
            </a:r>
          </a:p>
        </p:txBody>
      </p:sp>
      <p:sp>
        <p:nvSpPr>
          <p:cNvPr id="10" name="Root"/>
          <p:cNvSpPr/>
          <p:nvPr/>
        </p:nvSpPr>
        <p:spPr>
          <a:xfrm>
            <a:off x="3972000" y="1450000"/>
            <a:ext cx="1200000" cy="5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ROOT (sink)</a:t>
            </a:r>
          </a:p>
        </p:txBody>
      </p:sp>
      <p:sp>
        <p:nvSpPr>
          <p:cNvPr id="11" name="N1"/>
          <p:cNvSpPr/>
          <p:nvPr/>
        </p:nvSpPr>
        <p:spPr>
          <a:xfrm>
            <a:off x="1786000" y="2500000"/>
            <a:ext cx="1000000" cy="45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N1</a:t>
            </a:r>
          </a:p>
        </p:txBody>
      </p:sp>
      <p:sp>
        <p:nvSpPr>
          <p:cNvPr id="12" name="N2"/>
          <p:cNvSpPr/>
          <p:nvPr/>
        </p:nvSpPr>
        <p:spPr>
          <a:xfrm>
            <a:off x="6358000" y="2500000"/>
            <a:ext cx="1000000" cy="45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N2</a:t>
            </a:r>
          </a:p>
        </p:txBody>
      </p:sp>
      <p:sp>
        <p:nvSpPr>
          <p:cNvPr id="13" name="L0"/>
          <p:cNvSpPr/>
          <p:nvPr/>
        </p:nvSpPr>
        <p:spPr>
          <a:xfrm>
            <a:off x="600000" y="3650000"/>
            <a:ext cx="9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S1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x[0]=3</a:t>
            </a:r>
          </a:p>
        </p:txBody>
      </p:sp>
      <p:sp>
        <p:nvSpPr>
          <p:cNvPr id="14" name="L1"/>
          <p:cNvSpPr/>
          <p:nvPr/>
        </p:nvSpPr>
        <p:spPr>
          <a:xfrm>
            <a:off x="2368800" y="3650000"/>
            <a:ext cx="9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S2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x[1]=1</a:t>
            </a:r>
          </a:p>
        </p:txBody>
      </p:sp>
      <p:sp>
        <p:nvSpPr>
          <p:cNvPr id="15" name="L2"/>
          <p:cNvSpPr/>
          <p:nvPr/>
        </p:nvSpPr>
        <p:spPr>
          <a:xfrm>
            <a:off x="4137600" y="3650000"/>
            <a:ext cx="9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S3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x[2]=4</a:t>
            </a:r>
          </a:p>
        </p:txBody>
      </p:sp>
      <p:sp>
        <p:nvSpPr>
          <p:cNvPr id="16" name="L3"/>
          <p:cNvSpPr/>
          <p:nvPr/>
        </p:nvSpPr>
        <p:spPr>
          <a:xfrm>
            <a:off x="5906400" y="3650000"/>
            <a:ext cx="9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S4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x[3]=2</a:t>
            </a:r>
          </a:p>
        </p:txBody>
      </p:sp>
      <p:cxnSp>
        <p:nvCxnSpPr>
          <p:cNvPr id="17" name="e0"/>
          <p:cNvCxnSpPr/>
          <p:nvPr/>
        </p:nvCxnSpPr>
        <p:spPr>
          <a:xfrm flipV="1">
            <a:off x="1050000" y="2950000"/>
            <a:ext cx="1236000" cy="7000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1"/>
          <p:cNvCxnSpPr/>
          <p:nvPr/>
        </p:nvCxnSpPr>
        <p:spPr>
          <a:xfrm flipH="1" flipV="1">
            <a:off x="2286000" y="2950000"/>
            <a:ext cx="532800" cy="7000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2"/>
          <p:cNvCxnSpPr/>
          <p:nvPr/>
        </p:nvCxnSpPr>
        <p:spPr>
          <a:xfrm flipV="1">
            <a:off x="4587600" y="2950000"/>
            <a:ext cx="2270400" cy="7000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3"/>
          <p:cNvCxnSpPr/>
          <p:nvPr/>
        </p:nvCxnSpPr>
        <p:spPr>
          <a:xfrm flipV="1">
            <a:off x="6356400" y="2950000"/>
            <a:ext cx="501600" cy="7000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r2286000"/>
          <p:cNvCxnSpPr/>
          <p:nvPr/>
        </p:nvCxnSpPr>
        <p:spPr>
          <a:xfrm flipV="1">
            <a:off x="2286000" y="1950000"/>
            <a:ext cx="2286000" cy="5500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r6858000"/>
          <p:cNvCxnSpPr/>
          <p:nvPr/>
        </p:nvCxnSpPr>
        <p:spPr>
          <a:xfrm flipH="1" flipV="1">
            <a:off x="4572000" y="1950000"/>
            <a:ext cx="2286000" cy="5500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p"/>
          <p:cNvSpPr/>
          <p:nvPr/>
        </p:nvSpPr>
        <p:spPr>
          <a:xfrm>
            <a:off x="548640" y="4400000"/>
            <a:ext cx="8046720" cy="280000"/>
          </a:xfrm>
          <a:prstGeom prst="rect">
            <a:avLst/>
          </a:prstGeom>
          <a:noFill/>
          <a:ln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Spanning tree: root je sink, listovi su senzori, dubina d ≈ log N</a:t>
            </a:r>
          </a:p>
        </p:txBody>
      </p:sp>
      <p:sp>
        <p:nvSpPr>
          <p:cNvPr id="24" name="PageNum"/>
          <p:cNvSpPr txBox="1"/>
          <p:nvPr/>
        </p:nvSpPr>
        <p:spPr>
          <a:xfrm>
            <a:off x="8593962" y="4754880"/>
            <a:ext cx="2757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12/25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Korak 1: senzori sample x[i]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Svaka leaf nota samostalno meri svoju vrednost u svom epohu</a:t>
            </a:r>
          </a:p>
        </p:txBody>
      </p:sp>
      <p:sp>
        <p:nvSpPr>
          <p:cNvPr id="10" name="Root"/>
          <p:cNvSpPr/>
          <p:nvPr/>
        </p:nvSpPr>
        <p:spPr>
          <a:xfrm>
            <a:off x="3972000" y="1450000"/>
            <a:ext cx="1200000" cy="5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ROOT (sink)</a:t>
            </a:r>
          </a:p>
        </p:txBody>
      </p:sp>
      <p:sp>
        <p:nvSpPr>
          <p:cNvPr id="11" name="N1"/>
          <p:cNvSpPr/>
          <p:nvPr/>
        </p:nvSpPr>
        <p:spPr>
          <a:xfrm>
            <a:off x="1786000" y="2500000"/>
            <a:ext cx="1000000" cy="45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N1</a:t>
            </a:r>
          </a:p>
        </p:txBody>
      </p:sp>
      <p:sp>
        <p:nvSpPr>
          <p:cNvPr id="12" name="N2"/>
          <p:cNvSpPr/>
          <p:nvPr/>
        </p:nvSpPr>
        <p:spPr>
          <a:xfrm>
            <a:off x="6358000" y="2500000"/>
            <a:ext cx="1000000" cy="45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N2</a:t>
            </a:r>
          </a:p>
        </p:txBody>
      </p:sp>
      <p:sp>
        <p:nvSpPr>
          <p:cNvPr id="13" name="L0"/>
          <p:cNvSpPr/>
          <p:nvPr/>
        </p:nvSpPr>
        <p:spPr>
          <a:xfrm>
            <a:off x="600000" y="3650000"/>
            <a:ext cx="900000" cy="5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S1</a:t>
            </a:r>
          </a:p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x[0]=3</a:t>
            </a:r>
          </a:p>
        </p:txBody>
      </p:sp>
      <p:sp>
        <p:nvSpPr>
          <p:cNvPr id="14" name="L1"/>
          <p:cNvSpPr/>
          <p:nvPr/>
        </p:nvSpPr>
        <p:spPr>
          <a:xfrm>
            <a:off x="2368800" y="3650000"/>
            <a:ext cx="900000" cy="5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S2</a:t>
            </a:r>
          </a:p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x[1]=1</a:t>
            </a:r>
          </a:p>
        </p:txBody>
      </p:sp>
      <p:sp>
        <p:nvSpPr>
          <p:cNvPr id="15" name="L2"/>
          <p:cNvSpPr/>
          <p:nvPr/>
        </p:nvSpPr>
        <p:spPr>
          <a:xfrm>
            <a:off x="4137600" y="3650000"/>
            <a:ext cx="900000" cy="5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S3</a:t>
            </a:r>
          </a:p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x[2]=4</a:t>
            </a:r>
          </a:p>
        </p:txBody>
      </p:sp>
      <p:sp>
        <p:nvSpPr>
          <p:cNvPr id="16" name="L3"/>
          <p:cNvSpPr/>
          <p:nvPr/>
        </p:nvSpPr>
        <p:spPr>
          <a:xfrm>
            <a:off x="5906400" y="3650000"/>
            <a:ext cx="900000" cy="5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S4</a:t>
            </a:r>
          </a:p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x[3]=2</a:t>
            </a:r>
          </a:p>
        </p:txBody>
      </p:sp>
      <p:cxnSp>
        <p:nvCxnSpPr>
          <p:cNvPr id="17" name="e0"/>
          <p:cNvCxnSpPr/>
          <p:nvPr/>
        </p:nvCxnSpPr>
        <p:spPr>
          <a:xfrm flipV="1">
            <a:off x="1050000" y="2950000"/>
            <a:ext cx="1236000" cy="7000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1"/>
          <p:cNvCxnSpPr/>
          <p:nvPr/>
        </p:nvCxnSpPr>
        <p:spPr>
          <a:xfrm flipH="1" flipV="1">
            <a:off x="2286000" y="2950000"/>
            <a:ext cx="532800" cy="7000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2"/>
          <p:cNvCxnSpPr/>
          <p:nvPr/>
        </p:nvCxnSpPr>
        <p:spPr>
          <a:xfrm flipV="1">
            <a:off x="4587600" y="2950000"/>
            <a:ext cx="2270400" cy="7000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3"/>
          <p:cNvCxnSpPr/>
          <p:nvPr/>
        </p:nvCxnSpPr>
        <p:spPr>
          <a:xfrm flipV="1">
            <a:off x="6356400" y="2950000"/>
            <a:ext cx="501600" cy="7000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r2286000"/>
          <p:cNvCxnSpPr/>
          <p:nvPr/>
        </p:nvCxnSpPr>
        <p:spPr>
          <a:xfrm flipV="1">
            <a:off x="2286000" y="1950000"/>
            <a:ext cx="2286000" cy="5500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r6858000"/>
          <p:cNvCxnSpPr/>
          <p:nvPr/>
        </p:nvCxnSpPr>
        <p:spPr>
          <a:xfrm flipH="1" flipV="1">
            <a:off x="4572000" y="1950000"/>
            <a:ext cx="2286000" cy="55000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p"/>
          <p:cNvSpPr/>
          <p:nvPr/>
        </p:nvSpPr>
        <p:spPr>
          <a:xfrm>
            <a:off x="548640" y="4400000"/>
            <a:ext cx="8046720" cy="280000"/>
          </a:xfrm>
          <a:prstGeom prst="rect">
            <a:avLst/>
          </a:prstGeom>
          <a:noFill/>
          <a:ln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EPOCH 1: svaki senzor uzima jedno očitavanje x[i] u dodeljenom comm slot-u</a:t>
            </a:r>
          </a:p>
        </p:txBody>
      </p:sp>
      <p:sp>
        <p:nvSpPr>
          <p:cNvPr id="24" name="PageNum"/>
          <p:cNvSpPr txBox="1"/>
          <p:nvPr/>
        </p:nvSpPr>
        <p:spPr>
          <a:xfrm>
            <a:off x="8593962" y="4754880"/>
            <a:ext cx="2757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13/25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Korak 2: in-network agregacija ka root-u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Roditelji kombinuju partial sums iz dece — TAG je konkavan operator</a:t>
            </a:r>
          </a:p>
        </p:txBody>
      </p:sp>
      <p:sp>
        <p:nvSpPr>
          <p:cNvPr id="10" name="Root"/>
          <p:cNvSpPr/>
          <p:nvPr/>
        </p:nvSpPr>
        <p:spPr>
          <a:xfrm>
            <a:off x="3972000" y="1450000"/>
            <a:ext cx="1200000" cy="5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ROOT (sink)</a:t>
            </a:r>
          </a:p>
        </p:txBody>
      </p:sp>
      <p:sp>
        <p:nvSpPr>
          <p:cNvPr id="11" name="N1"/>
          <p:cNvSpPr/>
          <p:nvPr/>
        </p:nvSpPr>
        <p:spPr>
          <a:xfrm>
            <a:off x="1786000" y="2500000"/>
            <a:ext cx="1000000" cy="45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12" name="N2"/>
          <p:cNvSpPr/>
          <p:nvPr/>
        </p:nvSpPr>
        <p:spPr>
          <a:xfrm>
            <a:off x="6358000" y="2500000"/>
            <a:ext cx="1000000" cy="45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13" name="L0"/>
          <p:cNvSpPr/>
          <p:nvPr/>
        </p:nvSpPr>
        <p:spPr>
          <a:xfrm>
            <a:off x="600000" y="3650000"/>
            <a:ext cx="9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S1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x[0]=3</a:t>
            </a:r>
          </a:p>
        </p:txBody>
      </p:sp>
      <p:sp>
        <p:nvSpPr>
          <p:cNvPr id="14" name="L1"/>
          <p:cNvSpPr/>
          <p:nvPr/>
        </p:nvSpPr>
        <p:spPr>
          <a:xfrm>
            <a:off x="2368800" y="3650000"/>
            <a:ext cx="9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S2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x[1]=1</a:t>
            </a:r>
          </a:p>
        </p:txBody>
      </p:sp>
      <p:sp>
        <p:nvSpPr>
          <p:cNvPr id="15" name="L2"/>
          <p:cNvSpPr/>
          <p:nvPr/>
        </p:nvSpPr>
        <p:spPr>
          <a:xfrm>
            <a:off x="4137600" y="3650000"/>
            <a:ext cx="9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S3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x[2]=4</a:t>
            </a:r>
          </a:p>
        </p:txBody>
      </p:sp>
      <p:sp>
        <p:nvSpPr>
          <p:cNvPr id="16" name="L3"/>
          <p:cNvSpPr/>
          <p:nvPr/>
        </p:nvSpPr>
        <p:spPr>
          <a:xfrm>
            <a:off x="5906400" y="3650000"/>
            <a:ext cx="9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S4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x[3]=2</a:t>
            </a:r>
          </a:p>
        </p:txBody>
      </p:sp>
      <p:cxnSp>
        <p:nvCxnSpPr>
          <p:cNvPr id="17" name="e0"/>
          <p:cNvCxnSpPr/>
          <p:nvPr/>
        </p:nvCxnSpPr>
        <p:spPr>
          <a:xfrm flipV="1">
            <a:off x="1050000" y="2950000"/>
            <a:ext cx="1236000" cy="700000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1"/>
          <p:cNvCxnSpPr/>
          <p:nvPr/>
        </p:nvCxnSpPr>
        <p:spPr>
          <a:xfrm flipH="1" flipV="1">
            <a:off x="2286000" y="2950000"/>
            <a:ext cx="532800" cy="700000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2"/>
          <p:cNvCxnSpPr/>
          <p:nvPr/>
        </p:nvCxnSpPr>
        <p:spPr>
          <a:xfrm flipV="1">
            <a:off x="4587600" y="2950000"/>
            <a:ext cx="2270400" cy="700000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3"/>
          <p:cNvCxnSpPr/>
          <p:nvPr/>
        </p:nvCxnSpPr>
        <p:spPr>
          <a:xfrm flipV="1">
            <a:off x="6356400" y="2950000"/>
            <a:ext cx="501600" cy="700000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r2286000"/>
          <p:cNvCxnSpPr/>
          <p:nvPr/>
        </p:nvCxnSpPr>
        <p:spPr>
          <a:xfrm flipV="1">
            <a:off x="2286000" y="1950000"/>
            <a:ext cx="2286000" cy="550000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r6858000"/>
          <p:cNvCxnSpPr/>
          <p:nvPr/>
        </p:nvCxnSpPr>
        <p:spPr>
          <a:xfrm flipH="1" flipV="1">
            <a:off x="4572000" y="1950000"/>
            <a:ext cx="2286000" cy="550000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p"/>
          <p:cNvSpPr/>
          <p:nvPr/>
        </p:nvSpPr>
        <p:spPr>
          <a:xfrm>
            <a:off x="548640" y="4400000"/>
            <a:ext cx="8046720" cy="280000"/>
          </a:xfrm>
          <a:prstGeom prst="rect">
            <a:avLst/>
          </a:prstGeom>
          <a:noFill/>
          <a:ln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PSR (Partial State Record): N1 = x[0]+x[1] = 4, N2 = x[2]+x[3] = 6</a:t>
            </a:r>
          </a:p>
        </p:txBody>
      </p:sp>
      <p:sp>
        <p:nvSpPr>
          <p:cNvPr id="24" name="PageNum"/>
          <p:cNvSpPr txBox="1"/>
          <p:nvPr/>
        </p:nvSpPr>
        <p:spPr>
          <a:xfrm>
            <a:off x="8593962" y="4754880"/>
            <a:ext cx="2757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14/25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Korak 3: root broadcast prefiksa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Down-pass: Ladner-Fischer style — listovima stiže fromLeft + svoj input</a:t>
            </a:r>
          </a:p>
        </p:txBody>
      </p:sp>
      <p:sp>
        <p:nvSpPr>
          <p:cNvPr id="10" name="Root"/>
          <p:cNvSpPr/>
          <p:nvPr/>
        </p:nvSpPr>
        <p:spPr>
          <a:xfrm>
            <a:off x="3972000" y="1450000"/>
            <a:ext cx="1200000" cy="500000"/>
          </a:xfrm>
          <a:prstGeom prst="rect">
            <a:avLst/>
          </a:prstGeom>
          <a:solidFill>
            <a:srgbClr val="065A60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ROOT (sink)</a:t>
            </a:r>
          </a:p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y = [3, 4, 8, 10]</a:t>
            </a:r>
          </a:p>
        </p:txBody>
      </p:sp>
      <p:sp>
        <p:nvSpPr>
          <p:cNvPr id="11" name="N1"/>
          <p:cNvSpPr/>
          <p:nvPr/>
        </p:nvSpPr>
        <p:spPr>
          <a:xfrm>
            <a:off x="1786000" y="2500000"/>
            <a:ext cx="1000000" cy="45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N1</a:t>
            </a:r>
          </a:p>
        </p:txBody>
      </p:sp>
      <p:sp>
        <p:nvSpPr>
          <p:cNvPr id="12" name="N2"/>
          <p:cNvSpPr/>
          <p:nvPr/>
        </p:nvSpPr>
        <p:spPr>
          <a:xfrm>
            <a:off x="6358000" y="2500000"/>
            <a:ext cx="1000000" cy="45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N2</a:t>
            </a:r>
          </a:p>
        </p:txBody>
      </p:sp>
      <p:sp>
        <p:nvSpPr>
          <p:cNvPr id="13" name="L0"/>
          <p:cNvSpPr/>
          <p:nvPr/>
        </p:nvSpPr>
        <p:spPr>
          <a:xfrm>
            <a:off x="600000" y="3650000"/>
            <a:ext cx="9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S1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x[0]=3</a:t>
            </a:r>
          </a:p>
        </p:txBody>
      </p:sp>
      <p:sp>
        <p:nvSpPr>
          <p:cNvPr id="14" name="L1"/>
          <p:cNvSpPr/>
          <p:nvPr/>
        </p:nvSpPr>
        <p:spPr>
          <a:xfrm>
            <a:off x="2368800" y="3650000"/>
            <a:ext cx="9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S2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x[1]=1</a:t>
            </a:r>
          </a:p>
        </p:txBody>
      </p:sp>
      <p:sp>
        <p:nvSpPr>
          <p:cNvPr id="15" name="L2"/>
          <p:cNvSpPr/>
          <p:nvPr/>
        </p:nvSpPr>
        <p:spPr>
          <a:xfrm>
            <a:off x="4137600" y="3650000"/>
            <a:ext cx="9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S3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x[2]=4</a:t>
            </a:r>
          </a:p>
        </p:txBody>
      </p:sp>
      <p:sp>
        <p:nvSpPr>
          <p:cNvPr id="16" name="L3"/>
          <p:cNvSpPr/>
          <p:nvPr/>
        </p:nvSpPr>
        <p:spPr>
          <a:xfrm>
            <a:off x="5906400" y="3650000"/>
            <a:ext cx="9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S4</a:t>
            </a:r>
          </a:p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x[3]=2</a:t>
            </a:r>
          </a:p>
        </p:txBody>
      </p:sp>
      <p:cxnSp>
        <p:nvCxnSpPr>
          <p:cNvPr id="17" name="e0"/>
          <p:cNvCxnSpPr/>
          <p:nvPr/>
        </p:nvCxnSpPr>
        <p:spPr>
          <a:xfrm flipV="1">
            <a:off x="1050000" y="2950000"/>
            <a:ext cx="1236000" cy="700000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1"/>
          <p:cNvCxnSpPr/>
          <p:nvPr/>
        </p:nvCxnSpPr>
        <p:spPr>
          <a:xfrm flipH="1" flipV="1">
            <a:off x="2286000" y="2950000"/>
            <a:ext cx="532800" cy="700000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2"/>
          <p:cNvCxnSpPr/>
          <p:nvPr/>
        </p:nvCxnSpPr>
        <p:spPr>
          <a:xfrm flipV="1">
            <a:off x="4587600" y="2950000"/>
            <a:ext cx="2270400" cy="700000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3"/>
          <p:cNvCxnSpPr/>
          <p:nvPr/>
        </p:nvCxnSpPr>
        <p:spPr>
          <a:xfrm flipV="1">
            <a:off x="6356400" y="2950000"/>
            <a:ext cx="501600" cy="700000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r2286000"/>
          <p:cNvCxnSpPr/>
          <p:nvPr/>
        </p:nvCxnSpPr>
        <p:spPr>
          <a:xfrm flipV="1">
            <a:off x="2286000" y="1950000"/>
            <a:ext cx="2286000" cy="550000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r6858000"/>
          <p:cNvCxnSpPr/>
          <p:nvPr/>
        </p:nvCxnSpPr>
        <p:spPr>
          <a:xfrm flipH="1" flipV="1">
            <a:off x="4572000" y="1950000"/>
            <a:ext cx="2286000" cy="550000"/>
          </a:xfrm>
          <a:prstGeom prst="straightConnector1">
            <a:avLst/>
          </a:prstGeom>
          <a:ln w="19050">
            <a:solidFill>
              <a:srgbClr val="065A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br2286000"/>
          <p:cNvCxnSpPr/>
          <p:nvPr/>
        </p:nvCxnSpPr>
        <p:spPr>
          <a:xfrm flipH="1">
            <a:off x="2286000" y="1950000"/>
            <a:ext cx="2286000" cy="550000"/>
          </a:xfrm>
          <a:prstGeom prst="straightConnector1">
            <a:avLst/>
          </a:prstGeom>
          <a:ln w="19050">
            <a:solidFill>
              <a:srgbClr val="9240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br6858000"/>
          <p:cNvCxnSpPr/>
          <p:nvPr/>
        </p:nvCxnSpPr>
        <p:spPr>
          <a:xfrm>
            <a:off x="4572000" y="1950000"/>
            <a:ext cx="2286000" cy="550000"/>
          </a:xfrm>
          <a:prstGeom prst="straightConnector1">
            <a:avLst/>
          </a:prstGeom>
          <a:ln w="19050">
            <a:solidFill>
              <a:srgbClr val="9240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bl0"/>
          <p:cNvCxnSpPr/>
          <p:nvPr/>
        </p:nvCxnSpPr>
        <p:spPr>
          <a:xfrm flipH="1">
            <a:off x="1050000" y="2950000"/>
            <a:ext cx="1236000" cy="700000"/>
          </a:xfrm>
          <a:prstGeom prst="straightConnector1">
            <a:avLst/>
          </a:prstGeom>
          <a:ln w="19050">
            <a:solidFill>
              <a:srgbClr val="9240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bl1"/>
          <p:cNvCxnSpPr/>
          <p:nvPr/>
        </p:nvCxnSpPr>
        <p:spPr>
          <a:xfrm>
            <a:off x="2286000" y="2950000"/>
            <a:ext cx="532800" cy="700000"/>
          </a:xfrm>
          <a:prstGeom prst="straightConnector1">
            <a:avLst/>
          </a:prstGeom>
          <a:ln w="19050">
            <a:solidFill>
              <a:srgbClr val="9240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bl2"/>
          <p:cNvCxnSpPr/>
          <p:nvPr/>
        </p:nvCxnSpPr>
        <p:spPr>
          <a:xfrm flipH="1">
            <a:off x="4587600" y="2950000"/>
            <a:ext cx="2270400" cy="700000"/>
          </a:xfrm>
          <a:prstGeom prst="straightConnector1">
            <a:avLst/>
          </a:prstGeom>
          <a:ln w="19050">
            <a:solidFill>
              <a:srgbClr val="9240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l3"/>
          <p:cNvCxnSpPr/>
          <p:nvPr/>
        </p:nvCxnSpPr>
        <p:spPr>
          <a:xfrm flipH="1">
            <a:off x="6356400" y="2950000"/>
            <a:ext cx="501600" cy="700000"/>
          </a:xfrm>
          <a:prstGeom prst="straightConnector1">
            <a:avLst/>
          </a:prstGeom>
          <a:ln w="19050">
            <a:solidFill>
              <a:srgbClr val="9240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p"/>
          <p:cNvSpPr/>
          <p:nvPr/>
        </p:nvSpPr>
        <p:spPr>
          <a:xfrm>
            <a:off x="548640" y="4400000"/>
            <a:ext cx="8046720" cy="280000"/>
          </a:xfrm>
          <a:prstGeom prst="rect">
            <a:avLst/>
          </a:prstGeom>
          <a:noFill/>
          <a:ln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Root broadcast-uje prefix y = [3,4,8,10] nazad listovima (down-pass)</a:t>
            </a:r>
          </a:p>
        </p:txBody>
      </p:sp>
      <p:sp>
        <p:nvSpPr>
          <p:cNvPr id="30" name="PageNum"/>
          <p:cNvSpPr txBox="1"/>
          <p:nvPr/>
        </p:nvSpPr>
        <p:spPr>
          <a:xfrm>
            <a:off x="8593962" y="4754880"/>
            <a:ext cx="2757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15/25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Šta je optičko (fotonsko) računanje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Umesto tranzistora — interferencija svetlosti; umesto elektrona — fotoni</a:t>
            </a:r>
          </a:p>
        </p:txBody>
      </p:sp>
      <p:sp>
        <p:nvSpPr>
          <p:cNvPr id="10" name="BlkBG"/>
          <p:cNvSpPr/>
          <p:nvPr/>
        </p:nvSpPr>
        <p:spPr>
          <a:xfrm>
            <a:off x="548640" y="1188720"/>
            <a:ext cx="3923280" cy="14184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lkHdr"/>
          <p:cNvSpPr/>
          <p:nvPr/>
        </p:nvSpPr>
        <p:spPr>
          <a:xfrm>
            <a:off x="685800" y="1280160"/>
            <a:ext cx="36489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>
                <a:solidFill>
                  <a:srgbClr val="065A60"/>
                </a:solidFill>
                <a:latin typeface="Trebuchet MS"/>
              </a:rPr>
              <a:t>Šta je to?</a:t>
            </a:r>
          </a:p>
        </p:txBody>
      </p:sp>
      <p:sp>
        <p:nvSpPr>
          <p:cNvPr id="12" name="BlkBody"/>
          <p:cNvSpPr/>
          <p:nvPr/>
        </p:nvSpPr>
        <p:spPr>
          <a:xfrm>
            <a:off x="731520" y="1691640"/>
            <a:ext cx="3557520" cy="824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065A60"/>
                </a:solidFill>
                <a:latin typeface="Calibri"/>
              </a:rPr>
              <a:t>Računaj svetlošću: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laseri umesto struje,                                    sočiva umesto tranzistora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065A60"/>
                </a:solidFill>
                <a:latin typeface="Calibri"/>
              </a:rPr>
              <a:t>Foton nema masu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ni naelektrisanje → nema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R·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C kašnjenja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065A60"/>
                </a:solidFill>
                <a:latin typeface="Calibri"/>
              </a:rPr>
              <a:t>Putuje brzinom svetla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kroz čip — kašnjenje u pikosekundama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BlkBG"/>
          <p:cNvSpPr/>
          <p:nvPr/>
        </p:nvSpPr>
        <p:spPr>
          <a:xfrm>
            <a:off x="4791920" y="1188720"/>
            <a:ext cx="3923280" cy="141840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BlkHdr"/>
          <p:cNvSpPr/>
          <p:nvPr/>
        </p:nvSpPr>
        <p:spPr>
          <a:xfrm>
            <a:off x="4929080" y="1280160"/>
            <a:ext cx="36489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>
                <a:solidFill>
                  <a:srgbClr val="4338CA"/>
                </a:solidFill>
                <a:latin typeface="Trebuchet MS"/>
              </a:rPr>
              <a:t>Zašto postoji?</a:t>
            </a:r>
          </a:p>
        </p:txBody>
      </p:sp>
      <p:sp>
        <p:nvSpPr>
          <p:cNvPr id="17" name="BlkBody"/>
          <p:cNvSpPr/>
          <p:nvPr/>
        </p:nvSpPr>
        <p:spPr>
          <a:xfrm>
            <a:off x="4974800" y="1691640"/>
            <a:ext cx="3557520" cy="824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 dirty="0">
                <a:solidFill>
                  <a:srgbClr val="4338CA"/>
                </a:solidFill>
                <a:latin typeface="Calibri"/>
              </a:rPr>
              <a:t>Moore's Law </a:t>
            </a:r>
            <a:r>
              <a:rPr lang="en-US" sz="1000" b="1">
                <a:solidFill>
                  <a:srgbClr val="4338CA"/>
                </a:solidFill>
                <a:latin typeface="Calibri"/>
              </a:rPr>
              <a:t>je gotov: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ne možeš više da skupljaš tranzistore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4338CA"/>
                </a:solidFill>
                <a:latin typeface="Calibri"/>
              </a:rPr>
              <a:t>AI modeli rastu eksponencijalno: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GPT, BERT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—                 trebamo nov hardver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 dirty="0">
                <a:solidFill>
                  <a:srgbClr val="4338CA"/>
                </a:solidFill>
                <a:latin typeface="Calibri"/>
              </a:rPr>
              <a:t>Energija</a:t>
            </a:r>
            <a:r>
              <a:rPr lang="en-US" sz="1000" b="1">
                <a:solidFill>
                  <a:srgbClr val="4338CA"/>
                </a:solidFill>
                <a:latin typeface="Calibri"/>
              </a:rPr>
              <a:t>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fotonika troši znatno manje za isto matrično množenje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0" name="BlkBG"/>
          <p:cNvSpPr/>
          <p:nvPr/>
        </p:nvSpPr>
        <p:spPr>
          <a:xfrm>
            <a:off x="548640" y="2698560"/>
            <a:ext cx="3923280" cy="1644840"/>
          </a:xfrm>
          <a:prstGeom prst="rect">
            <a:avLst/>
          </a:prstGeom>
          <a:solidFill>
            <a:srgbClr val="ECFC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BlkHdr"/>
          <p:cNvSpPr/>
          <p:nvPr/>
        </p:nvSpPr>
        <p:spPr>
          <a:xfrm>
            <a:off x="685800" y="2790000"/>
            <a:ext cx="36489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>
                <a:solidFill>
                  <a:srgbClr val="65A30D"/>
                </a:solidFill>
                <a:latin typeface="Trebuchet MS"/>
              </a:rPr>
              <a:t>Ključni koncepti</a:t>
            </a:r>
          </a:p>
        </p:txBody>
      </p:sp>
      <p:sp>
        <p:nvSpPr>
          <p:cNvPr id="22" name="BlkBody"/>
          <p:cNvSpPr/>
          <p:nvPr/>
        </p:nvSpPr>
        <p:spPr>
          <a:xfrm>
            <a:off x="731520" y="3201480"/>
            <a:ext cx="3557520" cy="824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 dirty="0">
                <a:solidFill>
                  <a:srgbClr val="65A30D"/>
                </a:solidFill>
                <a:latin typeface="Calibri"/>
              </a:rPr>
              <a:t>MZI (Mach-Zehnder):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2×2 "vrata" — koristi interferenciju kao + i −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 dirty="0">
                <a:solidFill>
                  <a:srgbClr val="65A30D"/>
                </a:solidFill>
                <a:latin typeface="Calibri"/>
              </a:rPr>
              <a:t>WDM</a:t>
            </a:r>
            <a:r>
              <a:rPr lang="en-US" sz="1000" b="1">
                <a:solidFill>
                  <a:srgbClr val="65A30D"/>
                </a:solidFill>
                <a:latin typeface="Calibri"/>
              </a:rPr>
              <a:t>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više boja svetla u istom vlaknu = paralelizam džabe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 dirty="0">
                <a:solidFill>
                  <a:srgbClr val="65A30D"/>
                </a:solidFill>
                <a:latin typeface="Calibri"/>
              </a:rPr>
              <a:t>ABFP: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block-floating-point format koji daje analognoj optici FP32 tačnost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 dirty="0">
                <a:solidFill>
                  <a:srgbClr val="65A30D"/>
                </a:solidFill>
                <a:latin typeface="Calibri"/>
              </a:rPr>
              <a:t>AD/DA: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most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ka digitalnoj elektronici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— TU je bottleneck</a:t>
            </a:r>
          </a:p>
        </p:txBody>
      </p:sp>
      <p:sp>
        <p:nvSpPr>
          <p:cNvPr id="25" name="BlkBG"/>
          <p:cNvSpPr/>
          <p:nvPr/>
        </p:nvSpPr>
        <p:spPr>
          <a:xfrm>
            <a:off x="4791920" y="2698559"/>
            <a:ext cx="3923280" cy="1644839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BlkHdr"/>
          <p:cNvSpPr/>
          <p:nvPr/>
        </p:nvSpPr>
        <p:spPr>
          <a:xfrm>
            <a:off x="4929080" y="2790000"/>
            <a:ext cx="36489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300" b="1">
                <a:solidFill>
                  <a:srgbClr val="92400E"/>
                </a:solidFill>
                <a:latin typeface="Trebuchet MS"/>
              </a:rPr>
              <a:t>Realni primer</a:t>
            </a:r>
          </a:p>
        </p:txBody>
      </p:sp>
      <p:sp>
        <p:nvSpPr>
          <p:cNvPr id="27" name="BlkBody"/>
          <p:cNvSpPr/>
          <p:nvPr/>
        </p:nvSpPr>
        <p:spPr>
          <a:xfrm>
            <a:off x="4974800" y="3201480"/>
            <a:ext cx="3557520" cy="824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92400E"/>
                </a:solidFill>
                <a:latin typeface="Calibri"/>
              </a:rPr>
              <a:t>Lightmatter </a:t>
            </a:r>
            <a:r>
              <a:rPr lang="en-US" sz="1000" b="1" dirty="0">
                <a:solidFill>
                  <a:srgbClr val="92400E"/>
                </a:solidFill>
                <a:latin typeface="Calibri"/>
              </a:rPr>
              <a:t>Passage: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65.5 TOPs @ 78 W,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6 fotonska čipa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92400E"/>
                </a:solidFill>
                <a:latin typeface="Calibri"/>
              </a:rPr>
              <a:t>Pokreće </a:t>
            </a:r>
            <a:r>
              <a:rPr lang="en-US" sz="1000" b="1" dirty="0">
                <a:solidFill>
                  <a:srgbClr val="92400E"/>
                </a:solidFill>
                <a:latin typeface="Calibri"/>
              </a:rPr>
              <a:t>BERT</a:t>
            </a:r>
            <a:r>
              <a:rPr lang="en-US" sz="1000" b="1">
                <a:solidFill>
                  <a:srgbClr val="92400E"/>
                </a:solidFill>
                <a:latin typeface="Calibri"/>
              </a:rPr>
              <a:t>, ResNet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bez retraining-a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—                                      tj. drop-in zamena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za GPU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>
                <a:solidFill>
                  <a:srgbClr val="92400E"/>
                </a:solidFill>
                <a:latin typeface="Calibri"/>
              </a:rPr>
              <a:t>Lightelligence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i drugi konkuriraju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— Nature 2025</a:t>
            </a:r>
          </a:p>
          <a:p>
            <a:pPr marL="228600" indent="-228600">
              <a:spcAft>
                <a:spcPts val="400"/>
              </a:spcAft>
              <a:buSzPct val="100000"/>
              <a:buChar char="▸"/>
            </a:pPr>
            <a:r>
              <a:rPr lang="en-US" sz="1000" b="1" dirty="0">
                <a:solidFill>
                  <a:srgbClr val="92400E"/>
                </a:solidFill>
                <a:latin typeface="Calibri"/>
              </a:rPr>
              <a:t>Za prefix scan: </a:t>
            </a:r>
            <a:r>
              <a:rPr lang="en-US" sz="1000" dirty="0">
                <a:solidFill>
                  <a:srgbClr val="1E293B"/>
                </a:solidFill>
                <a:latin typeface="Calibri"/>
              </a:rPr>
              <a:t>log </a:t>
            </a:r>
            <a:r>
              <a:rPr lang="en-US" sz="1000">
                <a:solidFill>
                  <a:srgbClr val="1E293B"/>
                </a:solidFill>
                <a:latin typeface="Calibri"/>
              </a:rPr>
              <a:t>N optičkih slojeva =                                         celo izračunavanje za nanosekunde</a:t>
            </a:r>
            <a:endParaRPr lang="en-US" sz="100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1" name="PageNum"/>
          <p:cNvSpPr txBox="1">
            <a:spLocks/>
          </p:cNvSpPr>
          <p:nvPr/>
        </p:nvSpPr>
        <p:spPr>
          <a:xfrm>
            <a:off x="8593962" y="4754880"/>
            <a:ext cx="2757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16/25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elloch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buNone/>
            </a:pPr>
            <a:r>
              <a:rPr lang="en-US" sz="3200" b="1">
                <a:solidFill>
                  <a:srgbClr val="065A60"/>
                </a:solidFill>
                <a:latin typeface="Trebuchet MS"/>
              </a:rPr>
              <a:t>Prefix Scan na Opto (fotonsko računanje)</a:t>
            </a:r>
          </a:p>
        </p:txBody>
      </p:sp>
      <p:sp>
        <p:nvSpPr>
          <p:cNvPr id="5" name="Sub"/>
          <p:cNvSpPr/>
          <p:nvPr/>
        </p:nvSpPr>
        <p:spPr>
          <a:xfrm>
            <a:off x="54864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Mach-Zehnder mreža / MRR — Hillis-Steele u optičkom domenu</a:t>
            </a:r>
          </a:p>
        </p:txBody>
      </p:sp>
      <p:sp>
        <p:nvSpPr>
          <p:cNvPr id="10" name="C1BG"/>
          <p:cNvSpPr/>
          <p:nvPr/>
        </p:nvSpPr>
        <p:spPr>
          <a:xfrm>
            <a:off x="548640" y="1691640"/>
            <a:ext cx="3840480" cy="795528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C1Lbl"/>
          <p:cNvSpPr/>
          <p:nvPr/>
        </p:nvSpPr>
        <p:spPr>
          <a:xfrm>
            <a:off x="7315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Algoritam</a:t>
            </a:r>
          </a:p>
        </p:txBody>
      </p:sp>
      <p:sp>
        <p:nvSpPr>
          <p:cNvPr id="12" name="C1Val"/>
          <p:cNvSpPr/>
          <p:nvPr/>
        </p:nvSpPr>
        <p:spPr>
          <a:xfrm>
            <a:off x="73152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Hillis-Steele kroz MZI mrežu</a:t>
            </a:r>
          </a:p>
        </p:txBody>
      </p:sp>
      <p:sp>
        <p:nvSpPr>
          <p:cNvPr id="13" name="C2BG"/>
          <p:cNvSpPr/>
          <p:nvPr/>
        </p:nvSpPr>
        <p:spPr>
          <a:xfrm>
            <a:off x="548640" y="2560320"/>
            <a:ext cx="3840480" cy="71323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C2Lbl"/>
          <p:cNvSpPr/>
          <p:nvPr/>
        </p:nvSpPr>
        <p:spPr>
          <a:xfrm>
            <a:off x="73152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Rad</a:t>
            </a:r>
          </a:p>
        </p:txBody>
      </p:sp>
      <p:sp>
        <p:nvSpPr>
          <p:cNvPr id="15" name="C2Val"/>
          <p:cNvSpPr/>
          <p:nvPr/>
        </p:nvSpPr>
        <p:spPr>
          <a:xfrm>
            <a:off x="7315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O(N log N)</a:t>
            </a:r>
          </a:p>
        </p:txBody>
      </p:sp>
      <p:sp>
        <p:nvSpPr>
          <p:cNvPr id="16" name="C2Desc"/>
          <p:cNvSpPr/>
          <p:nvPr/>
        </p:nvSpPr>
        <p:spPr>
          <a:xfrm>
            <a:off x="256032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100">
                <a:solidFill>
                  <a:srgbClr val="475569"/>
                </a:solidFill>
                <a:latin typeface="Calibri"/>
              </a:rPr>
              <a:t>matrica-vektor po sloju</a:t>
            </a:r>
          </a:p>
        </p:txBody>
      </p:sp>
      <p:sp>
        <p:nvSpPr>
          <p:cNvPr id="17" name="C3BG"/>
          <p:cNvSpPr/>
          <p:nvPr/>
        </p:nvSpPr>
        <p:spPr>
          <a:xfrm>
            <a:off x="548640" y="3429000"/>
            <a:ext cx="3840480" cy="71323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C3Lbl"/>
          <p:cNvSpPr/>
          <p:nvPr/>
        </p:nvSpPr>
        <p:spPr>
          <a:xfrm>
            <a:off x="73152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Vreme</a:t>
            </a:r>
          </a:p>
        </p:txBody>
      </p:sp>
      <p:sp>
        <p:nvSpPr>
          <p:cNvPr id="19" name="C3Val"/>
          <p:cNvSpPr/>
          <p:nvPr/>
        </p:nvSpPr>
        <p:spPr>
          <a:xfrm>
            <a:off x="73152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O(log N) · t_light</a:t>
            </a:r>
          </a:p>
        </p:txBody>
      </p:sp>
      <p:sp>
        <p:nvSpPr>
          <p:cNvPr id="20" name="C3Desc"/>
          <p:cNvSpPr/>
          <p:nvPr/>
        </p:nvSpPr>
        <p:spPr>
          <a:xfrm>
            <a:off x="256032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100">
                <a:solidFill>
                  <a:srgbClr val="475569"/>
                </a:solidFill>
                <a:latin typeface="Calibri"/>
              </a:rPr>
              <a:t>brzina svetla = ps po sloju</a:t>
            </a:r>
          </a:p>
        </p:txBody>
      </p:sp>
      <p:sp>
        <p:nvSpPr>
          <p:cNvPr id="30" name="CmpBG"/>
          <p:cNvSpPr/>
          <p:nvPr/>
        </p:nvSpPr>
        <p:spPr>
          <a:xfrm>
            <a:off x="4937760" y="1691640"/>
            <a:ext cx="3840480" cy="11887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CmpTitle"/>
          <p:cNvSpPr/>
          <p:nvPr/>
        </p:nvSpPr>
        <p:spPr>
          <a:xfrm>
            <a:off x="512064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>
                <a:solidFill>
                  <a:srgbClr val="065A60"/>
                </a:solidFill>
                <a:latin typeface="Trebuchet MS"/>
              </a:rPr>
              <a:t>Fotonski hardver</a:t>
            </a:r>
          </a:p>
        </p:txBody>
      </p:sp>
      <p:sp>
        <p:nvSpPr>
          <p:cNvPr id="32" name="CmpBody"/>
          <p:cNvSpPr/>
          <p:nvPr/>
        </p:nvSpPr>
        <p:spPr>
          <a:xfrm>
            <a:off x="5120640" y="2011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spcAft>
                <a:spcPts val="400"/>
              </a:spcAft>
              <a:buChar char="▪"/>
            </a:pPr>
            <a:r>
              <a:rPr lang="en-US" sz="1100">
                <a:solidFill>
                  <a:srgbClr val="1E293B"/>
                </a:solidFill>
                <a:latin typeface="Calibri"/>
              </a:rPr>
              <a:t>Lightmatter Passage: 65.5 TOPs </a:t>
            </a:r>
            <a:r>
              <a:rPr lang="en-US" sz="110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 — </a:t>
            </a:r>
            <a:r>
              <a:rPr lang="en-US" sz="1100" err="1">
                <a:solidFill>
                  <a:srgbClr val="1E293B"/>
                </a:solidFill>
                <a:latin typeface="Calibri"/>
              </a:rPr>
              <a:t>na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err="1">
                <a:solidFill>
                  <a:srgbClr val="1E293B"/>
                </a:solidFill>
                <a:latin typeface="Calibri"/>
              </a:rPr>
              <a:t>78 W</a:t>
            </a:r>
            <a:endParaRPr lang="en-US" sz="1100">
              <a:solidFill>
                <a:srgbClr val="1E293B"/>
              </a:solidFill>
              <a:latin typeface="Calibri"/>
            </a:endParaRPr>
          </a:p>
          <a:p>
            <a:pPr>
              <a:spcAft>
                <a:spcPts val="400"/>
              </a:spcAft>
              <a:buChar char="▪"/>
            </a:pPr>
            <a:r>
              <a:rPr lang="en-US" sz="1100">
                <a:solidFill>
                  <a:srgbClr val="1E293B"/>
                </a:solidFill>
                <a:latin typeface="Calibri"/>
              </a:rPr>
              <a:t>MRR sabirač (CLA): ~260 Gbps </a:t>
            </a:r>
            <a:r>
              <a:rPr lang="en-US" sz="110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 — </a:t>
            </a:r>
            <a:r>
              <a:rPr lang="en-US" sz="1100" err="1">
                <a:solidFill>
                  <a:srgbClr val="1E293B"/>
                </a:solidFill>
                <a:latin typeface="Calibri"/>
              </a:rPr>
              <a:t>po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err="1">
                <a:solidFill>
                  <a:srgbClr val="1E293B"/>
                </a:solidFill>
                <a:latin typeface="Calibri"/>
              </a:rPr>
              <a:t>operaciji</a:t>
            </a:r>
            <a:endParaRPr lang="en-US" sz="1100">
              <a:solidFill>
                <a:srgbClr val="1E293B"/>
              </a:solidFill>
              <a:latin typeface="Calibri"/>
            </a:endParaRPr>
          </a:p>
          <a:p>
            <a:pPr>
              <a:buChar char="▪"/>
            </a:pPr>
            <a:r>
              <a:rPr lang="en-US" sz="1100">
                <a:solidFill>
                  <a:srgbClr val="1E293B"/>
                </a:solidFill>
                <a:latin typeface="Calibri"/>
              </a:rPr>
              <a:t>WDM: paralelno po </a:t>
            </a:r>
            <a:r>
              <a:rPr lang="en-US" sz="110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 — </a:t>
            </a:r>
            <a:r>
              <a:rPr lang="en-US" sz="1100" err="1">
                <a:solidFill>
                  <a:srgbClr val="1E293B"/>
                </a:solidFill>
                <a:latin typeface="Calibri"/>
              </a:rPr>
              <a:t>talasnim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err="1">
                <a:solidFill>
                  <a:srgbClr val="1E293B"/>
                </a:solidFill>
                <a:latin typeface="Calibri"/>
              </a:rPr>
              <a:t>dužinama</a:t>
            </a:r>
            <a:r>
              <a:rPr lang="en-US" sz="1100">
                <a:solidFill>
                  <a:srgbClr val="1E293B"/>
                </a:solidFill>
                <a:latin typeface="Calibri"/>
              </a:rPr>
              <a:t> je </a:t>
            </a:r>
            <a:r>
              <a:rPr lang="en-US" sz="1100" err="1">
                <a:solidFill>
                  <a:srgbClr val="1E293B"/>
                </a:solidFill>
                <a:latin typeface="Calibri"/>
              </a:rPr>
              <a:t>(16+ λ)</a:t>
            </a:r>
            <a:endParaRPr lang="en-US" sz="110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0" name="PhaseBG"/>
          <p:cNvSpPr/>
          <p:nvPr/>
        </p:nvSpPr>
        <p:spPr>
          <a:xfrm>
            <a:off x="4937760" y="3063240"/>
            <a:ext cx="384048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PhaseText"/>
          <p:cNvSpPr/>
          <p:nvPr/>
        </p:nvSpPr>
        <p:spPr>
          <a:xfrm>
            <a:off x="5120640" y="3109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spcAft>
                <a:spcPts val="400"/>
              </a:spcAft>
              <a:buNone/>
            </a:pPr>
            <a:r>
              <a:rPr lang="en-US" sz="1000" b="1">
                <a:solidFill>
                  <a:srgbClr val="0D9488"/>
                </a:solidFill>
                <a:latin typeface="Consolas"/>
              </a:rPr>
              <a:t>Koraci algoritma</a:t>
            </a:r>
          </a:p>
          <a:p>
            <a:pPr>
              <a:spcAft>
                <a:spcPts val="60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Consolas"/>
              </a:rPr>
              <a:t>1. Kodiraj x[i] u amplitudu/fazu lasera</a:t>
            </a:r>
          </a:p>
          <a:p>
            <a:pPr>
              <a:spcAft>
                <a:spcPts val="400"/>
              </a:spcAft>
              <a:buNone/>
            </a:pPr>
            <a:r>
              <a:rPr lang="en-US" sz="1000" b="1">
                <a:solidFill>
                  <a:srgbClr val="0D9488"/>
                </a:solidFill>
                <a:latin typeface="Consolas"/>
              </a:rPr>
              <a:t>2. log N slojeva MZI: parno-paralelno sumira</a:t>
            </a:r>
          </a:p>
          <a:p>
            <a:pPr>
              <a:buNone/>
            </a:pPr>
            <a:r>
              <a:rPr lang="en-US" sz="900">
                <a:solidFill>
                  <a:srgbClr val="E2E8F0"/>
                </a:solidFill>
                <a:latin typeface="Consolas"/>
              </a:rPr>
              <a:t>3. Foto-detektor čita y[i] kao struju</a:t>
            </a:r>
          </a:p>
        </p:txBody>
      </p:sp>
      <p:sp>
        <p:nvSpPr>
          <p:cNvPr id="50" name="Footer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Hibridno: elektronika za kontrolu, optika za sabiranje — bottleneck je AD/DA konverzija</a:t>
            </a:r>
          </a:p>
        </p:txBody>
      </p:sp>
      <p:sp>
        <p:nvSpPr>
          <p:cNvPr id="51" name="PageNum 51"/>
          <p:cNvSpPr txBox="1"/>
          <p:nvPr/>
        </p:nvSpPr>
        <p:spPr>
          <a:xfrm>
            <a:off x="8593962" y="4754880"/>
            <a:ext cx="2757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17/25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Opto topologija: MZI Hillis-Steele mreža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Lightmatter Passage / Lightelligence stil — log N optičkih slojeva</a:t>
            </a:r>
          </a:p>
        </p:txBody>
      </p:sp>
      <p:sp>
        <p:nvSpPr>
          <p:cNvPr id="10" name="In0"/>
          <p:cNvSpPr/>
          <p:nvPr/>
        </p:nvSpPr>
        <p:spPr>
          <a:xfrm>
            <a:off x="600000" y="1450000"/>
            <a:ext cx="9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λ0: x[0] = 3</a:t>
            </a:r>
          </a:p>
        </p:txBody>
      </p:sp>
      <p:sp>
        <p:nvSpPr>
          <p:cNvPr id="11" name="In1"/>
          <p:cNvSpPr/>
          <p:nvPr/>
        </p:nvSpPr>
        <p:spPr>
          <a:xfrm>
            <a:off x="600000" y="2050000"/>
            <a:ext cx="9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λ1: x[1] = 1</a:t>
            </a:r>
          </a:p>
        </p:txBody>
      </p:sp>
      <p:sp>
        <p:nvSpPr>
          <p:cNvPr id="12" name="In2"/>
          <p:cNvSpPr/>
          <p:nvPr/>
        </p:nvSpPr>
        <p:spPr>
          <a:xfrm>
            <a:off x="600000" y="2650000"/>
            <a:ext cx="9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λ2: x[2] = 4</a:t>
            </a:r>
          </a:p>
        </p:txBody>
      </p:sp>
      <p:sp>
        <p:nvSpPr>
          <p:cNvPr id="13" name="In3"/>
          <p:cNvSpPr/>
          <p:nvPr/>
        </p:nvSpPr>
        <p:spPr>
          <a:xfrm>
            <a:off x="600000" y="3250000"/>
            <a:ext cx="9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λ3: x[3] = 2</a:t>
            </a:r>
          </a:p>
        </p:txBody>
      </p:sp>
      <p:sp>
        <p:nvSpPr>
          <p:cNvPr id="14" name="L10"/>
          <p:cNvSpPr/>
          <p:nvPr/>
        </p:nvSpPr>
        <p:spPr>
          <a:xfrm>
            <a:off x="2700000" y="17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λ0,λ1 → +</a:t>
            </a:r>
          </a:p>
        </p:txBody>
      </p:sp>
      <p:sp>
        <p:nvSpPr>
          <p:cNvPr id="15" name="L11"/>
          <p:cNvSpPr/>
          <p:nvPr/>
        </p:nvSpPr>
        <p:spPr>
          <a:xfrm>
            <a:off x="2700000" y="23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λ1,λ2 → +</a:t>
            </a:r>
          </a:p>
        </p:txBody>
      </p:sp>
      <p:sp>
        <p:nvSpPr>
          <p:cNvPr id="16" name="L12"/>
          <p:cNvSpPr/>
          <p:nvPr/>
        </p:nvSpPr>
        <p:spPr>
          <a:xfrm>
            <a:off x="2700000" y="29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λ2,λ3 → +</a:t>
            </a:r>
          </a:p>
        </p:txBody>
      </p:sp>
      <p:sp>
        <p:nvSpPr>
          <p:cNvPr id="17" name="L20"/>
          <p:cNvSpPr/>
          <p:nvPr/>
        </p:nvSpPr>
        <p:spPr>
          <a:xfrm>
            <a:off x="4900000" y="20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stride 2: x[0]+x[2]</a:t>
            </a:r>
          </a:p>
        </p:txBody>
      </p:sp>
      <p:sp>
        <p:nvSpPr>
          <p:cNvPr id="18" name="L21"/>
          <p:cNvSpPr/>
          <p:nvPr/>
        </p:nvSpPr>
        <p:spPr>
          <a:xfrm>
            <a:off x="4900000" y="26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stride 2: x[1]+x[3]</a:t>
            </a:r>
          </a:p>
        </p:txBody>
      </p:sp>
      <p:sp>
        <p:nvSpPr>
          <p:cNvPr id="19" name="Out0"/>
          <p:cNvSpPr/>
          <p:nvPr/>
        </p:nvSpPr>
        <p:spPr>
          <a:xfrm>
            <a:off x="7100000" y="1450000"/>
            <a:ext cx="14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475569"/>
                </a:solidFill>
                <a:latin typeface="Calibri"/>
              </a:rPr>
              <a:t>y[0] = ?</a:t>
            </a:r>
          </a:p>
        </p:txBody>
      </p:sp>
      <p:sp>
        <p:nvSpPr>
          <p:cNvPr id="20" name="Out1"/>
          <p:cNvSpPr/>
          <p:nvPr/>
        </p:nvSpPr>
        <p:spPr>
          <a:xfrm>
            <a:off x="7100000" y="2050000"/>
            <a:ext cx="14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475569"/>
                </a:solidFill>
                <a:latin typeface="Calibri"/>
              </a:rPr>
              <a:t>y[1] = ?</a:t>
            </a:r>
          </a:p>
        </p:txBody>
      </p:sp>
      <p:sp>
        <p:nvSpPr>
          <p:cNvPr id="21" name="Out2"/>
          <p:cNvSpPr/>
          <p:nvPr/>
        </p:nvSpPr>
        <p:spPr>
          <a:xfrm>
            <a:off x="7100000" y="2650000"/>
            <a:ext cx="14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475569"/>
                </a:solidFill>
                <a:latin typeface="Calibri"/>
              </a:rPr>
              <a:t>y[2] = ?</a:t>
            </a:r>
          </a:p>
        </p:txBody>
      </p:sp>
      <p:sp>
        <p:nvSpPr>
          <p:cNvPr id="22" name="Out3"/>
          <p:cNvSpPr/>
          <p:nvPr/>
        </p:nvSpPr>
        <p:spPr>
          <a:xfrm>
            <a:off x="7100000" y="3250000"/>
            <a:ext cx="14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475569"/>
                </a:solidFill>
                <a:latin typeface="Calibri"/>
              </a:rPr>
              <a:t>y[3] = ?</a:t>
            </a:r>
          </a:p>
        </p:txBody>
      </p:sp>
      <p:cxnSp>
        <p:nvCxnSpPr>
          <p:cNvPr id="23" name="c1_0"/>
          <p:cNvCxnSpPr/>
          <p:nvPr/>
        </p:nvCxnSpPr>
        <p:spPr>
          <a:xfrm>
            <a:off x="1500000" y="16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2_0"/>
          <p:cNvCxnSpPr/>
          <p:nvPr/>
        </p:nvCxnSpPr>
        <p:spPr>
          <a:xfrm>
            <a:off x="4100000" y="16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3_0"/>
          <p:cNvCxnSpPr/>
          <p:nvPr/>
        </p:nvCxnSpPr>
        <p:spPr>
          <a:xfrm>
            <a:off x="6300000" y="16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1_1"/>
          <p:cNvCxnSpPr/>
          <p:nvPr/>
        </p:nvCxnSpPr>
        <p:spPr>
          <a:xfrm>
            <a:off x="1500000" y="22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2_1"/>
          <p:cNvCxnSpPr/>
          <p:nvPr/>
        </p:nvCxnSpPr>
        <p:spPr>
          <a:xfrm>
            <a:off x="4100000" y="22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3_1"/>
          <p:cNvCxnSpPr/>
          <p:nvPr/>
        </p:nvCxnSpPr>
        <p:spPr>
          <a:xfrm>
            <a:off x="6300000" y="22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1_2"/>
          <p:cNvCxnSpPr/>
          <p:nvPr/>
        </p:nvCxnSpPr>
        <p:spPr>
          <a:xfrm>
            <a:off x="1500000" y="28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2_2"/>
          <p:cNvCxnSpPr/>
          <p:nvPr/>
        </p:nvCxnSpPr>
        <p:spPr>
          <a:xfrm>
            <a:off x="4100000" y="28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3_2"/>
          <p:cNvCxnSpPr/>
          <p:nvPr/>
        </p:nvCxnSpPr>
        <p:spPr>
          <a:xfrm>
            <a:off x="6300000" y="28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1_3"/>
          <p:cNvCxnSpPr/>
          <p:nvPr/>
        </p:nvCxnSpPr>
        <p:spPr>
          <a:xfrm>
            <a:off x="1500000" y="34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2_3"/>
          <p:cNvCxnSpPr/>
          <p:nvPr/>
        </p:nvCxnSpPr>
        <p:spPr>
          <a:xfrm>
            <a:off x="4100000" y="34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3_3"/>
          <p:cNvCxnSpPr/>
          <p:nvPr/>
        </p:nvCxnSpPr>
        <p:spPr>
          <a:xfrm>
            <a:off x="6300000" y="34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p"/>
          <p:cNvSpPr/>
          <p:nvPr/>
        </p:nvSpPr>
        <p:spPr>
          <a:xfrm>
            <a:off x="548640" y="4520000"/>
            <a:ext cx="8046720" cy="280000"/>
          </a:xfrm>
          <a:prstGeom prst="rect">
            <a:avLst/>
          </a:prstGeom>
          <a:noFill/>
          <a:ln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Hillis-Steele preko MZI: log₂N = 2 sloja za N=4 ulaza, paralelno po λ (WDM)</a:t>
            </a:r>
          </a:p>
        </p:txBody>
      </p:sp>
      <p:sp>
        <p:nvSpPr>
          <p:cNvPr id="36" name="PageNum"/>
          <p:cNvSpPr txBox="1"/>
          <p:nvPr/>
        </p:nvSpPr>
        <p:spPr>
          <a:xfrm>
            <a:off x="8593962" y="4754880"/>
            <a:ext cx="2757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18/25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Korak 1: kodiranje ulaza u svetlost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Električni x[i] → optička amplituda na λᵢ</a:t>
            </a:r>
          </a:p>
        </p:txBody>
      </p:sp>
      <p:sp>
        <p:nvSpPr>
          <p:cNvPr id="10" name="In0"/>
          <p:cNvSpPr/>
          <p:nvPr/>
        </p:nvSpPr>
        <p:spPr>
          <a:xfrm>
            <a:off x="600000" y="1450000"/>
            <a:ext cx="900000" cy="45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λ0: x[0] = 3</a:t>
            </a:r>
          </a:p>
        </p:txBody>
      </p:sp>
      <p:sp>
        <p:nvSpPr>
          <p:cNvPr id="11" name="In1"/>
          <p:cNvSpPr/>
          <p:nvPr/>
        </p:nvSpPr>
        <p:spPr>
          <a:xfrm>
            <a:off x="600000" y="2050000"/>
            <a:ext cx="900000" cy="45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λ1: x[1] = 1</a:t>
            </a:r>
          </a:p>
        </p:txBody>
      </p:sp>
      <p:sp>
        <p:nvSpPr>
          <p:cNvPr id="12" name="In2"/>
          <p:cNvSpPr/>
          <p:nvPr/>
        </p:nvSpPr>
        <p:spPr>
          <a:xfrm>
            <a:off x="600000" y="2650000"/>
            <a:ext cx="900000" cy="45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λ2: x[2] = 4</a:t>
            </a:r>
          </a:p>
        </p:txBody>
      </p:sp>
      <p:sp>
        <p:nvSpPr>
          <p:cNvPr id="13" name="In3"/>
          <p:cNvSpPr/>
          <p:nvPr/>
        </p:nvSpPr>
        <p:spPr>
          <a:xfrm>
            <a:off x="600000" y="3250000"/>
            <a:ext cx="900000" cy="45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λ3: x[3] = 2</a:t>
            </a:r>
          </a:p>
        </p:txBody>
      </p:sp>
      <p:sp>
        <p:nvSpPr>
          <p:cNvPr id="14" name="L10"/>
          <p:cNvSpPr/>
          <p:nvPr/>
        </p:nvSpPr>
        <p:spPr>
          <a:xfrm>
            <a:off x="2700000" y="17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λ0,λ1 → +</a:t>
            </a:r>
          </a:p>
        </p:txBody>
      </p:sp>
      <p:sp>
        <p:nvSpPr>
          <p:cNvPr id="15" name="L11"/>
          <p:cNvSpPr/>
          <p:nvPr/>
        </p:nvSpPr>
        <p:spPr>
          <a:xfrm>
            <a:off x="2700000" y="23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λ1,λ2 → +</a:t>
            </a:r>
          </a:p>
        </p:txBody>
      </p:sp>
      <p:sp>
        <p:nvSpPr>
          <p:cNvPr id="16" name="L12"/>
          <p:cNvSpPr/>
          <p:nvPr/>
        </p:nvSpPr>
        <p:spPr>
          <a:xfrm>
            <a:off x="2700000" y="29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λ2,λ3 → +</a:t>
            </a:r>
          </a:p>
        </p:txBody>
      </p:sp>
      <p:sp>
        <p:nvSpPr>
          <p:cNvPr id="17" name="L20"/>
          <p:cNvSpPr/>
          <p:nvPr/>
        </p:nvSpPr>
        <p:spPr>
          <a:xfrm>
            <a:off x="4900000" y="20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stride 2: x[0]+x[2]</a:t>
            </a:r>
          </a:p>
        </p:txBody>
      </p:sp>
      <p:sp>
        <p:nvSpPr>
          <p:cNvPr id="18" name="L21"/>
          <p:cNvSpPr/>
          <p:nvPr/>
        </p:nvSpPr>
        <p:spPr>
          <a:xfrm>
            <a:off x="4900000" y="26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stride 2: x[1]+x[3]</a:t>
            </a:r>
          </a:p>
        </p:txBody>
      </p:sp>
      <p:sp>
        <p:nvSpPr>
          <p:cNvPr id="19" name="Out0"/>
          <p:cNvSpPr/>
          <p:nvPr/>
        </p:nvSpPr>
        <p:spPr>
          <a:xfrm>
            <a:off x="7100000" y="1450000"/>
            <a:ext cx="14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475569"/>
                </a:solidFill>
                <a:latin typeface="Calibri"/>
              </a:rPr>
              <a:t>y[0] = ?</a:t>
            </a:r>
          </a:p>
        </p:txBody>
      </p:sp>
      <p:sp>
        <p:nvSpPr>
          <p:cNvPr id="20" name="Out1"/>
          <p:cNvSpPr/>
          <p:nvPr/>
        </p:nvSpPr>
        <p:spPr>
          <a:xfrm>
            <a:off x="7100000" y="2050000"/>
            <a:ext cx="14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475569"/>
                </a:solidFill>
                <a:latin typeface="Calibri"/>
              </a:rPr>
              <a:t>y[1] = ?</a:t>
            </a:r>
          </a:p>
        </p:txBody>
      </p:sp>
      <p:sp>
        <p:nvSpPr>
          <p:cNvPr id="21" name="Out2"/>
          <p:cNvSpPr/>
          <p:nvPr/>
        </p:nvSpPr>
        <p:spPr>
          <a:xfrm>
            <a:off x="7100000" y="2650000"/>
            <a:ext cx="14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475569"/>
                </a:solidFill>
                <a:latin typeface="Calibri"/>
              </a:rPr>
              <a:t>y[2] = ?</a:t>
            </a:r>
          </a:p>
        </p:txBody>
      </p:sp>
      <p:sp>
        <p:nvSpPr>
          <p:cNvPr id="22" name="Out3"/>
          <p:cNvSpPr/>
          <p:nvPr/>
        </p:nvSpPr>
        <p:spPr>
          <a:xfrm>
            <a:off x="7100000" y="3250000"/>
            <a:ext cx="14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475569"/>
                </a:solidFill>
                <a:latin typeface="Calibri"/>
              </a:rPr>
              <a:t>y[3] = ?</a:t>
            </a:r>
          </a:p>
        </p:txBody>
      </p:sp>
      <p:cxnSp>
        <p:nvCxnSpPr>
          <p:cNvPr id="23" name="c1_0"/>
          <p:cNvCxnSpPr/>
          <p:nvPr/>
        </p:nvCxnSpPr>
        <p:spPr>
          <a:xfrm>
            <a:off x="1500000" y="16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2_0"/>
          <p:cNvCxnSpPr/>
          <p:nvPr/>
        </p:nvCxnSpPr>
        <p:spPr>
          <a:xfrm>
            <a:off x="4100000" y="16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3_0"/>
          <p:cNvCxnSpPr/>
          <p:nvPr/>
        </p:nvCxnSpPr>
        <p:spPr>
          <a:xfrm>
            <a:off x="6300000" y="16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1_1"/>
          <p:cNvCxnSpPr/>
          <p:nvPr/>
        </p:nvCxnSpPr>
        <p:spPr>
          <a:xfrm>
            <a:off x="1500000" y="22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2_1"/>
          <p:cNvCxnSpPr/>
          <p:nvPr/>
        </p:nvCxnSpPr>
        <p:spPr>
          <a:xfrm>
            <a:off x="4100000" y="22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3_1"/>
          <p:cNvCxnSpPr/>
          <p:nvPr/>
        </p:nvCxnSpPr>
        <p:spPr>
          <a:xfrm>
            <a:off x="6300000" y="22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1_2"/>
          <p:cNvCxnSpPr/>
          <p:nvPr/>
        </p:nvCxnSpPr>
        <p:spPr>
          <a:xfrm>
            <a:off x="1500000" y="28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2_2"/>
          <p:cNvCxnSpPr/>
          <p:nvPr/>
        </p:nvCxnSpPr>
        <p:spPr>
          <a:xfrm>
            <a:off x="4100000" y="28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3_2"/>
          <p:cNvCxnSpPr/>
          <p:nvPr/>
        </p:nvCxnSpPr>
        <p:spPr>
          <a:xfrm>
            <a:off x="6300000" y="28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1_3"/>
          <p:cNvCxnSpPr/>
          <p:nvPr/>
        </p:nvCxnSpPr>
        <p:spPr>
          <a:xfrm>
            <a:off x="1500000" y="34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2_3"/>
          <p:cNvCxnSpPr/>
          <p:nvPr/>
        </p:nvCxnSpPr>
        <p:spPr>
          <a:xfrm>
            <a:off x="4100000" y="34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3_3"/>
          <p:cNvCxnSpPr/>
          <p:nvPr/>
        </p:nvCxnSpPr>
        <p:spPr>
          <a:xfrm>
            <a:off x="6300000" y="34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p"/>
          <p:cNvSpPr/>
          <p:nvPr/>
        </p:nvSpPr>
        <p:spPr>
          <a:xfrm>
            <a:off x="548640" y="4520000"/>
            <a:ext cx="8046720" cy="280000"/>
          </a:xfrm>
          <a:prstGeom prst="rect">
            <a:avLst/>
          </a:prstGeom>
          <a:noFill/>
          <a:ln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DAC kodira x[i] u amplitudu/fazu lasera; svaki kanal koristi posebnu λ (WDM)</a:t>
            </a:r>
          </a:p>
        </p:txBody>
      </p:sp>
      <p:sp>
        <p:nvSpPr>
          <p:cNvPr id="36" name="PageNum"/>
          <p:cNvSpPr txBox="1"/>
          <p:nvPr/>
        </p:nvSpPr>
        <p:spPr>
          <a:xfrm>
            <a:off x="8593962" y="4754880"/>
            <a:ext cx="2757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19/25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Korak 2: sloj 1 — stride 1 MZI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Sve adjacent sume u jednom propagacionom koraku (≈ ps po sloju)</a:t>
            </a:r>
          </a:p>
        </p:txBody>
      </p:sp>
      <p:sp>
        <p:nvSpPr>
          <p:cNvPr id="10" name="In0"/>
          <p:cNvSpPr/>
          <p:nvPr/>
        </p:nvSpPr>
        <p:spPr>
          <a:xfrm>
            <a:off x="600000" y="1450000"/>
            <a:ext cx="9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λ0: x[0] = 3</a:t>
            </a:r>
          </a:p>
        </p:txBody>
      </p:sp>
      <p:sp>
        <p:nvSpPr>
          <p:cNvPr id="11" name="In1"/>
          <p:cNvSpPr/>
          <p:nvPr/>
        </p:nvSpPr>
        <p:spPr>
          <a:xfrm>
            <a:off x="600000" y="2050000"/>
            <a:ext cx="9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λ1: x[1] = 1</a:t>
            </a:r>
          </a:p>
        </p:txBody>
      </p:sp>
      <p:sp>
        <p:nvSpPr>
          <p:cNvPr id="12" name="In2"/>
          <p:cNvSpPr/>
          <p:nvPr/>
        </p:nvSpPr>
        <p:spPr>
          <a:xfrm>
            <a:off x="600000" y="2650000"/>
            <a:ext cx="9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λ2: x[2] = 4</a:t>
            </a:r>
          </a:p>
        </p:txBody>
      </p:sp>
      <p:sp>
        <p:nvSpPr>
          <p:cNvPr id="13" name="In3"/>
          <p:cNvSpPr/>
          <p:nvPr/>
        </p:nvSpPr>
        <p:spPr>
          <a:xfrm>
            <a:off x="600000" y="3250000"/>
            <a:ext cx="9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λ3: x[3] = 2</a:t>
            </a:r>
          </a:p>
        </p:txBody>
      </p:sp>
      <p:sp>
        <p:nvSpPr>
          <p:cNvPr id="14" name="L10"/>
          <p:cNvSpPr/>
          <p:nvPr/>
        </p:nvSpPr>
        <p:spPr>
          <a:xfrm>
            <a:off x="2700000" y="1775000"/>
            <a:ext cx="1400000" cy="4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</a:rPr>
              <a:t>λ0,λ1 → +</a:t>
            </a:r>
          </a:p>
        </p:txBody>
      </p:sp>
      <p:sp>
        <p:nvSpPr>
          <p:cNvPr id="15" name="L11"/>
          <p:cNvSpPr/>
          <p:nvPr/>
        </p:nvSpPr>
        <p:spPr>
          <a:xfrm>
            <a:off x="2700000" y="2375000"/>
            <a:ext cx="1400000" cy="4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</a:rPr>
              <a:t>λ1,λ2 → +</a:t>
            </a:r>
          </a:p>
        </p:txBody>
      </p:sp>
      <p:sp>
        <p:nvSpPr>
          <p:cNvPr id="16" name="L12"/>
          <p:cNvSpPr/>
          <p:nvPr/>
        </p:nvSpPr>
        <p:spPr>
          <a:xfrm>
            <a:off x="2700000" y="2975000"/>
            <a:ext cx="1400000" cy="4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</a:rPr>
              <a:t>λ2,λ3 → +</a:t>
            </a:r>
          </a:p>
        </p:txBody>
      </p:sp>
      <p:sp>
        <p:nvSpPr>
          <p:cNvPr id="17" name="L20"/>
          <p:cNvSpPr/>
          <p:nvPr/>
        </p:nvSpPr>
        <p:spPr>
          <a:xfrm>
            <a:off x="4900000" y="20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stride 2: x[0]+x[2]</a:t>
            </a:r>
          </a:p>
        </p:txBody>
      </p:sp>
      <p:sp>
        <p:nvSpPr>
          <p:cNvPr id="18" name="L21"/>
          <p:cNvSpPr/>
          <p:nvPr/>
        </p:nvSpPr>
        <p:spPr>
          <a:xfrm>
            <a:off x="4900000" y="26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stride 2: x[1]+x[3]</a:t>
            </a:r>
          </a:p>
        </p:txBody>
      </p:sp>
      <p:sp>
        <p:nvSpPr>
          <p:cNvPr id="19" name="Out0"/>
          <p:cNvSpPr/>
          <p:nvPr/>
        </p:nvSpPr>
        <p:spPr>
          <a:xfrm>
            <a:off x="7100000" y="1450000"/>
            <a:ext cx="14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475569"/>
                </a:solidFill>
                <a:latin typeface="Calibri"/>
              </a:rPr>
              <a:t>y[0] = ?</a:t>
            </a:r>
          </a:p>
        </p:txBody>
      </p:sp>
      <p:sp>
        <p:nvSpPr>
          <p:cNvPr id="20" name="Out1"/>
          <p:cNvSpPr/>
          <p:nvPr/>
        </p:nvSpPr>
        <p:spPr>
          <a:xfrm>
            <a:off x="7100000" y="2050000"/>
            <a:ext cx="14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475569"/>
                </a:solidFill>
                <a:latin typeface="Calibri"/>
              </a:rPr>
              <a:t>y[1] = ?</a:t>
            </a:r>
          </a:p>
        </p:txBody>
      </p:sp>
      <p:sp>
        <p:nvSpPr>
          <p:cNvPr id="21" name="Out2"/>
          <p:cNvSpPr/>
          <p:nvPr/>
        </p:nvSpPr>
        <p:spPr>
          <a:xfrm>
            <a:off x="7100000" y="2650000"/>
            <a:ext cx="14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475569"/>
                </a:solidFill>
                <a:latin typeface="Calibri"/>
              </a:rPr>
              <a:t>y[2] = ?</a:t>
            </a:r>
          </a:p>
        </p:txBody>
      </p:sp>
      <p:sp>
        <p:nvSpPr>
          <p:cNvPr id="22" name="Out3"/>
          <p:cNvSpPr/>
          <p:nvPr/>
        </p:nvSpPr>
        <p:spPr>
          <a:xfrm>
            <a:off x="7100000" y="3250000"/>
            <a:ext cx="14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475569"/>
                </a:solidFill>
                <a:latin typeface="Calibri"/>
              </a:rPr>
              <a:t>y[3] = ?</a:t>
            </a:r>
          </a:p>
        </p:txBody>
      </p:sp>
      <p:cxnSp>
        <p:nvCxnSpPr>
          <p:cNvPr id="23" name="c1_0"/>
          <p:cNvCxnSpPr/>
          <p:nvPr/>
        </p:nvCxnSpPr>
        <p:spPr>
          <a:xfrm>
            <a:off x="1500000" y="16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2_0"/>
          <p:cNvCxnSpPr/>
          <p:nvPr/>
        </p:nvCxnSpPr>
        <p:spPr>
          <a:xfrm>
            <a:off x="4100000" y="16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3_0"/>
          <p:cNvCxnSpPr/>
          <p:nvPr/>
        </p:nvCxnSpPr>
        <p:spPr>
          <a:xfrm>
            <a:off x="6300000" y="16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1_1"/>
          <p:cNvCxnSpPr/>
          <p:nvPr/>
        </p:nvCxnSpPr>
        <p:spPr>
          <a:xfrm>
            <a:off x="1500000" y="22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2_1"/>
          <p:cNvCxnSpPr/>
          <p:nvPr/>
        </p:nvCxnSpPr>
        <p:spPr>
          <a:xfrm>
            <a:off x="4100000" y="22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3_1"/>
          <p:cNvCxnSpPr/>
          <p:nvPr/>
        </p:nvCxnSpPr>
        <p:spPr>
          <a:xfrm>
            <a:off x="6300000" y="22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1_2"/>
          <p:cNvCxnSpPr/>
          <p:nvPr/>
        </p:nvCxnSpPr>
        <p:spPr>
          <a:xfrm>
            <a:off x="1500000" y="28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2_2"/>
          <p:cNvCxnSpPr/>
          <p:nvPr/>
        </p:nvCxnSpPr>
        <p:spPr>
          <a:xfrm>
            <a:off x="4100000" y="28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3_2"/>
          <p:cNvCxnSpPr/>
          <p:nvPr/>
        </p:nvCxnSpPr>
        <p:spPr>
          <a:xfrm>
            <a:off x="6300000" y="28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1_3"/>
          <p:cNvCxnSpPr/>
          <p:nvPr/>
        </p:nvCxnSpPr>
        <p:spPr>
          <a:xfrm>
            <a:off x="1500000" y="34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2_3"/>
          <p:cNvCxnSpPr/>
          <p:nvPr/>
        </p:nvCxnSpPr>
        <p:spPr>
          <a:xfrm>
            <a:off x="4100000" y="34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3_3"/>
          <p:cNvCxnSpPr/>
          <p:nvPr/>
        </p:nvCxnSpPr>
        <p:spPr>
          <a:xfrm>
            <a:off x="6300000" y="34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p"/>
          <p:cNvSpPr/>
          <p:nvPr/>
        </p:nvSpPr>
        <p:spPr>
          <a:xfrm>
            <a:off x="548640" y="4520000"/>
            <a:ext cx="8046720" cy="280000"/>
          </a:xfrm>
          <a:prstGeom prst="rect">
            <a:avLst/>
          </a:prstGeom>
          <a:noFill/>
          <a:ln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Sloj 1 (stride 1): paralelno x[i] += x[i-1] kroz interferenciju u MZI ćelijama</a:t>
            </a:r>
          </a:p>
        </p:txBody>
      </p:sp>
      <p:sp>
        <p:nvSpPr>
          <p:cNvPr id="36" name="PageNum"/>
          <p:cNvSpPr txBox="1"/>
          <p:nvPr/>
        </p:nvSpPr>
        <p:spPr>
          <a:xfrm>
            <a:off x="8593962" y="4754880"/>
            <a:ext cx="2757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20/25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Korak 3: sloj 2 → y[i] na foto-detektoru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Posle log N slojeva, ADC vraća y = [3, 4, 8, 10]</a:t>
            </a:r>
          </a:p>
        </p:txBody>
      </p:sp>
      <p:sp>
        <p:nvSpPr>
          <p:cNvPr id="10" name="In0"/>
          <p:cNvSpPr/>
          <p:nvPr/>
        </p:nvSpPr>
        <p:spPr>
          <a:xfrm>
            <a:off x="600000" y="1450000"/>
            <a:ext cx="9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λ0: x[0] = 3</a:t>
            </a:r>
          </a:p>
        </p:txBody>
      </p:sp>
      <p:sp>
        <p:nvSpPr>
          <p:cNvPr id="11" name="In1"/>
          <p:cNvSpPr/>
          <p:nvPr/>
        </p:nvSpPr>
        <p:spPr>
          <a:xfrm>
            <a:off x="600000" y="2050000"/>
            <a:ext cx="9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λ1: x[1] = 1</a:t>
            </a:r>
          </a:p>
        </p:txBody>
      </p:sp>
      <p:sp>
        <p:nvSpPr>
          <p:cNvPr id="12" name="In2"/>
          <p:cNvSpPr/>
          <p:nvPr/>
        </p:nvSpPr>
        <p:spPr>
          <a:xfrm>
            <a:off x="600000" y="2650000"/>
            <a:ext cx="9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λ2: x[2] = 4</a:t>
            </a:r>
          </a:p>
        </p:txBody>
      </p:sp>
      <p:sp>
        <p:nvSpPr>
          <p:cNvPr id="13" name="In3"/>
          <p:cNvSpPr/>
          <p:nvPr/>
        </p:nvSpPr>
        <p:spPr>
          <a:xfrm>
            <a:off x="600000" y="3250000"/>
            <a:ext cx="900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</a:rPr>
              <a:t>λ3: x[3] = 2</a:t>
            </a:r>
          </a:p>
        </p:txBody>
      </p:sp>
      <p:sp>
        <p:nvSpPr>
          <p:cNvPr id="14" name="L10"/>
          <p:cNvSpPr/>
          <p:nvPr/>
        </p:nvSpPr>
        <p:spPr>
          <a:xfrm>
            <a:off x="2700000" y="17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λ0,λ1 → +</a:t>
            </a:r>
          </a:p>
        </p:txBody>
      </p:sp>
      <p:sp>
        <p:nvSpPr>
          <p:cNvPr id="15" name="L11"/>
          <p:cNvSpPr/>
          <p:nvPr/>
        </p:nvSpPr>
        <p:spPr>
          <a:xfrm>
            <a:off x="2700000" y="23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λ1,λ2 → +</a:t>
            </a:r>
          </a:p>
        </p:txBody>
      </p:sp>
      <p:sp>
        <p:nvSpPr>
          <p:cNvPr id="16" name="L12"/>
          <p:cNvSpPr/>
          <p:nvPr/>
        </p:nvSpPr>
        <p:spPr>
          <a:xfrm>
            <a:off x="2700000" y="2975000"/>
            <a:ext cx="1400000" cy="40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1E293B"/>
                </a:solidFill>
                <a:latin typeface="Calibri"/>
              </a:rPr>
              <a:t>λ2,λ3 → +</a:t>
            </a:r>
          </a:p>
        </p:txBody>
      </p:sp>
      <p:sp>
        <p:nvSpPr>
          <p:cNvPr id="17" name="L20"/>
          <p:cNvSpPr/>
          <p:nvPr/>
        </p:nvSpPr>
        <p:spPr>
          <a:xfrm>
            <a:off x="4900000" y="2075000"/>
            <a:ext cx="1400000" cy="4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</a:rPr>
              <a:t>stride 2: x[0]+x[2]</a:t>
            </a:r>
          </a:p>
        </p:txBody>
      </p:sp>
      <p:sp>
        <p:nvSpPr>
          <p:cNvPr id="18" name="L21"/>
          <p:cNvSpPr/>
          <p:nvPr/>
        </p:nvSpPr>
        <p:spPr>
          <a:xfrm>
            <a:off x="4900000" y="2675000"/>
            <a:ext cx="1400000" cy="4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65A6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</a:rPr>
              <a:t>stride 2: x[1]+x[3]</a:t>
            </a:r>
          </a:p>
        </p:txBody>
      </p:sp>
      <p:sp>
        <p:nvSpPr>
          <p:cNvPr id="19" name="Out0"/>
          <p:cNvSpPr/>
          <p:nvPr/>
        </p:nvSpPr>
        <p:spPr>
          <a:xfrm>
            <a:off x="7100000" y="1450000"/>
            <a:ext cx="1400000" cy="450000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92400E"/>
                </a:solidFill>
                <a:latin typeface="Calibri"/>
              </a:rPr>
              <a:t>y[0] = 3</a:t>
            </a:r>
          </a:p>
        </p:txBody>
      </p:sp>
      <p:sp>
        <p:nvSpPr>
          <p:cNvPr id="20" name="Out1"/>
          <p:cNvSpPr/>
          <p:nvPr/>
        </p:nvSpPr>
        <p:spPr>
          <a:xfrm>
            <a:off x="7100000" y="2050000"/>
            <a:ext cx="1400000" cy="450000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92400E"/>
                </a:solidFill>
                <a:latin typeface="Calibri"/>
              </a:rPr>
              <a:t>y[1] = 4</a:t>
            </a:r>
          </a:p>
        </p:txBody>
      </p:sp>
      <p:sp>
        <p:nvSpPr>
          <p:cNvPr id="21" name="Out2"/>
          <p:cNvSpPr/>
          <p:nvPr/>
        </p:nvSpPr>
        <p:spPr>
          <a:xfrm>
            <a:off x="7100000" y="2650000"/>
            <a:ext cx="1400000" cy="450000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92400E"/>
                </a:solidFill>
                <a:latin typeface="Calibri"/>
              </a:rPr>
              <a:t>y[2] = 8</a:t>
            </a:r>
          </a:p>
        </p:txBody>
      </p:sp>
      <p:sp>
        <p:nvSpPr>
          <p:cNvPr id="22" name="Out3"/>
          <p:cNvSpPr/>
          <p:nvPr/>
        </p:nvSpPr>
        <p:spPr>
          <a:xfrm>
            <a:off x="7100000" y="3250000"/>
            <a:ext cx="1400000" cy="450000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92400E"/>
                </a:solidFill>
                <a:latin typeface="Calibri"/>
              </a:rPr>
              <a:t>y[3] = 10</a:t>
            </a:r>
          </a:p>
        </p:txBody>
      </p:sp>
      <p:cxnSp>
        <p:nvCxnSpPr>
          <p:cNvPr id="23" name="c1_0"/>
          <p:cNvCxnSpPr/>
          <p:nvPr/>
        </p:nvCxnSpPr>
        <p:spPr>
          <a:xfrm>
            <a:off x="1500000" y="16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2_0"/>
          <p:cNvCxnSpPr/>
          <p:nvPr/>
        </p:nvCxnSpPr>
        <p:spPr>
          <a:xfrm>
            <a:off x="4100000" y="16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3_0"/>
          <p:cNvCxnSpPr/>
          <p:nvPr/>
        </p:nvCxnSpPr>
        <p:spPr>
          <a:xfrm>
            <a:off x="6300000" y="16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1_1"/>
          <p:cNvCxnSpPr/>
          <p:nvPr/>
        </p:nvCxnSpPr>
        <p:spPr>
          <a:xfrm>
            <a:off x="1500000" y="22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2_1"/>
          <p:cNvCxnSpPr/>
          <p:nvPr/>
        </p:nvCxnSpPr>
        <p:spPr>
          <a:xfrm>
            <a:off x="4100000" y="22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3_1"/>
          <p:cNvCxnSpPr/>
          <p:nvPr/>
        </p:nvCxnSpPr>
        <p:spPr>
          <a:xfrm>
            <a:off x="6300000" y="22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1_2"/>
          <p:cNvCxnSpPr/>
          <p:nvPr/>
        </p:nvCxnSpPr>
        <p:spPr>
          <a:xfrm>
            <a:off x="1500000" y="28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2_2"/>
          <p:cNvCxnSpPr/>
          <p:nvPr/>
        </p:nvCxnSpPr>
        <p:spPr>
          <a:xfrm>
            <a:off x="4100000" y="28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3_2"/>
          <p:cNvCxnSpPr/>
          <p:nvPr/>
        </p:nvCxnSpPr>
        <p:spPr>
          <a:xfrm>
            <a:off x="6300000" y="28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1_3"/>
          <p:cNvCxnSpPr/>
          <p:nvPr/>
        </p:nvCxnSpPr>
        <p:spPr>
          <a:xfrm>
            <a:off x="1500000" y="3475000"/>
            <a:ext cx="12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2_3"/>
          <p:cNvCxnSpPr/>
          <p:nvPr/>
        </p:nvCxnSpPr>
        <p:spPr>
          <a:xfrm>
            <a:off x="4100000" y="34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3_3"/>
          <p:cNvCxnSpPr/>
          <p:nvPr/>
        </p:nvCxnSpPr>
        <p:spPr>
          <a:xfrm>
            <a:off x="6300000" y="3475000"/>
            <a:ext cx="800000" cy="1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p"/>
          <p:cNvSpPr/>
          <p:nvPr/>
        </p:nvSpPr>
        <p:spPr>
          <a:xfrm>
            <a:off x="548640" y="4520000"/>
            <a:ext cx="8046720" cy="280000"/>
          </a:xfrm>
          <a:prstGeom prst="rect">
            <a:avLst/>
          </a:prstGeom>
          <a:noFill/>
          <a:ln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Sloj 2 (stride 2): finalni prefiks dostupan — foto-detektor čita y[i] kao struju</a:t>
            </a:r>
          </a:p>
        </p:txBody>
      </p:sp>
      <p:sp>
        <p:nvSpPr>
          <p:cNvPr id="36" name="PageNum"/>
          <p:cNvSpPr txBox="1"/>
          <p:nvPr/>
        </p:nvSpPr>
        <p:spPr>
          <a:xfrm>
            <a:off x="8593962" y="4754880"/>
            <a:ext cx="2757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21/25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Opto detalj: realna implementacija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Hibridna elektro-optička arhitektura — svetlost računa, elektronika kontroliše</a:t>
            </a:r>
          </a:p>
        </p:txBody>
      </p:sp>
      <p:sp>
        <p:nvSpPr>
          <p:cNvPr id="10" name="ColBG"/>
          <p:cNvSpPr/>
          <p:nvPr/>
        </p:nvSpPr>
        <p:spPr>
          <a:xfrm>
            <a:off x="548640" y="1280160"/>
            <a:ext cx="4297680" cy="28800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ColHdr"/>
          <p:cNvSpPr/>
          <p:nvPr/>
        </p:nvSpPr>
        <p:spPr>
          <a:xfrm>
            <a:off x="685800" y="1371600"/>
            <a:ext cx="402336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 dirty="0" err="1">
                <a:solidFill>
                  <a:srgbClr val="065A60"/>
                </a:solidFill>
                <a:latin typeface="Trebuchet MS"/>
              </a:rPr>
              <a:t>Konkretna</a:t>
            </a:r>
            <a:r>
              <a:rPr lang="en-US" sz="1400" b="1" dirty="0">
                <a:solidFill>
                  <a:srgbClr val="065A60"/>
                </a:solidFill>
                <a:latin typeface="Trebuchet MS"/>
              </a:rPr>
              <a:t> </a:t>
            </a:r>
            <a:r>
              <a:rPr lang="en-US" sz="1400" b="1" dirty="0" err="1">
                <a:solidFill>
                  <a:srgbClr val="065A60"/>
                </a:solidFill>
                <a:latin typeface="Trebuchet MS"/>
              </a:rPr>
              <a:t>platforma</a:t>
            </a:r>
            <a:r>
              <a:rPr lang="en-US" sz="1400" b="1" dirty="0">
                <a:solidFill>
                  <a:srgbClr val="065A60"/>
                </a:solidFill>
                <a:latin typeface="Trebuchet MS"/>
              </a:rPr>
              <a:t> (</a:t>
            </a:r>
            <a:r>
              <a:rPr lang="en-US" sz="1400" b="1" dirty="0" err="1">
                <a:solidFill>
                  <a:srgbClr val="065A60"/>
                </a:solidFill>
                <a:latin typeface="Trebuchet MS"/>
              </a:rPr>
              <a:t>Lightmatter</a:t>
            </a:r>
            <a:r>
              <a:rPr lang="en-US" sz="1400" b="1" dirty="0">
                <a:solidFill>
                  <a:srgbClr val="065A60"/>
                </a:solidFill>
                <a:latin typeface="Trebuchet MS"/>
              </a:rPr>
              <a:t>)</a:t>
            </a:r>
          </a:p>
        </p:txBody>
      </p:sp>
      <p:sp>
        <p:nvSpPr>
          <p:cNvPr id="12" name="ColBody"/>
          <p:cNvSpPr/>
          <p:nvPr/>
        </p:nvSpPr>
        <p:spPr>
          <a:xfrm>
            <a:off x="731520" y="1783080"/>
            <a:ext cx="3931920" cy="22856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6-chip 3D </a:t>
            </a:r>
            <a:r>
              <a:rPr lang="en-US" sz="1100" b="1" dirty="0" err="1">
                <a:solidFill>
                  <a:srgbClr val="065A60"/>
                </a:solidFill>
                <a:latin typeface="Calibri"/>
              </a:rPr>
              <a:t>modul</a:t>
            </a:r>
            <a:r>
              <a:rPr lang="en-US" sz="1100" b="1" dirty="0">
                <a:solidFill>
                  <a:srgbClr val="065A60"/>
                </a:solidFill>
                <a:latin typeface="Calibri"/>
              </a:rPr>
              <a:t>: 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~50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mlrd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tranzistora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+                                           1M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fotonskih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komponenti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ABFP format: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adaptivni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block FP —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tačnost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bliska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FP32</a:t>
            </a:r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MZI </a:t>
            </a:r>
            <a:r>
              <a:rPr lang="en-US" sz="1100" b="1" dirty="0" err="1">
                <a:solidFill>
                  <a:srgbClr val="065A60"/>
                </a:solidFill>
                <a:latin typeface="Calibri"/>
              </a:rPr>
              <a:t>mreža</a:t>
            </a:r>
            <a:r>
              <a:rPr lang="en-US" sz="1100" b="1" dirty="0">
                <a:solidFill>
                  <a:srgbClr val="065A60"/>
                </a:solidFill>
                <a:latin typeface="Calibri"/>
              </a:rPr>
              <a:t>: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matrično-vektorsko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množenje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preko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interferencije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WDM: 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16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talasnih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dužina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paralelno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po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jednom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kanalu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065A60"/>
                </a:solidFill>
                <a:latin typeface="Calibri"/>
              </a:rPr>
              <a:t>Bottleneck: 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AD/DA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konverzija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— ~7–8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bita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rezolucije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po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operaciji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0" name="MetricBG"/>
          <p:cNvSpPr/>
          <p:nvPr/>
        </p:nvSpPr>
        <p:spPr>
          <a:xfrm>
            <a:off x="5212080" y="1280160"/>
            <a:ext cx="3383280" cy="6858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MetricTxt"/>
          <p:cNvSpPr/>
          <p:nvPr/>
        </p:nvSpPr>
        <p:spPr>
          <a:xfrm>
            <a:off x="5303520" y="1325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</a:rPr>
              <a:t>Performansa</a:t>
            </a:r>
          </a:p>
          <a:p>
            <a:pPr algn="ctr">
              <a:buNone/>
            </a:pPr>
            <a:r>
              <a:rPr lang="en-US" sz="1600" b="1">
                <a:solidFill>
                  <a:srgbClr val="92400E"/>
                </a:solidFill>
                <a:latin typeface="Trebuchet MS"/>
              </a:rPr>
              <a:t>65.5 TOPs</a:t>
            </a:r>
          </a:p>
          <a:p>
            <a:pPr algn="ctr">
              <a:buNone/>
            </a:pPr>
            <a:r>
              <a:rPr lang="en-US" sz="900">
                <a:solidFill>
                  <a:srgbClr val="475569"/>
                </a:solidFill>
                <a:latin typeface="Calibri"/>
              </a:rPr>
              <a:t>16-bit ABFP</a:t>
            </a:r>
          </a:p>
        </p:txBody>
      </p:sp>
      <p:sp>
        <p:nvSpPr>
          <p:cNvPr id="22" name="MetricBG"/>
          <p:cNvSpPr/>
          <p:nvPr/>
        </p:nvSpPr>
        <p:spPr>
          <a:xfrm>
            <a:off x="5212080" y="2057400"/>
            <a:ext cx="3383280" cy="6858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MetricTxt"/>
          <p:cNvSpPr/>
          <p:nvPr/>
        </p:nvSpPr>
        <p:spPr>
          <a:xfrm>
            <a:off x="5303520" y="2103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</a:rPr>
              <a:t>Energija</a:t>
            </a:r>
          </a:p>
          <a:p>
            <a:pPr algn="ctr">
              <a:buNone/>
            </a:pPr>
            <a:r>
              <a:rPr lang="en-US" sz="1600" b="1">
                <a:solidFill>
                  <a:srgbClr val="0D9488"/>
                </a:solidFill>
                <a:latin typeface="Trebuchet MS"/>
              </a:rPr>
              <a:t>78 W + 1.6 W</a:t>
            </a:r>
          </a:p>
          <a:p>
            <a:pPr algn="ctr">
              <a:buNone/>
            </a:pPr>
            <a:r>
              <a:rPr lang="en-US" sz="900">
                <a:solidFill>
                  <a:srgbClr val="475569"/>
                </a:solidFill>
                <a:latin typeface="Calibri"/>
              </a:rPr>
              <a:t>električno + optičko</a:t>
            </a:r>
          </a:p>
        </p:txBody>
      </p:sp>
      <p:sp>
        <p:nvSpPr>
          <p:cNvPr id="24" name="MetricBG"/>
          <p:cNvSpPr/>
          <p:nvPr/>
        </p:nvSpPr>
        <p:spPr>
          <a:xfrm>
            <a:off x="5212080" y="2834640"/>
            <a:ext cx="3383280" cy="68580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MetricTxt"/>
          <p:cNvSpPr/>
          <p:nvPr/>
        </p:nvSpPr>
        <p:spPr>
          <a:xfrm>
            <a:off x="5303520" y="2880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</a:rPr>
              <a:t>Brzina po sloju</a:t>
            </a:r>
          </a:p>
          <a:p>
            <a:pPr algn="ctr">
              <a:buNone/>
            </a:pPr>
            <a:r>
              <a:rPr lang="en-US" sz="1600" b="1">
                <a:solidFill>
                  <a:srgbClr val="4338CA"/>
                </a:solidFill>
                <a:latin typeface="Trebuchet MS"/>
              </a:rPr>
              <a:t>~ ps</a:t>
            </a:r>
          </a:p>
          <a:p>
            <a:pPr algn="ctr">
              <a:buNone/>
            </a:pPr>
            <a:r>
              <a:rPr lang="en-US" sz="900">
                <a:solidFill>
                  <a:srgbClr val="475569"/>
                </a:solidFill>
                <a:latin typeface="Calibri"/>
              </a:rPr>
              <a:t>vreme leta svetla kroz čip</a:t>
            </a:r>
          </a:p>
        </p:txBody>
      </p:sp>
      <p:sp>
        <p:nvSpPr>
          <p:cNvPr id="26" name="MetricBG"/>
          <p:cNvSpPr/>
          <p:nvPr/>
        </p:nvSpPr>
        <p:spPr>
          <a:xfrm>
            <a:off x="5212080" y="3611880"/>
            <a:ext cx="3383280" cy="5486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MetricTxt"/>
          <p:cNvSpPr/>
          <p:nvPr/>
        </p:nvSpPr>
        <p:spPr>
          <a:xfrm>
            <a:off x="530352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</a:rPr>
              <a:t>Realni modeli</a:t>
            </a:r>
          </a:p>
          <a:p>
            <a:pPr algn="ctr">
              <a:buNone/>
            </a:pPr>
            <a:r>
              <a:rPr lang="en-US" sz="1600" b="1">
                <a:solidFill>
                  <a:srgbClr val="92400E"/>
                </a:solidFill>
                <a:latin typeface="Trebuchet MS"/>
              </a:rPr>
              <a:t>BERT • ResNet</a:t>
            </a:r>
          </a:p>
          <a:p>
            <a:pPr algn="ctr">
              <a:buNone/>
            </a:pPr>
            <a:r>
              <a:rPr lang="en-US" sz="900">
                <a:solidFill>
                  <a:srgbClr val="475569"/>
                </a:solidFill>
                <a:latin typeface="Calibri"/>
              </a:rPr>
              <a:t>rade bez retraining-a</a:t>
            </a:r>
          </a:p>
        </p:txBody>
      </p:sp>
      <p:sp>
        <p:nvSpPr>
          <p:cNvPr id="30" name="Footer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MRR sabirač </a:t>
            </a:r>
            <a:r>
              <a:rPr lang="en-US" sz="1100" i="1" dirty="0">
                <a:solidFill>
                  <a:srgbClr val="475569"/>
                </a:solidFill>
                <a:latin typeface="Calibri"/>
              </a:rPr>
              <a:t>(Carry-Lookahead): ~260 Gbps </a:t>
            </a:r>
            <a:r>
              <a:rPr lang="en-US" sz="1100" i="1">
                <a:solidFill>
                  <a:srgbClr val="475569"/>
                </a:solidFill>
                <a:latin typeface="Calibri"/>
              </a:rPr>
              <a:t>po operaciji — sve-optičko, bez konverzije</a:t>
            </a:r>
            <a:endParaRPr lang="en-US" sz="1100" i="1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31" name="PageNum"/>
          <p:cNvSpPr txBox="1"/>
          <p:nvPr/>
        </p:nvSpPr>
        <p:spPr>
          <a:xfrm>
            <a:off x="8593962" y="4754880"/>
            <a:ext cx="2757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22/25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Benchmark: konkretne brojke za N ≈ 10⁶ elemenata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Reference: AWS Lambda + Kinesis, TinyDB/TAG mote, Lightmatter Passage (Nature 2025)</a:t>
            </a:r>
          </a:p>
        </p:txBody>
      </p:sp>
      <p:sp>
        <p:nvSpPr>
          <p:cNvPr id="10" name="H0"/>
          <p:cNvSpPr/>
          <p:nvPr/>
        </p:nvSpPr>
        <p:spPr>
          <a:xfrm>
            <a:off x="548640" y="1280160"/>
            <a:ext cx="1900000" cy="425000"/>
          </a:xfrm>
          <a:prstGeom prst="rect">
            <a:avLst/>
          </a:prstGeom>
          <a:solidFill>
            <a:srgbClr val="334155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Metrika</a:t>
            </a:r>
          </a:p>
        </p:txBody>
      </p:sp>
      <p:sp>
        <p:nvSpPr>
          <p:cNvPr id="11" name="H1"/>
          <p:cNvSpPr/>
          <p:nvPr/>
        </p:nvSpPr>
        <p:spPr>
          <a:xfrm>
            <a:off x="2448640" y="1280160"/>
            <a:ext cx="1980000" cy="425000"/>
          </a:xfrm>
          <a:prstGeom prst="rect">
            <a:avLst/>
          </a:prstGeom>
          <a:solidFill>
            <a:srgbClr val="334155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IoT (AWS/Azure)</a:t>
            </a:r>
          </a:p>
        </p:txBody>
      </p:sp>
      <p:sp>
        <p:nvSpPr>
          <p:cNvPr id="12" name="H2"/>
          <p:cNvSpPr/>
          <p:nvPr/>
        </p:nvSpPr>
        <p:spPr>
          <a:xfrm>
            <a:off x="4428640" y="1280160"/>
            <a:ext cx="1980000" cy="425000"/>
          </a:xfrm>
          <a:prstGeom prst="rect">
            <a:avLst/>
          </a:prstGeom>
          <a:solidFill>
            <a:srgbClr val="334155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WSN (TinyDB/TAG)</a:t>
            </a:r>
          </a:p>
        </p:txBody>
      </p:sp>
      <p:sp>
        <p:nvSpPr>
          <p:cNvPr id="13" name="H3"/>
          <p:cNvSpPr/>
          <p:nvPr/>
        </p:nvSpPr>
        <p:spPr>
          <a:xfrm>
            <a:off x="6408640" y="1280160"/>
            <a:ext cx="1980000" cy="425000"/>
          </a:xfrm>
          <a:prstGeom prst="rect">
            <a:avLst/>
          </a:prstGeom>
          <a:solidFill>
            <a:srgbClr val="334155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Opto (Lightmatter)</a:t>
            </a:r>
          </a:p>
        </p:txBody>
      </p:sp>
      <p:sp>
        <p:nvSpPr>
          <p:cNvPr id="14" name="R0C0"/>
          <p:cNvSpPr/>
          <p:nvPr/>
        </p:nvSpPr>
        <p:spPr>
          <a:xfrm>
            <a:off x="548640" y="1705160"/>
            <a:ext cx="1900000" cy="42500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l">
              <a:buNone/>
            </a:pPr>
            <a:r>
              <a:rPr lang="en-US" sz="1000" b="1">
                <a:solidFill>
                  <a:srgbClr val="1E293B"/>
                </a:solidFill>
                <a:latin typeface="Calibri"/>
              </a:rPr>
              <a:t>Latencija (end-to-end)</a:t>
            </a:r>
          </a:p>
        </p:txBody>
      </p:sp>
      <p:sp>
        <p:nvSpPr>
          <p:cNvPr id="15" name="R0C1"/>
          <p:cNvSpPr/>
          <p:nvPr/>
        </p:nvSpPr>
        <p:spPr>
          <a:xfrm>
            <a:off x="2448640" y="1705160"/>
            <a:ext cx="1980000" cy="4250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92400E"/>
                </a:solidFill>
                <a:latin typeface="Calibri"/>
              </a:rPr>
              <a:t>30–100 ms</a:t>
            </a:r>
          </a:p>
        </p:txBody>
      </p:sp>
      <p:sp>
        <p:nvSpPr>
          <p:cNvPr id="16" name="R0C2"/>
          <p:cNvSpPr/>
          <p:nvPr/>
        </p:nvSpPr>
        <p:spPr>
          <a:xfrm>
            <a:off x="4428640" y="1705160"/>
            <a:ext cx="1980000" cy="425000"/>
          </a:xfrm>
          <a:prstGeom prst="rect">
            <a:avLst/>
          </a:prstGeom>
          <a:solidFill>
            <a:srgbClr val="ECFCCB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65A30D"/>
                </a:solidFill>
                <a:latin typeface="Calibri"/>
              </a:rPr>
              <a:t>30 ms × log N hops</a:t>
            </a:r>
          </a:p>
        </p:txBody>
      </p:sp>
      <p:sp>
        <p:nvSpPr>
          <p:cNvPr id="17" name="R0C3"/>
          <p:cNvSpPr/>
          <p:nvPr/>
        </p:nvSpPr>
        <p:spPr>
          <a:xfrm>
            <a:off x="6408640" y="1705160"/>
            <a:ext cx="1980000" cy="4250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4338CA"/>
                </a:solidFill>
                <a:latin typeface="Calibri"/>
              </a:rPr>
              <a:t>~ps po MZI sloju</a:t>
            </a:r>
          </a:p>
        </p:txBody>
      </p:sp>
      <p:sp>
        <p:nvSpPr>
          <p:cNvPr id="18" name="R1C0"/>
          <p:cNvSpPr/>
          <p:nvPr/>
        </p:nvSpPr>
        <p:spPr>
          <a:xfrm>
            <a:off x="548640" y="2130160"/>
            <a:ext cx="1900000" cy="42500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l">
              <a:buNone/>
            </a:pPr>
            <a:r>
              <a:rPr lang="en-US" sz="1000" b="1">
                <a:solidFill>
                  <a:srgbClr val="1E293B"/>
                </a:solidFill>
                <a:latin typeface="Calibri"/>
              </a:rPr>
              <a:t>Propusnost</a:t>
            </a:r>
          </a:p>
        </p:txBody>
      </p:sp>
      <p:sp>
        <p:nvSpPr>
          <p:cNvPr id="19" name="R1C1"/>
          <p:cNvSpPr/>
          <p:nvPr/>
        </p:nvSpPr>
        <p:spPr>
          <a:xfrm>
            <a:off x="2448640" y="2130160"/>
            <a:ext cx="1980000" cy="4250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92400E"/>
                </a:solidFill>
                <a:latin typeface="Calibri"/>
              </a:rPr>
              <a:t>1B+ event/mes</a:t>
            </a:r>
          </a:p>
        </p:txBody>
      </p:sp>
      <p:sp>
        <p:nvSpPr>
          <p:cNvPr id="20" name="R1C2"/>
          <p:cNvSpPr/>
          <p:nvPr/>
        </p:nvSpPr>
        <p:spPr>
          <a:xfrm>
            <a:off x="4428640" y="2130160"/>
            <a:ext cx="1980000" cy="425000"/>
          </a:xfrm>
          <a:prstGeom prst="rect">
            <a:avLst/>
          </a:prstGeom>
          <a:solidFill>
            <a:srgbClr val="ECFCCB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65A30D"/>
                </a:solidFill>
                <a:latin typeface="Calibri"/>
              </a:rPr>
              <a:t>~250 b/s po čvoru</a:t>
            </a:r>
          </a:p>
        </p:txBody>
      </p:sp>
      <p:sp>
        <p:nvSpPr>
          <p:cNvPr id="21" name="R1C3"/>
          <p:cNvSpPr/>
          <p:nvPr/>
        </p:nvSpPr>
        <p:spPr>
          <a:xfrm>
            <a:off x="6408640" y="2130160"/>
            <a:ext cx="1980000" cy="4250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4338CA"/>
                </a:solidFill>
                <a:latin typeface="Calibri"/>
              </a:rPr>
              <a:t>65.5 TOPs (16-bit)</a:t>
            </a:r>
          </a:p>
        </p:txBody>
      </p:sp>
      <p:sp>
        <p:nvSpPr>
          <p:cNvPr id="22" name="R2C0"/>
          <p:cNvSpPr/>
          <p:nvPr/>
        </p:nvSpPr>
        <p:spPr>
          <a:xfrm>
            <a:off x="548640" y="2555160"/>
            <a:ext cx="1900000" cy="42500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l">
              <a:buNone/>
            </a:pPr>
            <a:r>
              <a:rPr lang="en-US" sz="1000" b="1">
                <a:solidFill>
                  <a:srgbClr val="1E293B"/>
                </a:solidFill>
                <a:latin typeface="Calibri"/>
              </a:rPr>
              <a:t>Energija</a:t>
            </a:r>
          </a:p>
        </p:txBody>
      </p:sp>
      <p:sp>
        <p:nvSpPr>
          <p:cNvPr id="23" name="R2C1"/>
          <p:cNvSpPr/>
          <p:nvPr/>
        </p:nvSpPr>
        <p:spPr>
          <a:xfrm>
            <a:off x="2448640" y="2555160"/>
            <a:ext cx="1980000" cy="4250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92400E"/>
                </a:solidFill>
                <a:latin typeface="Calibri"/>
              </a:rPr>
              <a:t>kW (datacenter)</a:t>
            </a:r>
          </a:p>
        </p:txBody>
      </p:sp>
      <p:sp>
        <p:nvSpPr>
          <p:cNvPr id="24" name="R2C2"/>
          <p:cNvSpPr/>
          <p:nvPr/>
        </p:nvSpPr>
        <p:spPr>
          <a:xfrm>
            <a:off x="4428640" y="2555160"/>
            <a:ext cx="1980000" cy="425000"/>
          </a:xfrm>
          <a:prstGeom prst="rect">
            <a:avLst/>
          </a:prstGeom>
          <a:solidFill>
            <a:srgbClr val="ECFCCB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65A30D"/>
                </a:solidFill>
                <a:latin typeface="Calibri"/>
              </a:rPr>
              <a:t>mW po čvoru</a:t>
            </a:r>
          </a:p>
        </p:txBody>
      </p:sp>
      <p:sp>
        <p:nvSpPr>
          <p:cNvPr id="25" name="R2C3"/>
          <p:cNvSpPr/>
          <p:nvPr/>
        </p:nvSpPr>
        <p:spPr>
          <a:xfrm>
            <a:off x="6408640" y="2555160"/>
            <a:ext cx="1980000" cy="4250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4338CA"/>
                </a:solidFill>
                <a:latin typeface="Calibri"/>
              </a:rPr>
              <a:t>78 W + 1.6 W optike</a:t>
            </a:r>
          </a:p>
        </p:txBody>
      </p:sp>
      <p:sp>
        <p:nvSpPr>
          <p:cNvPr id="26" name="R3C0"/>
          <p:cNvSpPr/>
          <p:nvPr/>
        </p:nvSpPr>
        <p:spPr>
          <a:xfrm>
            <a:off x="548640" y="2980160"/>
            <a:ext cx="1900000" cy="42500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l">
              <a:buNone/>
            </a:pPr>
            <a:r>
              <a:rPr lang="en-US" sz="1000" b="1">
                <a:solidFill>
                  <a:srgbClr val="1E293B"/>
                </a:solidFill>
                <a:latin typeface="Calibri"/>
              </a:rPr>
              <a:t>Cena</a:t>
            </a:r>
          </a:p>
        </p:txBody>
      </p:sp>
      <p:sp>
        <p:nvSpPr>
          <p:cNvPr id="27" name="R3C1"/>
          <p:cNvSpPr/>
          <p:nvPr/>
        </p:nvSpPr>
        <p:spPr>
          <a:xfrm>
            <a:off x="2448640" y="2980160"/>
            <a:ext cx="1980000" cy="4250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92400E"/>
                </a:solidFill>
                <a:latin typeface="Calibri"/>
              </a:rPr>
              <a:t>$0.00001/event</a:t>
            </a:r>
          </a:p>
        </p:txBody>
      </p:sp>
      <p:sp>
        <p:nvSpPr>
          <p:cNvPr id="28" name="R3C2"/>
          <p:cNvSpPr/>
          <p:nvPr/>
        </p:nvSpPr>
        <p:spPr>
          <a:xfrm>
            <a:off x="4428640" y="2980160"/>
            <a:ext cx="1980000" cy="425000"/>
          </a:xfrm>
          <a:prstGeom prst="rect">
            <a:avLst/>
          </a:prstGeom>
          <a:solidFill>
            <a:srgbClr val="ECFCCB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65A30D"/>
                </a:solidFill>
                <a:latin typeface="Calibri"/>
              </a:rPr>
              <a:t>~$50 po motu</a:t>
            </a:r>
          </a:p>
        </p:txBody>
      </p:sp>
      <p:sp>
        <p:nvSpPr>
          <p:cNvPr id="29" name="R3C3"/>
          <p:cNvSpPr/>
          <p:nvPr/>
        </p:nvSpPr>
        <p:spPr>
          <a:xfrm>
            <a:off x="6408640" y="2980160"/>
            <a:ext cx="1980000" cy="4250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4338CA"/>
                </a:solidFill>
                <a:latin typeface="Calibri"/>
              </a:rPr>
              <a:t>research / $$$</a:t>
            </a:r>
          </a:p>
        </p:txBody>
      </p:sp>
      <p:sp>
        <p:nvSpPr>
          <p:cNvPr id="30" name="R4C0"/>
          <p:cNvSpPr/>
          <p:nvPr/>
        </p:nvSpPr>
        <p:spPr>
          <a:xfrm>
            <a:off x="548640" y="3405160"/>
            <a:ext cx="1900000" cy="42500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l">
              <a:buNone/>
            </a:pPr>
            <a:r>
              <a:rPr lang="en-US" sz="1000" b="1">
                <a:solidFill>
                  <a:srgbClr val="1E293B"/>
                </a:solidFill>
                <a:latin typeface="Calibri"/>
              </a:rPr>
              <a:t>Skala (N)</a:t>
            </a:r>
          </a:p>
        </p:txBody>
      </p:sp>
      <p:sp>
        <p:nvSpPr>
          <p:cNvPr id="31" name="R4C1"/>
          <p:cNvSpPr/>
          <p:nvPr/>
        </p:nvSpPr>
        <p:spPr>
          <a:xfrm>
            <a:off x="2448640" y="3405160"/>
            <a:ext cx="1980000" cy="4250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92400E"/>
                </a:solidFill>
                <a:latin typeface="Calibri"/>
              </a:rPr>
              <a:t>10 → 10⁷ uređaja</a:t>
            </a:r>
          </a:p>
        </p:txBody>
      </p:sp>
      <p:sp>
        <p:nvSpPr>
          <p:cNvPr id="32" name="R4C2"/>
          <p:cNvSpPr/>
          <p:nvPr/>
        </p:nvSpPr>
        <p:spPr>
          <a:xfrm>
            <a:off x="4428640" y="3405160"/>
            <a:ext cx="1980000" cy="425000"/>
          </a:xfrm>
          <a:prstGeom prst="rect">
            <a:avLst/>
          </a:prstGeom>
          <a:solidFill>
            <a:srgbClr val="ECFCCB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65A30D"/>
                </a:solidFill>
                <a:latin typeface="Calibri"/>
              </a:rPr>
              <a:t>10² → 10⁴ čvorova</a:t>
            </a:r>
          </a:p>
        </p:txBody>
      </p:sp>
      <p:sp>
        <p:nvSpPr>
          <p:cNvPr id="33" name="R4C3"/>
          <p:cNvSpPr/>
          <p:nvPr/>
        </p:nvSpPr>
        <p:spPr>
          <a:xfrm>
            <a:off x="6408640" y="3405160"/>
            <a:ext cx="1980000" cy="4250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4338CA"/>
                </a:solidFill>
                <a:latin typeface="Calibri"/>
              </a:rPr>
              <a:t>10²–10³ MZI / čip</a:t>
            </a:r>
          </a:p>
        </p:txBody>
      </p:sp>
      <p:sp>
        <p:nvSpPr>
          <p:cNvPr id="34" name="R5C0"/>
          <p:cNvSpPr/>
          <p:nvPr/>
        </p:nvSpPr>
        <p:spPr>
          <a:xfrm>
            <a:off x="548640" y="3830160"/>
            <a:ext cx="1900000" cy="42500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l">
              <a:buNone/>
            </a:pPr>
            <a:r>
              <a:rPr lang="en-US" sz="1000" b="1">
                <a:solidFill>
                  <a:srgbClr val="1E293B"/>
                </a:solidFill>
                <a:latin typeface="Calibri"/>
              </a:rPr>
              <a:t>Bottleneck</a:t>
            </a:r>
          </a:p>
        </p:txBody>
      </p:sp>
      <p:sp>
        <p:nvSpPr>
          <p:cNvPr id="35" name="R5C1"/>
          <p:cNvSpPr/>
          <p:nvPr/>
        </p:nvSpPr>
        <p:spPr>
          <a:xfrm>
            <a:off x="2448640" y="3830160"/>
            <a:ext cx="1980000" cy="4250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92400E"/>
                </a:solidFill>
                <a:latin typeface="Calibri"/>
              </a:rPr>
              <a:t>RTT + serijalizacija</a:t>
            </a:r>
          </a:p>
        </p:txBody>
      </p:sp>
      <p:sp>
        <p:nvSpPr>
          <p:cNvPr id="36" name="R5C2"/>
          <p:cNvSpPr/>
          <p:nvPr/>
        </p:nvSpPr>
        <p:spPr>
          <a:xfrm>
            <a:off x="4428640" y="3830160"/>
            <a:ext cx="1980000" cy="425000"/>
          </a:xfrm>
          <a:prstGeom prst="rect">
            <a:avLst/>
          </a:prstGeom>
          <a:solidFill>
            <a:srgbClr val="ECFCCB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65A30D"/>
                </a:solidFill>
                <a:latin typeface="Calibri"/>
              </a:rPr>
              <a:t>Baterija / radio</a:t>
            </a:r>
          </a:p>
        </p:txBody>
      </p:sp>
      <p:sp>
        <p:nvSpPr>
          <p:cNvPr id="37" name="R5C3"/>
          <p:cNvSpPr/>
          <p:nvPr/>
        </p:nvSpPr>
        <p:spPr>
          <a:xfrm>
            <a:off x="6408640" y="3830160"/>
            <a:ext cx="1980000" cy="4250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txBody>
          <a:bodyPr wrap="square" lIns="54000" tIns="27000" rIns="54000" bIns="27000" anchor="ctr"/>
          <a:lstStyle/>
          <a:p>
            <a:pPr algn="ctr">
              <a:buNone/>
            </a:pPr>
            <a:r>
              <a:rPr lang="en-US" sz="1000">
                <a:solidFill>
                  <a:srgbClr val="4338CA"/>
                </a:solidFill>
                <a:latin typeface="Calibri"/>
              </a:rPr>
              <a:t>AD/DA konverzija</a:t>
            </a:r>
          </a:p>
        </p:txBody>
      </p:sp>
      <p:sp>
        <p:nvSpPr>
          <p:cNvPr id="101" name="PageNum"/>
          <p:cNvSpPr txBox="1"/>
          <p:nvPr/>
        </p:nvSpPr>
        <p:spPr>
          <a:xfrm>
            <a:off x="8593962" y="4754880"/>
            <a:ext cx="2757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23/25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>
                <a:solidFill>
                  <a:srgbClr val="065A60"/>
                </a:solidFill>
                <a:latin typeface="Trebuchet MS"/>
              </a:rPr>
              <a:t>Roofline model: gde je bottleneck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Šta ograničava performansu — protok podataka (I/O) ili HW peak</a:t>
            </a:r>
          </a:p>
        </p:txBody>
      </p:sp>
      <p:cxnSp>
        <p:nvCxnSpPr>
          <p:cNvPr id="10" name="Xaxis"/>
          <p:cNvCxnSpPr/>
          <p:nvPr/>
        </p:nvCxnSpPr>
        <p:spPr>
          <a:xfrm>
            <a:off x="1150000" y="4080160"/>
            <a:ext cx="6900000" cy="1"/>
          </a:xfrm>
          <a:prstGeom prst="line">
            <a:avLst/>
          </a:prstGeom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Yaxis"/>
          <p:cNvCxnSpPr/>
          <p:nvPr/>
        </p:nvCxnSpPr>
        <p:spPr>
          <a:xfrm>
            <a:off x="1150000" y="1280160"/>
            <a:ext cx="1" cy="2800000"/>
          </a:xfrm>
          <a:prstGeom prst="line">
            <a:avLst/>
          </a:prstGeom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WRoof"/>
          <p:cNvCxnSpPr/>
          <p:nvPr/>
        </p:nvCxnSpPr>
        <p:spPr>
          <a:xfrm flipV="1">
            <a:off x="1150000" y="1530160"/>
            <a:ext cx="3300000" cy="2550000"/>
          </a:xfrm>
          <a:prstGeom prst="line">
            <a:avLst/>
          </a:prstGeom>
          <a:ln w="28575">
            <a:solidFill>
              <a:srgbClr val="9240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PeakRoof"/>
          <p:cNvCxnSpPr/>
          <p:nvPr/>
        </p:nvCxnSpPr>
        <p:spPr>
          <a:xfrm>
            <a:off x="4450000" y="1530160"/>
            <a:ext cx="3600000" cy="1"/>
          </a:xfrm>
          <a:prstGeom prst="line">
            <a:avLst/>
          </a:prstGeom>
          <a:ln w="28575">
            <a:solidFill>
              <a:srgbClr val="BE12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Xlabel"/>
          <p:cNvSpPr txBox="1"/>
          <p:nvPr/>
        </p:nvSpPr>
        <p:spPr>
          <a:xfrm>
            <a:off x="1150000" y="4140160"/>
            <a:ext cx="6900000" cy="25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i="1">
                <a:solidFill>
                  <a:srgbClr val="475569"/>
                </a:solidFill>
                <a:latin typeface="Calibri"/>
              </a:rPr>
              <a:t>Operational intensity (računanje po jedinici prebačenih podataka) →</a:t>
            </a:r>
          </a:p>
        </p:txBody>
      </p:sp>
      <p:sp>
        <p:nvSpPr>
          <p:cNvPr id="21" name="Ylabel"/>
          <p:cNvSpPr txBox="1"/>
          <p:nvPr/>
        </p:nvSpPr>
        <p:spPr>
          <a:xfrm>
            <a:off x="1250000" y="1360160"/>
            <a:ext cx="1700000" cy="24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i="1">
                <a:solidFill>
                  <a:srgbClr val="475569"/>
                </a:solidFill>
                <a:latin typeface="Calibri"/>
              </a:rPr>
              <a:t>Performansa (GOPs/s) ↑</a:t>
            </a:r>
          </a:p>
        </p:txBody>
      </p:sp>
      <p:sp>
        <p:nvSpPr>
          <p:cNvPr id="22" name="BWLabel"/>
          <p:cNvSpPr txBox="1"/>
          <p:nvPr/>
        </p:nvSpPr>
        <p:spPr>
          <a:xfrm>
            <a:off x="3050000" y="2680160"/>
            <a:ext cx="2400000" cy="22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>
                <a:solidFill>
                  <a:srgbClr val="92400E"/>
                </a:solidFill>
                <a:latin typeface="Calibri"/>
              </a:rPr>
              <a:t>I/O-bound — protok je zid</a:t>
            </a:r>
          </a:p>
        </p:txBody>
      </p:sp>
      <p:sp>
        <p:nvSpPr>
          <p:cNvPr id="23" name="PeakLabel"/>
          <p:cNvSpPr txBox="1"/>
          <p:nvPr/>
        </p:nvSpPr>
        <p:spPr>
          <a:xfrm>
            <a:off x="5050000" y="1250160"/>
            <a:ext cx="2800000" cy="22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>
                <a:solidFill>
                  <a:srgbClr val="BE123C"/>
                </a:solidFill>
                <a:latin typeface="Calibri"/>
              </a:rPr>
              <a:t>Compute-bound — HW peak je zid</a:t>
            </a:r>
          </a:p>
        </p:txBody>
      </p:sp>
      <p:sp>
        <p:nvSpPr>
          <p:cNvPr id="30" name="WSN"/>
          <p:cNvSpPr/>
          <p:nvPr/>
        </p:nvSpPr>
        <p:spPr>
          <a:xfrm>
            <a:off x="1540000" y="3583796"/>
            <a:ext cx="220000" cy="220000"/>
          </a:xfrm>
          <a:prstGeom prst="ellipse">
            <a:avLst/>
          </a:prstGeom>
          <a:solidFill>
            <a:srgbClr val="65A30D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WSNlbl"/>
          <p:cNvSpPr txBox="1"/>
          <p:nvPr/>
        </p:nvSpPr>
        <p:spPr>
          <a:xfrm>
            <a:off x="1810000" y="3593796"/>
            <a:ext cx="2000000" cy="22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>
                <a:solidFill>
                  <a:srgbClr val="65A30D"/>
                </a:solidFill>
                <a:latin typeface="Calibri"/>
              </a:rPr>
              <a:t>WSN — radio bandwidth</a:t>
            </a:r>
          </a:p>
        </p:txBody>
      </p:sp>
      <p:sp>
        <p:nvSpPr>
          <p:cNvPr id="32" name="IoT"/>
          <p:cNvSpPr/>
          <p:nvPr/>
        </p:nvSpPr>
        <p:spPr>
          <a:xfrm>
            <a:off x="2140000" y="3120160"/>
            <a:ext cx="220000" cy="220000"/>
          </a:xfrm>
          <a:prstGeom prst="ellipse">
            <a:avLst/>
          </a:prstGeom>
          <a:solidFill>
            <a:srgbClr val="4338CA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IoTlbl"/>
          <p:cNvSpPr txBox="1"/>
          <p:nvPr/>
        </p:nvSpPr>
        <p:spPr>
          <a:xfrm>
            <a:off x="2410000" y="3130160"/>
            <a:ext cx="2000000" cy="22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>
                <a:solidFill>
                  <a:srgbClr val="4338CA"/>
                </a:solidFill>
                <a:latin typeface="Calibri"/>
              </a:rPr>
              <a:t>IoT — RTT mreže</a:t>
            </a:r>
          </a:p>
        </p:txBody>
      </p:sp>
      <p:sp>
        <p:nvSpPr>
          <p:cNvPr id="34" name="Opto"/>
          <p:cNvSpPr/>
          <p:nvPr/>
        </p:nvSpPr>
        <p:spPr>
          <a:xfrm>
            <a:off x="6040000" y="1540160"/>
            <a:ext cx="220000" cy="220000"/>
          </a:xfrm>
          <a:prstGeom prst="ellipse">
            <a:avLst/>
          </a:prstGeom>
          <a:solidFill>
            <a:srgbClr val="92400E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Optolbl"/>
          <p:cNvSpPr txBox="1"/>
          <p:nvPr/>
        </p:nvSpPr>
        <p:spPr>
          <a:xfrm>
            <a:off x="6310000" y="1550160"/>
            <a:ext cx="1800000" cy="22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>
                <a:solidFill>
                  <a:srgbClr val="92400E"/>
                </a:solidFill>
                <a:latin typeface="Calibri"/>
              </a:rPr>
              <a:t>Opto — AD/DA tavanica</a:t>
            </a:r>
          </a:p>
        </p:txBody>
      </p:sp>
      <p:sp>
        <p:nvSpPr>
          <p:cNvPr id="80" name="Footer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i="1">
                <a:solidFill>
                  <a:srgbClr val="475569"/>
                </a:solidFill>
                <a:latin typeface="Calibri"/>
              </a:rPr>
              <a:t>Roofline (Williams, Waterman, Patterson, 2009) — tačka na dijagonali = ograničen protokom; na horizontali = ograničen HW peak-om</a:t>
            </a:r>
          </a:p>
        </p:txBody>
      </p:sp>
      <p:sp>
        <p:nvSpPr>
          <p:cNvPr id="81" name="PageNum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64748B"/>
                </a:solidFill>
                <a:latin typeface="Calibri"/>
              </a:rPr>
              <a:t>24/25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Poređenje paradigmi: IoT, WSN, Opto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 algoritam, različit hardver — različita vremenska složenost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Ključni uvidi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IoT: O(log N) + RTT —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oblak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skalira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plaća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mrežu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WSN: O(log N)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energija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realno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O(log N) ·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t_light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limit je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brzina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svetla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Lekcija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4937760" y="2331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Izbor paradigme = izbor između latencije, energije i cene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ostaje isti — granica je fizička,           ne algoritamska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 po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otključava konstantu, ne asimptotu — isti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N),                                     ali pikosekunde po sloju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„The most dangerous phrase in the language is: ‘We’ve always done it this way.’“ — Grace Hopper</a:t>
            </a:r>
            <a:endParaRPr lang="en-US" sz="1100"/>
          </a:p>
        </p:txBody>
      </p:sp>
      <p:sp>
        <p:nvSpPr>
          <p:cNvPr id="13" name="PageNum 13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25/25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39aa4b3-b62d-42bf-8097-75e2c573ddfa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2911</Words>
  <Application>Microsoft Office PowerPoint</Application>
  <PresentationFormat>On-screen Show (16:9)</PresentationFormat>
  <Paragraphs>451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Djordjevic, Vuk</dc:creator>
  <cp:lastModifiedBy>Djordjevic, Vuk</cp:lastModifiedBy>
  <cp:revision>6</cp:revision>
  <dcterms:created xsi:type="dcterms:W3CDTF">2026-05-20T04:56:51Z</dcterms:created>
  <dcterms:modified xsi:type="dcterms:W3CDTF">2026-06-05T12:34:53Z</dcterms:modified>
</cp:coreProperties>
</file>