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97" r:id="rId2"/>
    <p:sldId id="298" r:id="rId3"/>
    <p:sldId id="299" r:id="rId4"/>
    <p:sldId id="300" r:id="rId5"/>
    <p:sldId id="301" r:id="rId6"/>
    <p:sldId id="302" r:id="rId7"/>
    <p:sldId id="303" r:id="rId8"/>
    <p:sldId id="308" r:id="rId9"/>
    <p:sldId id="309" r:id="rId10"/>
    <p:sldId id="310" r:id="rId11"/>
    <p:sldId id="311" r:id="rId12"/>
    <p:sldId id="312" r:id="rId13"/>
    <p:sldId id="313" r:id="rId14"/>
    <p:sldId id="314" r:id="rId15"/>
    <p:sldId id="315" r:id="rId16"/>
    <p:sldId id="316" r:id="rId17"/>
    <p:sldId id="317" r:id="rId18"/>
    <p:sldId id="318" r:id="rId19"/>
    <p:sldId id="319" r:id="rId20"/>
    <p:sldId id="320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9425D7D0-25B1-4F5B-8FB6-C1A48A7334D5}">
          <p14:sldIdLst>
            <p14:sldId id="297"/>
            <p14:sldId id="298"/>
            <p14:sldId id="299"/>
            <p14:sldId id="300"/>
            <p14:sldId id="301"/>
            <p14:sldId id="302"/>
            <p14:sldId id="303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14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6352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4864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065A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Šta je Turing mašina</a:t>
            </a:r>
            <a:endParaRPr lang="en-US" sz="360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Apstraktni matematički model računanja (Alan Turing, 1936)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Beskonačna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traka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podeljena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ćelije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simbolima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Glava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koja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čita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piše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simbole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pomera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levo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desno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Konačan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skup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stanja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funkcijom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prelaza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δ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Najjednostavniji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teorijski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 koji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može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izračunati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što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izračunljivo</a:t>
            </a:r>
            <a:endParaRPr lang="en-US" sz="1400" dirty="0"/>
          </a:p>
        </p:txBody>
      </p:sp>
      <p:pic>
        <p:nvPicPr>
          <p:cNvPr id="8" name="TM Overvie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3409" y="1519480"/>
            <a:ext cx="3396271" cy="308751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51672" y="4754880"/>
            <a:ext cx="218008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 b="0">
                <a:solidFill>
                  <a:srgbClr val="64748B"/>
                </a:solidFill>
                <a:latin typeface="Calibri"/>
              </a:rPr>
              <a:t>1/20</a:t>
            </a:r>
            <a:endParaRPr sz="900" b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4864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65A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Komponente Turing mašine</a:t>
            </a:r>
            <a:endParaRPr lang="en-US" sz="280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828800" cy="109728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Skup stanja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2606040" y="1463040"/>
            <a:ext cx="1828800" cy="109728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06040" y="1508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Γ</a:t>
            </a:r>
            <a:endParaRPr lang="en-US" sz="2800"/>
          </a:p>
        </p:txBody>
      </p:sp>
      <p:sp>
        <p:nvSpPr>
          <p:cNvPr id="11" name="Text 9"/>
          <p:cNvSpPr/>
          <p:nvPr/>
        </p:nvSpPr>
        <p:spPr>
          <a:xfrm>
            <a:off x="260604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Alfabet trake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4663440" y="1463040"/>
            <a:ext cx="1828800" cy="109728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63440" y="1508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δ</a:t>
            </a:r>
            <a:endParaRPr lang="en-US" sz="2800"/>
          </a:p>
        </p:txBody>
      </p:sp>
      <p:sp>
        <p:nvSpPr>
          <p:cNvPr id="14" name="Text 12"/>
          <p:cNvSpPr/>
          <p:nvPr/>
        </p:nvSpPr>
        <p:spPr>
          <a:xfrm>
            <a:off x="466344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Funkcija prelaza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6720840" y="1463040"/>
            <a:ext cx="1828800" cy="109728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720840" y="1508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q₀</a:t>
            </a:r>
            <a:endParaRPr lang="en-US" sz="2800"/>
          </a:p>
        </p:txBody>
      </p:sp>
      <p:sp>
        <p:nvSpPr>
          <p:cNvPr id="17" name="Text 15"/>
          <p:cNvSpPr/>
          <p:nvPr/>
        </p:nvSpPr>
        <p:spPr>
          <a:xfrm>
            <a:off x="672084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Početno stanje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548640" y="29260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Traka: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beskonačan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niz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ćelija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svaka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sadrži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simbol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alfabeta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Γ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Glava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čita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trenutnu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ćeliju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piše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novi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simbol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pomera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L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ili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δ(q, a) = (q', b, D): u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stanju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q,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čitaj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a,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piši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b,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pomeri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u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smeru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D,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pređi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 q'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Svaka komponenta je konačna osim trake — to je jedini izvor beskonačnosti</a:t>
            </a:r>
            <a:endParaRPr lang="en-US" sz="1000"/>
          </a:p>
        </p:txBody>
      </p:sp>
      <p:sp>
        <p:nvSpPr>
          <p:cNvPr id="20" name="PageNum 20"/>
          <p:cNvSpPr txBox="1"/>
          <p:nvPr/>
        </p:nvSpPr>
        <p:spPr>
          <a:xfrm>
            <a:off x="8651672" y="4754880"/>
            <a:ext cx="218008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 b="0">
                <a:solidFill>
                  <a:srgbClr val="64748B"/>
                </a:solidFill>
                <a:latin typeface="Calibri"/>
              </a:rPr>
              <a:t>2/20</a:t>
            </a:r>
            <a:endParaRPr sz="900" b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rmalna definicija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/>
          <p:nvPr/>
        </p:nvSpPr>
        <p:spPr>
          <a:xfrm>
            <a:off x="548640" y="685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/>
          <a:lstStyle/>
          <a:p>
            <a:pPr>
              <a:buNone/>
            </a:pPr>
            <a:r>
              <a:rPr lang="en-US" sz="3200" b="1">
                <a:solidFill>
                  <a:srgbClr val="065A60"/>
                </a:solidFill>
                <a:latin typeface="Trebuchet MS"/>
              </a:rPr>
              <a:t>Formalna definicija</a:t>
            </a:r>
          </a:p>
        </p:txBody>
      </p:sp>
      <p:sp>
        <p:nvSpPr>
          <p:cNvPr id="5" name="Sub"/>
          <p:cNvSpPr/>
          <p:nvPr/>
        </p:nvSpPr>
        <p:spPr>
          <a:xfrm>
            <a:off x="548640" y="1234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/>
          <a:lstStyle/>
          <a:p>
            <a:pPr>
              <a:buNone/>
            </a:pPr>
            <a:r>
              <a:rPr lang="en-US" sz="1200" i="1">
                <a:solidFill>
                  <a:srgbClr val="0D9488"/>
                </a:solidFill>
                <a:latin typeface="Calibri"/>
              </a:rPr>
              <a:t>M = (Q, Σ, Γ, δ, q₀, q_accept, q_reject)</a:t>
            </a:r>
          </a:p>
        </p:txBody>
      </p:sp>
      <p:sp>
        <p:nvSpPr>
          <p:cNvPr id="10" name="C1BG"/>
          <p:cNvSpPr/>
          <p:nvPr/>
        </p:nvSpPr>
        <p:spPr>
          <a:xfrm>
            <a:off x="548640" y="1691640"/>
            <a:ext cx="3840480" cy="795528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C1Lbl"/>
          <p:cNvSpPr/>
          <p:nvPr/>
        </p:nvSpPr>
        <p:spPr>
          <a:xfrm>
            <a:off x="731520" y="1737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000" b="1">
                <a:solidFill>
                  <a:srgbClr val="64748B"/>
                </a:solidFill>
                <a:latin typeface="Calibri"/>
              </a:rPr>
              <a:t>Q</a:t>
            </a:r>
          </a:p>
        </p:txBody>
      </p:sp>
      <p:sp>
        <p:nvSpPr>
          <p:cNvPr id="12" name="C1Val"/>
          <p:cNvSpPr/>
          <p:nvPr/>
        </p:nvSpPr>
        <p:spPr>
          <a:xfrm>
            <a:off x="731520" y="2057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800" b="1">
                <a:solidFill>
                  <a:srgbClr val="0D9488"/>
                </a:solidFill>
                <a:latin typeface="Trebuchet MS"/>
              </a:rPr>
              <a:t>Konačan skup stanja</a:t>
            </a:r>
          </a:p>
        </p:txBody>
      </p:sp>
      <p:sp>
        <p:nvSpPr>
          <p:cNvPr id="13" name="C2BG"/>
          <p:cNvSpPr/>
          <p:nvPr/>
        </p:nvSpPr>
        <p:spPr>
          <a:xfrm>
            <a:off x="548640" y="2560320"/>
            <a:ext cx="3840480" cy="713232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C2Lbl"/>
          <p:cNvSpPr/>
          <p:nvPr/>
        </p:nvSpPr>
        <p:spPr>
          <a:xfrm>
            <a:off x="731520" y="2606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000" b="1">
                <a:solidFill>
                  <a:srgbClr val="64748B"/>
                </a:solidFill>
                <a:latin typeface="Calibri"/>
              </a:rPr>
              <a:t>Γ</a:t>
            </a:r>
          </a:p>
        </p:txBody>
      </p:sp>
      <p:sp>
        <p:nvSpPr>
          <p:cNvPr id="15" name="C2Val"/>
          <p:cNvSpPr/>
          <p:nvPr/>
        </p:nvSpPr>
        <p:spPr>
          <a:xfrm>
            <a:off x="73152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800" b="1">
                <a:solidFill>
                  <a:srgbClr val="0D9488"/>
                </a:solidFill>
                <a:latin typeface="Trebuchet MS"/>
              </a:rPr>
              <a:t>Alfabet trake</a:t>
            </a:r>
          </a:p>
        </p:txBody>
      </p:sp>
      <p:sp>
        <p:nvSpPr>
          <p:cNvPr id="16" name="C2Desc"/>
          <p:cNvSpPr/>
          <p:nvPr/>
        </p:nvSpPr>
        <p:spPr>
          <a:xfrm>
            <a:off x="2560320" y="2834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100" dirty="0" err="1">
                <a:solidFill>
                  <a:srgbClr val="475569"/>
                </a:solidFill>
                <a:latin typeface="Calibri"/>
              </a:rPr>
              <a:t>uključuje</a:t>
            </a:r>
            <a:r>
              <a:rPr lang="en-US" sz="1100" dirty="0">
                <a:solidFill>
                  <a:srgbClr val="475569"/>
                </a:solidFill>
                <a:latin typeface="Calibri"/>
              </a:rPr>
              <a:t> </a:t>
            </a:r>
            <a:r>
              <a:rPr lang="en-US" sz="1100" dirty="0" err="1">
                <a:solidFill>
                  <a:srgbClr val="475569"/>
                </a:solidFill>
                <a:latin typeface="Calibri"/>
              </a:rPr>
              <a:t>blanko</a:t>
            </a:r>
            <a:r>
              <a:rPr lang="en-US" sz="1100" dirty="0">
                <a:solidFill>
                  <a:srgbClr val="475569"/>
                </a:solidFill>
                <a:latin typeface="Calibri"/>
              </a:rPr>
              <a:t> </a:t>
            </a:r>
            <a:r>
              <a:rPr lang="en-US" sz="1100" dirty="0" err="1">
                <a:solidFill>
                  <a:srgbClr val="475569"/>
                </a:solidFill>
                <a:latin typeface="Calibri"/>
              </a:rPr>
              <a:t>simbol</a:t>
            </a:r>
            <a:r>
              <a:rPr lang="en-US" sz="1100" dirty="0">
                <a:solidFill>
                  <a:srgbClr val="475569"/>
                </a:solidFill>
                <a:latin typeface="Calibri"/>
              </a:rPr>
              <a:t> ␣</a:t>
            </a:r>
          </a:p>
        </p:txBody>
      </p:sp>
      <p:sp>
        <p:nvSpPr>
          <p:cNvPr id="17" name="C3BG"/>
          <p:cNvSpPr/>
          <p:nvPr/>
        </p:nvSpPr>
        <p:spPr>
          <a:xfrm>
            <a:off x="548640" y="3429000"/>
            <a:ext cx="3840480" cy="713232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C3Lbl"/>
          <p:cNvSpPr/>
          <p:nvPr/>
        </p:nvSpPr>
        <p:spPr>
          <a:xfrm>
            <a:off x="731520" y="3474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000" b="1">
                <a:solidFill>
                  <a:srgbClr val="64748B"/>
                </a:solidFill>
                <a:latin typeface="Calibri"/>
              </a:rPr>
              <a:t>δ</a:t>
            </a:r>
          </a:p>
        </p:txBody>
      </p:sp>
      <p:sp>
        <p:nvSpPr>
          <p:cNvPr id="19" name="C3Val"/>
          <p:cNvSpPr/>
          <p:nvPr/>
        </p:nvSpPr>
        <p:spPr>
          <a:xfrm>
            <a:off x="731520" y="3703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800" b="1">
                <a:solidFill>
                  <a:srgbClr val="0D9488"/>
                </a:solidFill>
                <a:latin typeface="Trebuchet MS"/>
              </a:rPr>
              <a:t>Q × Γ → Q × Γ × {L, R}</a:t>
            </a:r>
          </a:p>
        </p:txBody>
      </p:sp>
      <p:sp>
        <p:nvSpPr>
          <p:cNvPr id="20" name="C3Desc"/>
          <p:cNvSpPr/>
          <p:nvPr/>
        </p:nvSpPr>
        <p:spPr>
          <a:xfrm>
            <a:off x="2560320" y="3703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100">
                <a:solidFill>
                  <a:srgbClr val="475569"/>
                </a:solidFill>
                <a:latin typeface="Calibri"/>
              </a:rPr>
              <a:t>funkcija prelaza</a:t>
            </a:r>
          </a:p>
        </p:txBody>
      </p:sp>
      <p:sp>
        <p:nvSpPr>
          <p:cNvPr id="30" name="CmpBG"/>
          <p:cNvSpPr/>
          <p:nvPr/>
        </p:nvSpPr>
        <p:spPr>
          <a:xfrm>
            <a:off x="4937760" y="1691640"/>
            <a:ext cx="3840480" cy="118872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CmpTitle"/>
          <p:cNvSpPr/>
          <p:nvPr/>
        </p:nvSpPr>
        <p:spPr>
          <a:xfrm>
            <a:off x="5120640" y="1737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400" b="1">
                <a:solidFill>
                  <a:srgbClr val="065A60"/>
                </a:solidFill>
                <a:latin typeface="Trebuchet MS"/>
              </a:rPr>
              <a:t>Ulaz i izlaz</a:t>
            </a:r>
          </a:p>
        </p:txBody>
      </p:sp>
      <p:sp>
        <p:nvSpPr>
          <p:cNvPr id="32" name="CmpBody"/>
          <p:cNvSpPr/>
          <p:nvPr/>
        </p:nvSpPr>
        <p:spPr>
          <a:xfrm>
            <a:off x="5120640" y="20116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/>
          <a:lstStyle/>
          <a:p>
            <a:pPr>
              <a:spcAft>
                <a:spcPts val="400"/>
              </a:spcAft>
              <a:buChar char="▪"/>
            </a:pPr>
            <a:r>
              <a:rPr lang="en-US" sz="1100">
                <a:solidFill>
                  <a:srgbClr val="1E293B"/>
                </a:solidFill>
                <a:latin typeface="Calibri"/>
              </a:rPr>
              <a:t>Σ: ulazni alfabet (Σ ⊆ Γ)</a:t>
            </a:r>
          </a:p>
          <a:p>
            <a:pPr>
              <a:spcAft>
                <a:spcPts val="400"/>
              </a:spcAft>
              <a:buChar char="▪"/>
            </a:pPr>
            <a:r>
              <a:rPr lang="en-US" sz="1100">
                <a:solidFill>
                  <a:srgbClr val="1E293B"/>
                </a:solidFill>
                <a:latin typeface="Calibri"/>
              </a:rPr>
              <a:t>q₀: početno stanje (q₀ ∈ Q)</a:t>
            </a:r>
          </a:p>
          <a:p>
            <a:pPr>
              <a:buChar char="▪"/>
            </a:pPr>
            <a:r>
              <a:rPr lang="en-US" sz="1100">
                <a:solidFill>
                  <a:srgbClr val="1E293B"/>
                </a:solidFill>
                <a:latin typeface="Calibri"/>
              </a:rPr>
              <a:t>q_accept, q_reject: završna stanja</a:t>
            </a:r>
          </a:p>
        </p:txBody>
      </p:sp>
      <p:sp>
        <p:nvSpPr>
          <p:cNvPr id="40" name="PhaseBG"/>
          <p:cNvSpPr/>
          <p:nvPr/>
        </p:nvSpPr>
        <p:spPr>
          <a:xfrm>
            <a:off x="4937760" y="3063240"/>
            <a:ext cx="3840480" cy="10972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PhaseText"/>
          <p:cNvSpPr/>
          <p:nvPr/>
        </p:nvSpPr>
        <p:spPr>
          <a:xfrm>
            <a:off x="5120640" y="31090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/>
          <a:lstStyle/>
          <a:p>
            <a:pPr>
              <a:spcAft>
                <a:spcPts val="400"/>
              </a:spcAft>
              <a:buNone/>
            </a:pPr>
            <a:r>
              <a:rPr lang="en-US" sz="1000" b="1">
                <a:solidFill>
                  <a:srgbClr val="0D9488"/>
                </a:solidFill>
                <a:latin typeface="Consolas"/>
              </a:rPr>
              <a:t>Kako radi δ</a:t>
            </a:r>
          </a:p>
          <a:p>
            <a:pPr>
              <a:spcAft>
                <a:spcPts val="600"/>
              </a:spcAft>
              <a:buNone/>
            </a:pPr>
            <a:r>
              <a:rPr lang="en-US" sz="900">
                <a:solidFill>
                  <a:srgbClr val="E2E8F0"/>
                </a:solidFill>
                <a:latin typeface="Consolas"/>
              </a:rPr>
              <a:t>Za svaki par (stanje, simbol) funkcija δ vraća trojku: novo stanje, novi simbol za upisati, i smer pomeranja glave (L ili R)</a:t>
            </a:r>
          </a:p>
          <a:p>
            <a:pPr>
              <a:spcAft>
                <a:spcPts val="400"/>
              </a:spcAft>
              <a:buNone/>
            </a:pPr>
            <a:r>
              <a:rPr lang="en-US" sz="1000" b="1">
                <a:solidFill>
                  <a:srgbClr val="FBBF24"/>
                </a:solidFill>
                <a:latin typeface="Consolas"/>
              </a:rPr>
              <a:t>Determinizam: tačno jedan prelaz po paru</a:t>
            </a:r>
          </a:p>
          <a:p>
            <a:pPr>
              <a:buNone/>
            </a:pPr>
            <a:r>
              <a:rPr lang="en-US" sz="900">
                <a:solidFill>
                  <a:srgbClr val="E2E8F0"/>
                </a:solidFill>
                <a:latin typeface="Consolas"/>
              </a:rPr>
              <a:t>Za isti ulaz, mašina uvek radi isto</a:t>
            </a:r>
          </a:p>
        </p:txBody>
      </p:sp>
      <p:sp>
        <p:nvSpPr>
          <p:cNvPr id="50" name="Footer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i="1" dirty="0">
                <a:solidFill>
                  <a:srgbClr val="475569"/>
                </a:solidFill>
                <a:latin typeface="Calibri"/>
              </a:rPr>
              <a:t>Turing </a:t>
            </a:r>
            <a:r>
              <a:rPr lang="en-US" sz="1100" i="1" dirty="0" err="1">
                <a:solidFill>
                  <a:srgbClr val="475569"/>
                </a:solidFill>
                <a:latin typeface="Calibri"/>
              </a:rPr>
              <a:t>mašina</a:t>
            </a:r>
            <a:r>
              <a:rPr lang="en-US" sz="1100" i="1" dirty="0">
                <a:solidFill>
                  <a:srgbClr val="475569"/>
                </a:solidFill>
                <a:latin typeface="Calibri"/>
              </a:rPr>
              <a:t> je 7-torka: </a:t>
            </a:r>
            <a:r>
              <a:rPr lang="en-US" sz="1100" i="1" dirty="0" err="1">
                <a:solidFill>
                  <a:srgbClr val="475569"/>
                </a:solidFill>
                <a:latin typeface="Calibri"/>
              </a:rPr>
              <a:t>minimalan</a:t>
            </a:r>
            <a:r>
              <a:rPr lang="en-US" sz="1100" i="1" dirty="0">
                <a:solidFill>
                  <a:srgbClr val="475569"/>
                </a:solidFill>
                <a:latin typeface="Calibri"/>
              </a:rPr>
              <a:t> </a:t>
            </a:r>
            <a:r>
              <a:rPr lang="en-US" sz="1100" i="1" dirty="0" err="1">
                <a:solidFill>
                  <a:srgbClr val="475569"/>
                </a:solidFill>
                <a:latin typeface="Calibri"/>
              </a:rPr>
              <a:t>ali</a:t>
            </a:r>
            <a:r>
              <a:rPr lang="en-US" sz="1100" i="1" dirty="0">
                <a:solidFill>
                  <a:srgbClr val="475569"/>
                </a:solidFill>
                <a:latin typeface="Calibri"/>
              </a:rPr>
              <a:t> </a:t>
            </a:r>
            <a:r>
              <a:rPr lang="en-US" sz="1100" i="1" dirty="0" err="1">
                <a:solidFill>
                  <a:srgbClr val="475569"/>
                </a:solidFill>
                <a:latin typeface="Calibri"/>
              </a:rPr>
              <a:t>univerzalan</a:t>
            </a:r>
            <a:r>
              <a:rPr lang="en-US" sz="1100" i="1" dirty="0">
                <a:solidFill>
                  <a:srgbClr val="475569"/>
                </a:solidFill>
                <a:latin typeface="Calibri"/>
              </a:rPr>
              <a:t> model</a:t>
            </a:r>
          </a:p>
        </p:txBody>
      </p:sp>
      <p:sp>
        <p:nvSpPr>
          <p:cNvPr id="51" name="PageNum 51"/>
          <p:cNvSpPr txBox="1"/>
          <p:nvPr/>
        </p:nvSpPr>
        <p:spPr>
          <a:xfrm>
            <a:off x="8651672" y="4754880"/>
            <a:ext cx="218008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 b="0">
                <a:solidFill>
                  <a:srgbClr val="64748B"/>
                </a:solidFill>
                <a:latin typeface="Calibri"/>
              </a:rPr>
              <a:t>3/20</a:t>
            </a:r>
            <a:endParaRPr sz="900" b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4864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65A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Kako radi Turing mašina</a:t>
            </a:r>
            <a:endParaRPr lang="en-US" sz="280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Primer: unarna inkrementacija (dodaj 1 na unaran broj)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Ulaz na traci: 1 1 1 _ (tri u unarnom = broj 3)</a:t>
            </a:r>
            <a:endParaRPr lang="en-US" sz="140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Glava kreće na prvom simbolu, stanje = q₀</a:t>
            </a:r>
            <a:endParaRPr lang="en-US" sz="140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Pravilo: u q₀, čitam 1 → piši 1, pomeri R, ostani u q₀</a:t>
            </a:r>
            <a:endParaRPr lang="en-US" sz="140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Pravilo: u q₀, čitam _ → piši 1, pomeri L, pređi u q_accept</a:t>
            </a:r>
            <a:endParaRPr lang="en-US" sz="140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Rezultat: 1 1 1 1 _ (četiri = broj 4)</a:t>
            </a:r>
            <a:endParaRPr lang="en-US" sz="1400"/>
          </a:p>
        </p:txBody>
      </p:sp>
      <p:pic>
        <p:nvPicPr>
          <p:cNvPr id="8" name="TM Unar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0" y="1750000"/>
            <a:ext cx="3100000" cy="281818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51672" y="4754880"/>
            <a:ext cx="218008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 b="0">
                <a:solidFill>
                  <a:srgbClr val="64748B"/>
                </a:solidFill>
                <a:latin typeface="Calibri"/>
              </a:rPr>
              <a:t>4/20</a:t>
            </a:r>
            <a:endParaRPr sz="900" b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48640" y="7315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65A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Church-Turing teza</a:t>
            </a:r>
            <a:endParaRPr lang="en-US" sz="280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Svaka funkcija koja je intuitivno izračunljiva može se izračunati Turing mašinom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Implikacije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Svaki algoritam se može simulirati na Turing mašini</a:t>
            </a:r>
            <a:endParaRPr lang="en-US" sz="140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 programski jezici su Turing-kompletni (ekvivalentni TM)</a:t>
            </a:r>
            <a:endParaRPr lang="en-US" sz="140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Ograničenja TM = ograničenja svakog računara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4937760" y="1920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65A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Primeri ekvivalenata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4937760" y="233172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račun (Church, 1936)</a:t>
            </a:r>
            <a:endParaRPr lang="en-US" sz="140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Rekurzivne funkcije (Kleene, 1936)</a:t>
            </a:r>
            <a:endParaRPr lang="en-US" sz="140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mašina — model modernog CPU-a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8046720" cy="64008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40233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06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 što možete izračunati na GPU-u, CPU-u ili bilo kojem računaru — može i Turing mašina. Samo sporije.</a:t>
            </a:r>
            <a:endParaRPr lang="en-US" sz="1100"/>
          </a:p>
        </p:txBody>
      </p:sp>
      <p:sp>
        <p:nvSpPr>
          <p:cNvPr id="13" name="PageNum 13"/>
          <p:cNvSpPr txBox="1"/>
          <p:nvPr/>
        </p:nvSpPr>
        <p:spPr>
          <a:xfrm>
            <a:off x="8651672" y="4754880"/>
            <a:ext cx="218008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 b="0">
                <a:solidFill>
                  <a:srgbClr val="64748B"/>
                </a:solidFill>
                <a:latin typeface="Calibri"/>
              </a:rPr>
              <a:t>5/20</a:t>
            </a:r>
            <a:endParaRPr sz="900" b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4864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65A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Ograničenja Turing mašine</a:t>
            </a:r>
            <a:endParaRPr lang="en-US" sz="280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Teorijski moćna, ali praktično najsporija implementacija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Sekvencijalna po definiciji — jedna glava, jedan korak po taktu</a:t>
            </a:r>
            <a:endParaRPr lang="en-US" sz="140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Nema RAM-a — pristup memoriji zahteva pomeranje glave korak po korak</a:t>
            </a:r>
            <a:endParaRPr lang="en-US" sz="140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Složenost pristupa: O(n) da se dođe do n-te ćelije</a:t>
            </a:r>
            <a:endParaRPr lang="en-US" sz="140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Nema paralelizma — za razliku od CUDA (hiljade niti) ili multi-core CPU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6035040" y="1920240"/>
            <a:ext cx="2743200" cy="7772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0" y="20116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</a:rPr>
              <a:t>Rad</a:t>
            </a:r>
            <a:endParaRPr lang="en-US" sz="1300"/>
          </a:p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</a:rPr>
              <a:t>O(n) po elementu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6035040" y="2880360"/>
            <a:ext cx="2743200" cy="77724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0" y="29718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</a:rPr>
              <a:t>Pristup</a:t>
            </a:r>
            <a:endParaRPr lang="en-US" sz="1300"/>
          </a:p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</a:rPr>
              <a:t>Sekvencijalan</a:t>
            </a:r>
            <a:endParaRPr lang="en-US" sz="1300"/>
          </a:p>
        </p:txBody>
      </p:sp>
      <p:sp>
        <p:nvSpPr>
          <p:cNvPr id="12" name="Shape 10"/>
          <p:cNvSpPr/>
          <p:nvPr/>
        </p:nvSpPr>
        <p:spPr>
          <a:xfrm>
            <a:off x="6035040" y="3840480"/>
            <a:ext cx="2743200" cy="777240"/>
          </a:xfrm>
          <a:prstGeom prst="rect">
            <a:avLst/>
          </a:prstGeom>
          <a:solidFill>
            <a:srgbClr val="065A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0" y="39319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</a:rPr>
              <a:t>Paralelizam</a:t>
            </a:r>
            <a:endParaRPr lang="en-US" sz="1300"/>
          </a:p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</a:rPr>
              <a:t>Nemoguć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7178040" y="26791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4748B"/>
                </a:solidFill>
              </a:rPr>
              <a:t>▼</a:t>
            </a:r>
            <a:endParaRPr lang="en-US" sz="1000"/>
          </a:p>
        </p:txBody>
      </p:sp>
      <p:sp>
        <p:nvSpPr>
          <p:cNvPr id="15" name="Text 13"/>
          <p:cNvSpPr/>
          <p:nvPr/>
        </p:nvSpPr>
        <p:spPr>
          <a:xfrm>
            <a:off x="7178040" y="363931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4748B"/>
                </a:solidFill>
              </a:rPr>
              <a:t>▼</a:t>
            </a:r>
            <a:endParaRPr lang="en-US" sz="1000"/>
          </a:p>
        </p:txBody>
      </p:sp>
      <p:sp>
        <p:nvSpPr>
          <p:cNvPr id="16" name="TextBox 15"/>
          <p:cNvSpPr txBox="1"/>
          <p:nvPr/>
        </p:nvSpPr>
        <p:spPr>
          <a:xfrm>
            <a:off x="8651672" y="4754880"/>
            <a:ext cx="218008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 b="0">
                <a:solidFill>
                  <a:srgbClr val="64748B"/>
                </a:solidFill>
                <a:latin typeface="Calibri"/>
              </a:rPr>
              <a:t>6/20</a:t>
            </a:r>
            <a:endParaRPr sz="900" b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lelloch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/>
          <p:nvPr/>
        </p:nvSpPr>
        <p:spPr>
          <a:xfrm>
            <a:off x="548640" y="685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/>
          <a:lstStyle/>
          <a:p>
            <a:pPr>
              <a:buNone/>
            </a:pPr>
            <a:r>
              <a:rPr lang="en-US" sz="3200" b="1">
                <a:solidFill>
                  <a:srgbClr val="065A60"/>
                </a:solidFill>
                <a:latin typeface="Trebuchet MS"/>
              </a:rPr>
              <a:t>Prefix Scan na Turing mašini</a:t>
            </a:r>
          </a:p>
        </p:txBody>
      </p:sp>
      <p:sp>
        <p:nvSpPr>
          <p:cNvPr id="5" name="Sub"/>
          <p:cNvSpPr/>
          <p:nvPr/>
        </p:nvSpPr>
        <p:spPr>
          <a:xfrm>
            <a:off x="548640" y="1234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/>
          <a:lstStyle/>
          <a:p>
            <a:pPr>
              <a:buNone/>
            </a:pPr>
            <a:r>
              <a:rPr lang="en-US" sz="1200" i="1">
                <a:solidFill>
                  <a:srgbClr val="0D9488"/>
                </a:solidFill>
                <a:latin typeface="Calibri"/>
              </a:rPr>
              <a:t>Sekvencijalna implementacija na beskonačnoj traci</a:t>
            </a:r>
          </a:p>
        </p:txBody>
      </p:sp>
      <p:sp>
        <p:nvSpPr>
          <p:cNvPr id="10" name="C1BG"/>
          <p:cNvSpPr/>
          <p:nvPr/>
        </p:nvSpPr>
        <p:spPr>
          <a:xfrm>
            <a:off x="548640" y="1691640"/>
            <a:ext cx="3840480" cy="795528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C1Lbl"/>
          <p:cNvSpPr/>
          <p:nvPr/>
        </p:nvSpPr>
        <p:spPr>
          <a:xfrm>
            <a:off x="731520" y="1737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000" b="1">
                <a:solidFill>
                  <a:srgbClr val="64748B"/>
                </a:solidFill>
                <a:latin typeface="Calibri"/>
              </a:rPr>
              <a:t>Algoritam</a:t>
            </a:r>
          </a:p>
        </p:txBody>
      </p:sp>
      <p:sp>
        <p:nvSpPr>
          <p:cNvPr id="12" name="C1Val"/>
          <p:cNvSpPr/>
          <p:nvPr/>
        </p:nvSpPr>
        <p:spPr>
          <a:xfrm>
            <a:off x="731520" y="2057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800" b="1">
                <a:solidFill>
                  <a:srgbClr val="0D9488"/>
                </a:solidFill>
                <a:latin typeface="Trebuchet MS"/>
              </a:rPr>
              <a:t>Jednosmerni prolaz</a:t>
            </a:r>
          </a:p>
        </p:txBody>
      </p:sp>
      <p:sp>
        <p:nvSpPr>
          <p:cNvPr id="13" name="C2BG"/>
          <p:cNvSpPr/>
          <p:nvPr/>
        </p:nvSpPr>
        <p:spPr>
          <a:xfrm>
            <a:off x="548640" y="2560320"/>
            <a:ext cx="3840480" cy="713232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C2Lbl"/>
          <p:cNvSpPr/>
          <p:nvPr/>
        </p:nvSpPr>
        <p:spPr>
          <a:xfrm>
            <a:off x="731520" y="2606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000" b="1">
                <a:solidFill>
                  <a:srgbClr val="64748B"/>
                </a:solidFill>
                <a:latin typeface="Calibri"/>
              </a:rPr>
              <a:t>Rad</a:t>
            </a:r>
          </a:p>
        </p:txBody>
      </p:sp>
      <p:sp>
        <p:nvSpPr>
          <p:cNvPr id="15" name="C2Val"/>
          <p:cNvSpPr/>
          <p:nvPr/>
        </p:nvSpPr>
        <p:spPr>
          <a:xfrm>
            <a:off x="73152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800" b="1">
                <a:solidFill>
                  <a:srgbClr val="0D9488"/>
                </a:solidFill>
                <a:latin typeface="Trebuchet MS"/>
              </a:rPr>
              <a:t>O(N)</a:t>
            </a:r>
          </a:p>
        </p:txBody>
      </p:sp>
      <p:sp>
        <p:nvSpPr>
          <p:cNvPr id="16" name="C2Desc"/>
          <p:cNvSpPr/>
          <p:nvPr/>
        </p:nvSpPr>
        <p:spPr>
          <a:xfrm>
            <a:off x="2560320" y="2834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100">
                <a:solidFill>
                  <a:srgbClr val="475569"/>
                </a:solidFill>
                <a:latin typeface="Calibri"/>
              </a:rPr>
              <a:t>N sabiranja</a:t>
            </a:r>
          </a:p>
        </p:txBody>
      </p:sp>
      <p:sp>
        <p:nvSpPr>
          <p:cNvPr id="17" name="C3BG"/>
          <p:cNvSpPr/>
          <p:nvPr/>
        </p:nvSpPr>
        <p:spPr>
          <a:xfrm>
            <a:off x="548640" y="3429000"/>
            <a:ext cx="3840480" cy="713232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C3Lbl"/>
          <p:cNvSpPr/>
          <p:nvPr/>
        </p:nvSpPr>
        <p:spPr>
          <a:xfrm>
            <a:off x="731520" y="3474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000" b="1">
                <a:solidFill>
                  <a:srgbClr val="64748B"/>
                </a:solidFill>
                <a:latin typeface="Calibri"/>
              </a:rPr>
              <a:t>Vreme</a:t>
            </a:r>
          </a:p>
        </p:txBody>
      </p:sp>
      <p:sp>
        <p:nvSpPr>
          <p:cNvPr id="19" name="C3Val"/>
          <p:cNvSpPr/>
          <p:nvPr/>
        </p:nvSpPr>
        <p:spPr>
          <a:xfrm>
            <a:off x="731520" y="3703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800" b="1">
                <a:solidFill>
                  <a:srgbClr val="0D9488"/>
                </a:solidFill>
                <a:latin typeface="Trebuchet MS"/>
              </a:rPr>
              <a:t>O(N²)</a:t>
            </a:r>
          </a:p>
        </p:txBody>
      </p:sp>
      <p:sp>
        <p:nvSpPr>
          <p:cNvPr id="20" name="C3Desc"/>
          <p:cNvSpPr/>
          <p:nvPr/>
        </p:nvSpPr>
        <p:spPr>
          <a:xfrm>
            <a:off x="2560320" y="3703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100">
                <a:solidFill>
                  <a:srgbClr val="475569"/>
                </a:solidFill>
                <a:latin typeface="Calibri"/>
              </a:rPr>
              <a:t>pomeranje glave dominira</a:t>
            </a:r>
          </a:p>
        </p:txBody>
      </p:sp>
      <p:sp>
        <p:nvSpPr>
          <p:cNvPr id="30" name="CmpBG"/>
          <p:cNvSpPr/>
          <p:nvPr/>
        </p:nvSpPr>
        <p:spPr>
          <a:xfrm>
            <a:off x="4937760" y="1691640"/>
            <a:ext cx="3840480" cy="118872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CmpTitle"/>
          <p:cNvSpPr/>
          <p:nvPr/>
        </p:nvSpPr>
        <p:spPr>
          <a:xfrm>
            <a:off x="5120640" y="1737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400" b="1">
                <a:solidFill>
                  <a:srgbClr val="065A60"/>
                </a:solidFill>
                <a:latin typeface="Trebuchet MS"/>
              </a:rPr>
              <a:t>vs. CUDA i CPU</a:t>
            </a:r>
          </a:p>
        </p:txBody>
      </p:sp>
      <p:sp>
        <p:nvSpPr>
          <p:cNvPr id="32" name="CmpBody"/>
          <p:cNvSpPr/>
          <p:nvPr/>
        </p:nvSpPr>
        <p:spPr>
          <a:xfrm>
            <a:off x="5120640" y="20116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/>
          <a:lstStyle/>
          <a:p>
            <a:pPr>
              <a:spcAft>
                <a:spcPts val="400"/>
              </a:spcAft>
              <a:buChar char="▪"/>
            </a:pPr>
            <a:r>
              <a:rPr lang="en-US" sz="1100" dirty="0">
                <a:solidFill>
                  <a:srgbClr val="1E293B"/>
                </a:solidFill>
                <a:latin typeface="Calibri"/>
              </a:rPr>
              <a:t>CPU: O(N) rad, O(N)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vreme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 —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najbrže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sekvencijalno</a:t>
            </a:r>
            <a:endParaRPr lang="en-US" sz="1100" dirty="0">
              <a:solidFill>
                <a:srgbClr val="1E293B"/>
              </a:solidFill>
              <a:latin typeface="Calibri"/>
            </a:endParaRPr>
          </a:p>
          <a:p>
            <a:pPr>
              <a:spcAft>
                <a:spcPts val="400"/>
              </a:spcAft>
              <a:buChar char="▪"/>
            </a:pPr>
            <a:r>
              <a:rPr lang="en-US" sz="1100" dirty="0">
                <a:solidFill>
                  <a:srgbClr val="1E293B"/>
                </a:solidFill>
                <a:latin typeface="Calibri"/>
              </a:rPr>
              <a:t>CUDA: O(N) rad, O(log N)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vreme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 —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masivni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paralelizam</a:t>
            </a:r>
            <a:endParaRPr lang="en-US" sz="1100" dirty="0">
              <a:solidFill>
                <a:srgbClr val="1E293B"/>
              </a:solidFill>
              <a:latin typeface="Calibri"/>
            </a:endParaRPr>
          </a:p>
          <a:p>
            <a:pPr>
              <a:buChar char="▪"/>
            </a:pPr>
            <a:r>
              <a:rPr lang="en-US" sz="1100" dirty="0">
                <a:solidFill>
                  <a:srgbClr val="1E293B"/>
                </a:solidFill>
                <a:latin typeface="Calibri"/>
              </a:rPr>
              <a:t>TM: O(N) rad, O(N²)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vreme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 —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pristup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traci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 je </a:t>
            </a:r>
            <a:r>
              <a:rPr lang="en-US" sz="1100" dirty="0" err="1">
                <a:solidFill>
                  <a:srgbClr val="1E293B"/>
                </a:solidFill>
                <a:latin typeface="Calibri"/>
              </a:rPr>
              <a:t>skup</a:t>
            </a:r>
            <a:endParaRPr lang="en-US" sz="110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40" name="PhaseBG"/>
          <p:cNvSpPr/>
          <p:nvPr/>
        </p:nvSpPr>
        <p:spPr>
          <a:xfrm>
            <a:off x="4937760" y="3063240"/>
            <a:ext cx="3840480" cy="10972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PhaseText"/>
          <p:cNvSpPr/>
          <p:nvPr/>
        </p:nvSpPr>
        <p:spPr>
          <a:xfrm>
            <a:off x="5120640" y="31090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/>
          <a:lstStyle/>
          <a:p>
            <a:pPr>
              <a:spcAft>
                <a:spcPts val="400"/>
              </a:spcAft>
              <a:buNone/>
            </a:pPr>
            <a:r>
              <a:rPr lang="en-US" sz="1000" b="1">
                <a:solidFill>
                  <a:srgbClr val="0D9488"/>
                </a:solidFill>
                <a:latin typeface="Consolas"/>
              </a:rPr>
              <a:t>Koraci algoritma</a:t>
            </a:r>
          </a:p>
          <a:p>
            <a:pPr>
              <a:spcAft>
                <a:spcPts val="600"/>
              </a:spcAft>
              <a:buNone/>
            </a:pPr>
            <a:r>
              <a:rPr lang="en-US" sz="900">
                <a:solidFill>
                  <a:srgbClr val="E2E8F0"/>
                </a:solidFill>
                <a:latin typeface="Consolas"/>
              </a:rPr>
              <a:t>1. Čitaj x[i], zapamti u stanju</a:t>
            </a:r>
          </a:p>
          <a:p>
            <a:pPr>
              <a:spcAft>
                <a:spcPts val="400"/>
              </a:spcAft>
              <a:buNone/>
            </a:pPr>
            <a:r>
              <a:rPr lang="en-US" sz="1000" b="1">
                <a:solidFill>
                  <a:srgbClr val="0D9488"/>
                </a:solidFill>
                <a:latin typeface="Consolas"/>
              </a:rPr>
              <a:t>2. Pomeri do y[i], piši sumu</a:t>
            </a:r>
          </a:p>
          <a:p>
            <a:pPr>
              <a:buNone/>
            </a:pPr>
            <a:r>
              <a:rPr lang="en-US" sz="900">
                <a:solidFill>
                  <a:srgbClr val="E2E8F0"/>
                </a:solidFill>
                <a:latin typeface="Consolas"/>
              </a:rPr>
              <a:t>3. Vrati se na x[i+1], ponovi</a:t>
            </a:r>
          </a:p>
        </p:txBody>
      </p:sp>
      <p:sp>
        <p:nvSpPr>
          <p:cNvPr id="50" name="Footer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i="1">
                <a:solidFill>
                  <a:srgbClr val="475569"/>
                </a:solidFill>
                <a:latin typeface="Calibri"/>
              </a:rPr>
              <a:t>O(N²) dolazi od pomeranja glave između ulazne i izlazne zone na traci</a:t>
            </a:r>
          </a:p>
        </p:txBody>
      </p:sp>
      <p:sp>
        <p:nvSpPr>
          <p:cNvPr id="51" name="PageNum 51"/>
          <p:cNvSpPr txBox="1"/>
          <p:nvPr/>
        </p:nvSpPr>
        <p:spPr>
          <a:xfrm>
            <a:off x="8651672" y="4754880"/>
            <a:ext cx="218008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 b="0">
                <a:solidFill>
                  <a:srgbClr val="64748B"/>
                </a:solidFill>
                <a:latin typeface="Calibri"/>
              </a:rPr>
              <a:t>7/20</a:t>
            </a:r>
            <a:endParaRPr sz="900" b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60320" y="320040"/>
            <a:ext cx="64008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</a:rPr>
              <a:t>Inicijalno stanje</a:t>
            </a:r>
          </a:p>
        </p:txBody>
      </p:sp>
      <p:pic>
        <p:nvPicPr>
          <p:cNvPr id="4" name="Picture 3" descr="hs_stag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362" y="914400"/>
            <a:ext cx="6473275" cy="4046220"/>
          </a:xfrm>
          <a:prstGeom prst="rect">
            <a:avLst/>
          </a:prstGeom>
        </p:spPr>
      </p:pic>
      <p:sp>
        <p:nvSpPr>
          <p:cNvPr id="20" name="DisclaimerBG"/>
          <p:cNvSpPr/>
          <p:nvPr/>
        </p:nvSpPr>
        <p:spPr>
          <a:xfrm>
            <a:off x="274320" y="3842369"/>
            <a:ext cx="8595360" cy="64008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DisclaimerText"/>
          <p:cNvSpPr/>
          <p:nvPr/>
        </p:nvSpPr>
        <p:spPr>
          <a:xfrm>
            <a:off x="457199" y="3842369"/>
            <a:ext cx="822960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</a:rPr>
              <a:t>⚠ </a:t>
            </a:r>
            <a:r>
              <a:rPr lang="en-US" sz="1100" b="1" dirty="0" err="1">
                <a:solidFill>
                  <a:srgbClr val="92400E"/>
                </a:solidFill>
                <a:latin typeface="Calibri" pitchFamily="34" charset="0"/>
              </a:rPr>
              <a:t>Pojednostavljen</a:t>
            </a:r>
            <a:r>
              <a:rPr lang="en-US" sz="1100" b="1" dirty="0">
                <a:solidFill>
                  <a:srgbClr val="92400E"/>
                </a:solidFill>
                <a:latin typeface="Calibri" pitchFamily="34" charset="0"/>
              </a:rPr>
              <a:t> </a:t>
            </a:r>
            <a:r>
              <a:rPr lang="en-US" sz="1100" b="1" dirty="0" err="1">
                <a:solidFill>
                  <a:srgbClr val="92400E"/>
                </a:solidFill>
                <a:latin typeface="Calibri" pitchFamily="34" charset="0"/>
              </a:rPr>
              <a:t>prikaz</a:t>
            </a:r>
            <a:r>
              <a:rPr lang="en-US" sz="1100" b="1" dirty="0">
                <a:solidFill>
                  <a:srgbClr val="92400E"/>
                </a:solidFill>
                <a:latin typeface="Calibri" pitchFamily="34" charset="0"/>
              </a:rPr>
              <a:t>: </a:t>
            </a:r>
            <a:r>
              <a:rPr lang="en-US" sz="1100" dirty="0" err="1">
                <a:solidFill>
                  <a:srgbClr val="92400E"/>
                </a:solidFill>
                <a:latin typeface="Calibri" pitchFamily="34" charset="0"/>
              </a:rPr>
              <a:t>Koristimo</a:t>
            </a:r>
            <a:r>
              <a:rPr lang="en-US" sz="1100" dirty="0">
                <a:solidFill>
                  <a:srgbClr val="92400E"/>
                </a:solidFill>
                <a:latin typeface="Calibri" pitchFamily="34" charset="0"/>
              </a:rPr>
              <a:t> </a:t>
            </a:r>
            <a:r>
              <a:rPr lang="en-US" sz="1100" dirty="0" err="1">
                <a:solidFill>
                  <a:srgbClr val="92400E"/>
                </a:solidFill>
                <a:latin typeface="Calibri" pitchFamily="34" charset="0"/>
              </a:rPr>
              <a:t>decimalne</a:t>
            </a:r>
            <a:r>
              <a:rPr lang="en-US" sz="1100" dirty="0">
                <a:solidFill>
                  <a:srgbClr val="92400E"/>
                </a:solidFill>
                <a:latin typeface="Calibri" pitchFamily="34" charset="0"/>
              </a:rPr>
              <a:t> </a:t>
            </a:r>
            <a:r>
              <a:rPr lang="en-US" sz="1100" dirty="0" err="1">
                <a:solidFill>
                  <a:srgbClr val="92400E"/>
                </a:solidFill>
                <a:latin typeface="Calibri" pitchFamily="34" charset="0"/>
              </a:rPr>
              <a:t>brojeve</a:t>
            </a:r>
            <a:r>
              <a:rPr lang="en-US" sz="1100" dirty="0">
                <a:solidFill>
                  <a:srgbClr val="92400E"/>
                </a:solidFill>
                <a:latin typeface="Calibri" pitchFamily="34" charset="0"/>
              </a:rPr>
              <a:t> </a:t>
            </a:r>
            <a:r>
              <a:rPr lang="en-US" sz="1100" dirty="0" err="1">
                <a:solidFill>
                  <a:srgbClr val="92400E"/>
                </a:solidFill>
                <a:latin typeface="Calibri" pitchFamily="34" charset="0"/>
              </a:rPr>
              <a:t>i</a:t>
            </a:r>
            <a:r>
              <a:rPr lang="en-US" sz="1100" dirty="0">
                <a:solidFill>
                  <a:srgbClr val="92400E"/>
                </a:solidFill>
                <a:latin typeface="Calibri" pitchFamily="34" charset="0"/>
              </a:rPr>
              <a:t> </a:t>
            </a:r>
            <a:r>
              <a:rPr lang="en-US" sz="1100" dirty="0" err="1">
                <a:solidFill>
                  <a:srgbClr val="92400E"/>
                </a:solidFill>
                <a:latin typeface="Calibri" pitchFamily="34" charset="0"/>
              </a:rPr>
              <a:t>akumulator</a:t>
            </a:r>
            <a:r>
              <a:rPr lang="en-US" sz="1100" dirty="0">
                <a:solidFill>
                  <a:srgbClr val="92400E"/>
                </a:solidFill>
                <a:latin typeface="Calibri" pitchFamily="34" charset="0"/>
              </a:rPr>
              <a:t> </a:t>
            </a:r>
            <a:r>
              <a:rPr lang="en-US" sz="1100" dirty="0" err="1">
                <a:solidFill>
                  <a:srgbClr val="92400E"/>
                </a:solidFill>
                <a:latin typeface="Calibri" pitchFamily="34" charset="0"/>
              </a:rPr>
              <a:t>radi</a:t>
            </a:r>
            <a:r>
              <a:rPr lang="en-US" sz="1100" dirty="0">
                <a:solidFill>
                  <a:srgbClr val="92400E"/>
                </a:solidFill>
                <a:latin typeface="Calibri" pitchFamily="34" charset="0"/>
              </a:rPr>
              <a:t> </a:t>
            </a:r>
            <a:r>
              <a:rPr lang="en-US" sz="1100" dirty="0" err="1">
                <a:solidFill>
                  <a:srgbClr val="92400E"/>
                </a:solidFill>
                <a:latin typeface="Calibri" pitchFamily="34" charset="0"/>
              </a:rPr>
              <a:t>preglednosti</a:t>
            </a:r>
            <a:r>
              <a:rPr lang="en-US" sz="1100" dirty="0">
                <a:solidFill>
                  <a:srgbClr val="92400E"/>
                </a:solidFill>
                <a:latin typeface="Calibri" pitchFamily="34" charset="0"/>
              </a:rPr>
              <a:t>. Prava TM bi </a:t>
            </a:r>
            <a:r>
              <a:rPr lang="en-US" sz="1100" dirty="0" err="1">
                <a:solidFill>
                  <a:srgbClr val="92400E"/>
                </a:solidFill>
                <a:latin typeface="Calibri" pitchFamily="34" charset="0"/>
              </a:rPr>
              <a:t>koristila</a:t>
            </a:r>
            <a:r>
              <a:rPr lang="en-US" sz="1100" dirty="0">
                <a:solidFill>
                  <a:srgbClr val="92400E"/>
                </a:solidFill>
                <a:latin typeface="Calibri" pitchFamily="34" charset="0"/>
              </a:rPr>
              <a:t> </a:t>
            </a:r>
            <a:r>
              <a:rPr lang="en-US" sz="1100" dirty="0" err="1">
                <a:solidFill>
                  <a:srgbClr val="92400E"/>
                </a:solidFill>
                <a:latin typeface="Calibri" pitchFamily="34" charset="0"/>
              </a:rPr>
              <a:t>unarni</a:t>
            </a:r>
            <a:r>
              <a:rPr lang="en-US" sz="1100" dirty="0">
                <a:solidFill>
                  <a:srgbClr val="92400E"/>
                </a:solidFill>
                <a:latin typeface="Calibri" pitchFamily="34" charset="0"/>
              </a:rPr>
              <a:t> </a:t>
            </a:r>
            <a:r>
              <a:rPr lang="en-US" sz="1100" dirty="0" err="1">
                <a:solidFill>
                  <a:srgbClr val="92400E"/>
                </a:solidFill>
                <a:latin typeface="Calibri" pitchFamily="34" charset="0"/>
              </a:rPr>
              <a:t>zapis</a:t>
            </a:r>
            <a:r>
              <a:rPr lang="en-US" sz="1100" dirty="0">
                <a:solidFill>
                  <a:srgbClr val="92400E"/>
                </a:solidFill>
                <a:latin typeface="Calibri" pitchFamily="34" charset="0"/>
              </a:rPr>
              <a:t> (3 = 111), </a:t>
            </a:r>
            <a:r>
              <a:rPr lang="en-US" sz="1100" dirty="0" err="1">
                <a:solidFill>
                  <a:srgbClr val="92400E"/>
                </a:solidFill>
                <a:latin typeface="Calibri" pitchFamily="34" charset="0"/>
              </a:rPr>
              <a:t>sabiranje</a:t>
            </a:r>
            <a:r>
              <a:rPr lang="en-US" sz="1100" dirty="0">
                <a:solidFill>
                  <a:srgbClr val="92400E"/>
                </a:solidFill>
                <a:latin typeface="Calibri" pitchFamily="34" charset="0"/>
              </a:rPr>
              <a:t> </a:t>
            </a:r>
            <a:r>
              <a:rPr lang="en-US" sz="1100" dirty="0" err="1">
                <a:solidFill>
                  <a:srgbClr val="92400E"/>
                </a:solidFill>
                <a:latin typeface="Calibri" pitchFamily="34" charset="0"/>
              </a:rPr>
              <a:t>simbol</a:t>
            </a:r>
            <a:r>
              <a:rPr lang="en-US" sz="1100" dirty="0">
                <a:solidFill>
                  <a:srgbClr val="92400E"/>
                </a:solidFill>
                <a:latin typeface="Calibri" pitchFamily="34" charset="0"/>
              </a:rPr>
              <a:t>-po-</a:t>
            </a:r>
            <a:r>
              <a:rPr lang="en-US" sz="1100" dirty="0" err="1">
                <a:solidFill>
                  <a:srgbClr val="92400E"/>
                </a:solidFill>
                <a:latin typeface="Calibri" pitchFamily="34" charset="0"/>
              </a:rPr>
              <a:t>simbol</a:t>
            </a:r>
            <a:r>
              <a:rPr lang="en-US" sz="1100" dirty="0">
                <a:solidFill>
                  <a:srgbClr val="92400E"/>
                </a:solidFill>
                <a:latin typeface="Calibri" pitchFamily="34" charset="0"/>
              </a:rPr>
              <a:t> </a:t>
            </a:r>
            <a:r>
              <a:rPr lang="en-US" sz="1100" dirty="0" err="1">
                <a:solidFill>
                  <a:srgbClr val="92400E"/>
                </a:solidFill>
                <a:latin typeface="Calibri" pitchFamily="34" charset="0"/>
              </a:rPr>
              <a:t>na</a:t>
            </a:r>
            <a:r>
              <a:rPr lang="en-US" sz="1100" dirty="0">
                <a:solidFill>
                  <a:srgbClr val="92400E"/>
                </a:solidFill>
                <a:latin typeface="Calibri" pitchFamily="34" charset="0"/>
              </a:rPr>
              <a:t> </a:t>
            </a:r>
            <a:r>
              <a:rPr lang="en-US" sz="1100" dirty="0" err="1">
                <a:solidFill>
                  <a:srgbClr val="92400E"/>
                </a:solidFill>
                <a:latin typeface="Calibri" pitchFamily="34" charset="0"/>
              </a:rPr>
              <a:t>traci</a:t>
            </a:r>
            <a:r>
              <a:rPr lang="en-US" sz="1100" dirty="0">
                <a:solidFill>
                  <a:srgbClr val="92400E"/>
                </a:solidFill>
                <a:latin typeface="Calibri" pitchFamily="34" charset="0"/>
              </a:rPr>
              <a:t>, bez </a:t>
            </a:r>
            <a:r>
              <a:rPr lang="en-US" sz="1100" dirty="0" err="1">
                <a:solidFill>
                  <a:srgbClr val="92400E"/>
                </a:solidFill>
                <a:latin typeface="Calibri" pitchFamily="34" charset="0"/>
              </a:rPr>
              <a:t>akumulatora</a:t>
            </a:r>
            <a:r>
              <a:rPr lang="en-US" sz="1100" dirty="0">
                <a:solidFill>
                  <a:srgbClr val="92400E"/>
                </a:solidFill>
                <a:latin typeface="Calibri" pitchFamily="34" charset="0"/>
              </a:rPr>
              <a:t> — </a:t>
            </a:r>
            <a:r>
              <a:rPr lang="en-US" sz="1100" dirty="0" err="1">
                <a:solidFill>
                  <a:srgbClr val="92400E"/>
                </a:solidFill>
                <a:latin typeface="Calibri" pitchFamily="34" charset="0"/>
              </a:rPr>
              <a:t>samo</a:t>
            </a:r>
            <a:r>
              <a:rPr lang="en-US" sz="1100" dirty="0">
                <a:solidFill>
                  <a:srgbClr val="92400E"/>
                </a:solidFill>
                <a:latin typeface="Calibri" pitchFamily="34" charset="0"/>
              </a:rPr>
              <a:t> </a:t>
            </a:r>
            <a:r>
              <a:rPr lang="en-US" sz="1100" dirty="0" err="1">
                <a:solidFill>
                  <a:srgbClr val="92400E"/>
                </a:solidFill>
                <a:latin typeface="Calibri" pitchFamily="34" charset="0"/>
              </a:rPr>
              <a:t>stanja</a:t>
            </a:r>
            <a:r>
              <a:rPr lang="en-US" sz="1100" dirty="0">
                <a:solidFill>
                  <a:srgbClr val="92400E"/>
                </a:solidFill>
                <a:latin typeface="Calibri" pitchFamily="34" charset="0"/>
              </a:rPr>
              <a:t> </a:t>
            </a:r>
            <a:r>
              <a:rPr lang="en-US" sz="1100" dirty="0" err="1">
                <a:solidFill>
                  <a:srgbClr val="92400E"/>
                </a:solidFill>
                <a:latin typeface="Calibri" pitchFamily="34" charset="0"/>
              </a:rPr>
              <a:t>i</a:t>
            </a:r>
            <a:r>
              <a:rPr lang="en-US" sz="1100" dirty="0">
                <a:solidFill>
                  <a:srgbClr val="92400E"/>
                </a:solidFill>
                <a:latin typeface="Calibri" pitchFamily="34" charset="0"/>
              </a:rPr>
              <a:t> </a:t>
            </a:r>
            <a:r>
              <a:rPr lang="en-US" sz="1100" dirty="0" err="1">
                <a:solidFill>
                  <a:srgbClr val="92400E"/>
                </a:solidFill>
                <a:latin typeface="Calibri" pitchFamily="34" charset="0"/>
              </a:rPr>
              <a:t>traku</a:t>
            </a:r>
            <a:r>
              <a:rPr lang="en-US" sz="1100" dirty="0">
                <a:solidFill>
                  <a:srgbClr val="92400E"/>
                </a:solidFill>
                <a:latin typeface="Calibri" pitchFamily="34" charset="0"/>
              </a:rPr>
              <a:t>. To bi </a:t>
            </a:r>
            <a:r>
              <a:rPr lang="en-US" sz="1100" dirty="0" err="1">
                <a:solidFill>
                  <a:srgbClr val="92400E"/>
                </a:solidFill>
                <a:latin typeface="Calibri" pitchFamily="34" charset="0"/>
              </a:rPr>
              <a:t>zahtevalo</a:t>
            </a:r>
            <a:r>
              <a:rPr lang="en-US" sz="1100" dirty="0">
                <a:solidFill>
                  <a:srgbClr val="92400E"/>
                </a:solidFill>
                <a:latin typeface="Calibri" pitchFamily="34" charset="0"/>
              </a:rPr>
              <a:t> </a:t>
            </a:r>
            <a:r>
              <a:rPr lang="en-US" sz="1100" dirty="0" err="1">
                <a:solidFill>
                  <a:srgbClr val="92400E"/>
                </a:solidFill>
                <a:latin typeface="Calibri" pitchFamily="34" charset="0"/>
              </a:rPr>
              <a:t>znatno</a:t>
            </a:r>
            <a:r>
              <a:rPr lang="en-US" sz="1100" dirty="0">
                <a:solidFill>
                  <a:srgbClr val="92400E"/>
                </a:solidFill>
                <a:latin typeface="Calibri" pitchFamily="34" charset="0"/>
              </a:rPr>
              <a:t> </a:t>
            </a:r>
            <a:r>
              <a:rPr lang="en-US" sz="1100" dirty="0" err="1">
                <a:solidFill>
                  <a:srgbClr val="92400E"/>
                </a:solidFill>
                <a:latin typeface="Calibri" pitchFamily="34" charset="0"/>
              </a:rPr>
              <a:t>više</a:t>
            </a:r>
            <a:r>
              <a:rPr lang="en-US" sz="1100" dirty="0">
                <a:solidFill>
                  <a:srgbClr val="92400E"/>
                </a:solidFill>
                <a:latin typeface="Calibri" pitchFamily="34" charset="0"/>
              </a:rPr>
              <a:t> </a:t>
            </a:r>
            <a:r>
              <a:rPr lang="en-US" sz="1100" dirty="0" err="1">
                <a:solidFill>
                  <a:srgbClr val="92400E"/>
                </a:solidFill>
                <a:latin typeface="Calibri" pitchFamily="34" charset="0"/>
              </a:rPr>
              <a:t>koraka</a:t>
            </a:r>
            <a:r>
              <a:rPr lang="en-US" sz="1100" dirty="0">
                <a:solidFill>
                  <a:srgbClr val="92400E"/>
                </a:solidFill>
                <a:latin typeface="Calibri" pitchFamily="34" charset="0"/>
              </a:rPr>
              <a:t> </a:t>
            </a:r>
            <a:r>
              <a:rPr lang="en-US" sz="1100" dirty="0" err="1">
                <a:solidFill>
                  <a:srgbClr val="92400E"/>
                </a:solidFill>
                <a:latin typeface="Calibri" pitchFamily="34" charset="0"/>
              </a:rPr>
              <a:t>i</a:t>
            </a:r>
            <a:r>
              <a:rPr lang="en-US" sz="1100" dirty="0">
                <a:solidFill>
                  <a:srgbClr val="92400E"/>
                </a:solidFill>
                <a:latin typeface="Calibri" pitchFamily="34" charset="0"/>
              </a:rPr>
              <a:t> </a:t>
            </a:r>
            <a:r>
              <a:rPr lang="en-US" sz="1100" dirty="0" err="1">
                <a:solidFill>
                  <a:srgbClr val="92400E"/>
                </a:solidFill>
                <a:latin typeface="Calibri" pitchFamily="34" charset="0"/>
              </a:rPr>
              <a:t>stanja</a:t>
            </a:r>
            <a:r>
              <a:rPr lang="en-US" sz="1100" dirty="0">
                <a:solidFill>
                  <a:srgbClr val="92400E"/>
                </a:solidFill>
                <a:latin typeface="Calibri" pitchFamily="34" charset="0"/>
              </a:rPr>
              <a:t>, </a:t>
            </a:r>
            <a:r>
              <a:rPr lang="en-US" sz="1100" dirty="0" err="1">
                <a:solidFill>
                  <a:srgbClr val="92400E"/>
                </a:solidFill>
                <a:latin typeface="Calibri" pitchFamily="34" charset="0"/>
              </a:rPr>
              <a:t>ali</a:t>
            </a:r>
            <a:r>
              <a:rPr lang="en-US" sz="1100" dirty="0">
                <a:solidFill>
                  <a:srgbClr val="92400E"/>
                </a:solidFill>
                <a:latin typeface="Calibri" pitchFamily="34" charset="0"/>
              </a:rPr>
              <a:t> je </a:t>
            </a:r>
            <a:r>
              <a:rPr lang="en-US" sz="1100" dirty="0" err="1">
                <a:solidFill>
                  <a:srgbClr val="92400E"/>
                </a:solidFill>
                <a:latin typeface="Calibri" pitchFamily="34" charset="0"/>
              </a:rPr>
              <a:t>algoritamski</a:t>
            </a:r>
            <a:r>
              <a:rPr lang="en-US" sz="1100" dirty="0">
                <a:solidFill>
                  <a:srgbClr val="92400E"/>
                </a:solidFill>
                <a:latin typeface="Calibri" pitchFamily="34" charset="0"/>
              </a:rPr>
              <a:t> </a:t>
            </a:r>
            <a:r>
              <a:rPr lang="en-US" sz="1100" dirty="0" err="1">
                <a:solidFill>
                  <a:srgbClr val="92400E"/>
                </a:solidFill>
                <a:latin typeface="Calibri" pitchFamily="34" charset="0"/>
              </a:rPr>
              <a:t>ekvivalentno</a:t>
            </a:r>
            <a:r>
              <a:rPr lang="en-US" sz="1100" dirty="0">
                <a:solidFill>
                  <a:srgbClr val="92400E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5" name="PageNum 5"/>
          <p:cNvSpPr txBox="1"/>
          <p:nvPr/>
        </p:nvSpPr>
        <p:spPr>
          <a:xfrm>
            <a:off x="8651672" y="4754880"/>
            <a:ext cx="218008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 b="0">
                <a:solidFill>
                  <a:srgbClr val="64748B"/>
                </a:solidFill>
                <a:latin typeface="Calibri"/>
              </a:rPr>
              <a:t>8/20</a:t>
            </a:r>
            <a:endParaRPr sz="900" b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60320" y="320040"/>
            <a:ext cx="2531719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</a:rPr>
              <a:t>Korak 1: </a:t>
            </a:r>
            <a:r>
              <a:rPr lang="en-US" sz="2000" b="1">
                <a:solidFill>
                  <a:srgbClr val="1F2937"/>
                </a:solidFill>
              </a:rPr>
              <a:t>čitaj ulaz[0] =</a:t>
            </a:r>
            <a:r>
              <a:rPr sz="2000" b="1">
                <a:solidFill>
                  <a:srgbClr val="1F2937"/>
                </a:solidFill>
              </a:rPr>
              <a:t> 3</a:t>
            </a:r>
          </a:p>
        </p:txBody>
      </p:sp>
      <p:pic>
        <p:nvPicPr>
          <p:cNvPr id="4" name="Picture 3" descr="hs_stag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362" y="914400"/>
            <a:ext cx="6473275" cy="4046220"/>
          </a:xfrm>
          <a:prstGeom prst="rect">
            <a:avLst/>
          </a:prstGeom>
        </p:spPr>
      </p:pic>
      <p:sp>
        <p:nvSpPr>
          <p:cNvPr id="5" name="PageNum 5"/>
          <p:cNvSpPr txBox="1"/>
          <p:nvPr/>
        </p:nvSpPr>
        <p:spPr>
          <a:xfrm>
            <a:off x="8651672" y="4754880"/>
            <a:ext cx="218008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 b="0">
                <a:solidFill>
                  <a:srgbClr val="64748B"/>
                </a:solidFill>
                <a:latin typeface="Calibri"/>
              </a:rPr>
              <a:t>9/20</a:t>
            </a:r>
            <a:endParaRPr sz="900" b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60320" y="320040"/>
            <a:ext cx="2732992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</a:rPr>
              <a:t>Korak 2: </a:t>
            </a:r>
            <a:r>
              <a:rPr lang="en-US" sz="2000" b="1">
                <a:solidFill>
                  <a:srgbClr val="1F2937"/>
                </a:solidFill>
              </a:rPr>
              <a:t>pomeri → upiši 3</a:t>
            </a:r>
            <a:endParaRPr sz="2000" b="1">
              <a:solidFill>
                <a:srgbClr val="1F2937"/>
              </a:solidFill>
            </a:endParaRPr>
          </a:p>
        </p:txBody>
      </p:sp>
      <p:pic>
        <p:nvPicPr>
          <p:cNvPr id="4" name="Picture 3" descr="hs_stag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362" y="914400"/>
            <a:ext cx="6473275" cy="4046220"/>
          </a:xfrm>
          <a:prstGeom prst="rect">
            <a:avLst/>
          </a:prstGeom>
        </p:spPr>
      </p:pic>
      <p:sp>
        <p:nvSpPr>
          <p:cNvPr id="5" name="PageNum 5"/>
          <p:cNvSpPr txBox="1"/>
          <p:nvPr/>
        </p:nvSpPr>
        <p:spPr>
          <a:xfrm>
            <a:off x="8593963" y="4754880"/>
            <a:ext cx="275717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 b="0">
                <a:solidFill>
                  <a:srgbClr val="64748B"/>
                </a:solidFill>
                <a:latin typeface="Calibri"/>
              </a:rPr>
              <a:t>10/20</a:t>
            </a:r>
            <a:endParaRPr sz="900" b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60320" y="320040"/>
            <a:ext cx="2670411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</a:rPr>
              <a:t>Korak 3: </a:t>
            </a:r>
            <a:r>
              <a:rPr lang="en-US" sz="2000" b="1">
                <a:solidFill>
                  <a:srgbClr val="1F2937"/>
                </a:solidFill>
              </a:rPr>
              <a:t>pomeri ← nazad</a:t>
            </a:r>
            <a:endParaRPr sz="2000" b="1">
              <a:solidFill>
                <a:srgbClr val="1F2937"/>
              </a:solidFill>
            </a:endParaRPr>
          </a:p>
        </p:txBody>
      </p:sp>
      <p:pic>
        <p:nvPicPr>
          <p:cNvPr id="4" name="Picture 3" descr="hs_stag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362" y="914400"/>
            <a:ext cx="6473275" cy="4046220"/>
          </a:xfrm>
          <a:prstGeom prst="rect">
            <a:avLst/>
          </a:prstGeom>
        </p:spPr>
      </p:pic>
      <p:sp>
        <p:nvSpPr>
          <p:cNvPr id="5" name="PageNum 5"/>
          <p:cNvSpPr txBox="1"/>
          <p:nvPr/>
        </p:nvSpPr>
        <p:spPr>
          <a:xfrm>
            <a:off x="8593963" y="4754880"/>
            <a:ext cx="275717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 b="0">
                <a:solidFill>
                  <a:srgbClr val="64748B"/>
                </a:solidFill>
                <a:latin typeface="Calibri"/>
              </a:rPr>
              <a:t>11/20</a:t>
            </a:r>
            <a:endParaRPr sz="900" b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60320" y="320040"/>
            <a:ext cx="2531719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</a:rPr>
              <a:t>Korak 4: </a:t>
            </a:r>
            <a:r>
              <a:rPr lang="en-US" sz="2000" b="1">
                <a:solidFill>
                  <a:srgbClr val="1F2937"/>
                </a:solidFill>
              </a:rPr>
              <a:t>čitaj ulaz[1] = 1</a:t>
            </a:r>
            <a:endParaRPr sz="2000" b="1">
              <a:solidFill>
                <a:srgbClr val="1F2937"/>
              </a:solidFill>
            </a:endParaRPr>
          </a:p>
        </p:txBody>
      </p:sp>
      <p:pic>
        <p:nvPicPr>
          <p:cNvPr id="4" name="Picture 3" descr="hs_stag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362" y="914400"/>
            <a:ext cx="6473275" cy="4046220"/>
          </a:xfrm>
          <a:prstGeom prst="rect">
            <a:avLst/>
          </a:prstGeom>
        </p:spPr>
      </p:pic>
      <p:sp>
        <p:nvSpPr>
          <p:cNvPr id="5" name="PageNum 5"/>
          <p:cNvSpPr txBox="1"/>
          <p:nvPr/>
        </p:nvSpPr>
        <p:spPr>
          <a:xfrm>
            <a:off x="8593963" y="4754880"/>
            <a:ext cx="275717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 b="0">
                <a:solidFill>
                  <a:srgbClr val="64748B"/>
                </a:solidFill>
                <a:latin typeface="Calibri"/>
              </a:rPr>
              <a:t>12/20</a:t>
            </a:r>
            <a:endParaRPr sz="900" b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60320" y="320040"/>
            <a:ext cx="64008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</a:rPr>
              <a:t>Korak 5: pomeri → upiši 4</a:t>
            </a:r>
          </a:p>
        </p:txBody>
      </p:sp>
      <p:pic>
        <p:nvPicPr>
          <p:cNvPr id="4" name="Picture 3" descr="hs_stag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362" y="914400"/>
            <a:ext cx="6473275" cy="4046220"/>
          </a:xfrm>
          <a:prstGeom prst="rect">
            <a:avLst/>
          </a:prstGeom>
        </p:spPr>
      </p:pic>
      <p:sp>
        <p:nvSpPr>
          <p:cNvPr id="5" name="PageNum 5"/>
          <p:cNvSpPr txBox="1"/>
          <p:nvPr/>
        </p:nvSpPr>
        <p:spPr>
          <a:xfrm>
            <a:off x="8593963" y="4754880"/>
            <a:ext cx="275717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 b="0">
                <a:solidFill>
                  <a:srgbClr val="64748B"/>
                </a:solidFill>
                <a:latin typeface="Calibri"/>
              </a:rPr>
              <a:t>13/20</a:t>
            </a:r>
            <a:endParaRPr sz="900" b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60320" y="320040"/>
            <a:ext cx="64008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</a:rPr>
              <a:t>Korak 6: pomeri ← nazad</a:t>
            </a:r>
          </a:p>
        </p:txBody>
      </p:sp>
      <p:pic>
        <p:nvPicPr>
          <p:cNvPr id="4" name="Picture 3" descr="hs_stag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362" y="914400"/>
            <a:ext cx="6473275" cy="4046220"/>
          </a:xfrm>
          <a:prstGeom prst="rect">
            <a:avLst/>
          </a:prstGeom>
        </p:spPr>
      </p:pic>
      <p:sp>
        <p:nvSpPr>
          <p:cNvPr id="5" name="PageNum 5"/>
          <p:cNvSpPr txBox="1"/>
          <p:nvPr/>
        </p:nvSpPr>
        <p:spPr>
          <a:xfrm>
            <a:off x="8593963" y="4754880"/>
            <a:ext cx="275717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 b="0">
                <a:solidFill>
                  <a:srgbClr val="64748B"/>
                </a:solidFill>
                <a:latin typeface="Calibri"/>
              </a:rPr>
              <a:t>14/20</a:t>
            </a:r>
            <a:endParaRPr sz="900" b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60320" y="320040"/>
            <a:ext cx="64008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</a:rPr>
              <a:t>Korak 7: čitaj ulaz[2] = 4</a:t>
            </a:r>
          </a:p>
        </p:txBody>
      </p:sp>
      <p:pic>
        <p:nvPicPr>
          <p:cNvPr id="4" name="Picture 3" descr="hs_stag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362" y="914400"/>
            <a:ext cx="6473275" cy="4046220"/>
          </a:xfrm>
          <a:prstGeom prst="rect">
            <a:avLst/>
          </a:prstGeom>
        </p:spPr>
      </p:pic>
      <p:sp>
        <p:nvSpPr>
          <p:cNvPr id="5" name="PageNum 5"/>
          <p:cNvSpPr txBox="1"/>
          <p:nvPr/>
        </p:nvSpPr>
        <p:spPr>
          <a:xfrm>
            <a:off x="8593963" y="4754880"/>
            <a:ext cx="275717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 b="0">
                <a:solidFill>
                  <a:srgbClr val="64748B"/>
                </a:solidFill>
                <a:latin typeface="Calibri"/>
              </a:rPr>
              <a:t>15/20</a:t>
            </a:r>
            <a:endParaRPr sz="900" b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60320" y="320040"/>
            <a:ext cx="64008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</a:rPr>
              <a:t>Korak 8: pomeri → upiši 8</a:t>
            </a:r>
          </a:p>
        </p:txBody>
      </p:sp>
      <p:pic>
        <p:nvPicPr>
          <p:cNvPr id="4" name="Picture 3" descr="hs_stag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362" y="914400"/>
            <a:ext cx="6473275" cy="4046220"/>
          </a:xfrm>
          <a:prstGeom prst="rect">
            <a:avLst/>
          </a:prstGeom>
        </p:spPr>
      </p:pic>
      <p:sp>
        <p:nvSpPr>
          <p:cNvPr id="5" name="PageNum 5"/>
          <p:cNvSpPr txBox="1"/>
          <p:nvPr/>
        </p:nvSpPr>
        <p:spPr>
          <a:xfrm>
            <a:off x="8593963" y="4754880"/>
            <a:ext cx="275717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 b="0">
                <a:solidFill>
                  <a:srgbClr val="64748B"/>
                </a:solidFill>
                <a:latin typeface="Calibri"/>
              </a:rPr>
              <a:t>16/20</a:t>
            </a:r>
            <a:endParaRPr sz="900" b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60320" y="320040"/>
            <a:ext cx="64008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 dirty="0">
                <a:solidFill>
                  <a:srgbClr val="1F2937"/>
                </a:solidFill>
              </a:rPr>
              <a:t>Korak 9: </a:t>
            </a:r>
            <a:r>
              <a:rPr sz="2000" b="1" dirty="0" err="1">
                <a:solidFill>
                  <a:srgbClr val="1F2937"/>
                </a:solidFill>
              </a:rPr>
              <a:t>pomeri</a:t>
            </a:r>
            <a:r>
              <a:rPr sz="2000" b="1" dirty="0">
                <a:solidFill>
                  <a:srgbClr val="1F2937"/>
                </a:solidFill>
              </a:rPr>
              <a:t> ← </a:t>
            </a:r>
            <a:r>
              <a:rPr sz="2000" b="1" dirty="0" err="1">
                <a:solidFill>
                  <a:srgbClr val="1F2937"/>
                </a:solidFill>
              </a:rPr>
              <a:t>nazad</a:t>
            </a:r>
            <a:endParaRPr sz="2000" b="1" dirty="0">
              <a:solidFill>
                <a:srgbClr val="1F2937"/>
              </a:solidFill>
            </a:endParaRPr>
          </a:p>
        </p:txBody>
      </p:sp>
      <p:pic>
        <p:nvPicPr>
          <p:cNvPr id="4" name="Picture 3" descr="hs_stag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362" y="914400"/>
            <a:ext cx="6473275" cy="4046220"/>
          </a:xfrm>
          <a:prstGeom prst="rect">
            <a:avLst/>
          </a:prstGeom>
        </p:spPr>
      </p:pic>
      <p:sp>
        <p:nvSpPr>
          <p:cNvPr id="5" name="PageNum 5"/>
          <p:cNvSpPr txBox="1"/>
          <p:nvPr/>
        </p:nvSpPr>
        <p:spPr>
          <a:xfrm>
            <a:off x="8593963" y="4754880"/>
            <a:ext cx="275717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 b="0">
                <a:solidFill>
                  <a:srgbClr val="64748B"/>
                </a:solidFill>
                <a:latin typeface="Calibri"/>
              </a:rPr>
              <a:t>17/20</a:t>
            </a:r>
            <a:endParaRPr sz="900" b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60320" y="320040"/>
            <a:ext cx="64008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</a:rPr>
              <a:t>Korak 10: čitaj ulaz[3] = 2</a:t>
            </a:r>
          </a:p>
        </p:txBody>
      </p:sp>
      <p:pic>
        <p:nvPicPr>
          <p:cNvPr id="4" name="Picture 3" descr="hs_stag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362" y="914400"/>
            <a:ext cx="6473275" cy="4046220"/>
          </a:xfrm>
          <a:prstGeom prst="rect">
            <a:avLst/>
          </a:prstGeom>
        </p:spPr>
      </p:pic>
      <p:sp>
        <p:nvSpPr>
          <p:cNvPr id="5" name="PageNum 5"/>
          <p:cNvSpPr txBox="1"/>
          <p:nvPr/>
        </p:nvSpPr>
        <p:spPr>
          <a:xfrm>
            <a:off x="8593963" y="4754880"/>
            <a:ext cx="275717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 b="0">
                <a:solidFill>
                  <a:srgbClr val="64748B"/>
                </a:solidFill>
                <a:latin typeface="Calibri"/>
              </a:rPr>
              <a:t>18/20</a:t>
            </a:r>
            <a:endParaRPr sz="900" b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60320" y="320040"/>
            <a:ext cx="3050387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 dirty="0">
                <a:solidFill>
                  <a:srgbClr val="1F2937"/>
                </a:solidFill>
              </a:rPr>
              <a:t>Korak 11: </a:t>
            </a:r>
            <a:r>
              <a:rPr sz="2000" b="1" dirty="0" err="1">
                <a:solidFill>
                  <a:srgbClr val="1F2937"/>
                </a:solidFill>
              </a:rPr>
              <a:t>pomeri</a:t>
            </a:r>
            <a:r>
              <a:rPr sz="2000" b="1" dirty="0">
                <a:solidFill>
                  <a:srgbClr val="1F2937"/>
                </a:solidFill>
              </a:rPr>
              <a:t> → </a:t>
            </a:r>
            <a:r>
              <a:rPr sz="2000" b="1" dirty="0" err="1">
                <a:solidFill>
                  <a:srgbClr val="1F2937"/>
                </a:solidFill>
              </a:rPr>
              <a:t>upiši</a:t>
            </a:r>
            <a:r>
              <a:rPr sz="2000" b="1" dirty="0">
                <a:solidFill>
                  <a:srgbClr val="1F2937"/>
                </a:solidFill>
              </a:rPr>
              <a:t> 10 </a:t>
            </a:r>
          </a:p>
        </p:txBody>
      </p:sp>
      <p:pic>
        <p:nvPicPr>
          <p:cNvPr id="4" name="Picture 3" descr="hs_stag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362" y="914400"/>
            <a:ext cx="6473275" cy="4046220"/>
          </a:xfrm>
          <a:prstGeom prst="rect">
            <a:avLst/>
          </a:prstGeom>
        </p:spPr>
      </p:pic>
      <p:sp>
        <p:nvSpPr>
          <p:cNvPr id="5" name="PageNum 5"/>
          <p:cNvSpPr txBox="1"/>
          <p:nvPr/>
        </p:nvSpPr>
        <p:spPr>
          <a:xfrm>
            <a:off x="8593963" y="4754880"/>
            <a:ext cx="275717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 b="0">
                <a:solidFill>
                  <a:srgbClr val="64748B"/>
                </a:solidFill>
                <a:latin typeface="Calibri"/>
              </a:rPr>
              <a:t>19/20</a:t>
            </a:r>
            <a:endParaRPr sz="900" b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65A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Diskusija: Turing mašina i Prefix Scan</a:t>
            </a:r>
            <a:endParaRPr lang="en-US" sz="280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Zašto je važno razumeti najjednostavniji model računanja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Zašto je Turing mašina bitna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Definiše granicu izračunljivosti — šta se uopšte može izračunati</a:t>
            </a:r>
            <a:endParaRPr lang="en-US" sz="140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Univerzalni model — svaki računar je samo brza Turing mašina</a:t>
            </a:r>
            <a:endParaRPr lang="en-US" sz="140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Osnova teorije složenosti — P, NP, odlučivost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4937760" y="1920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65A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Lekcija za Prefix Scan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4937760" y="233172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pokazuje „cenu“ sekvencijalnosti — O(N²) za trivijalan problem</a:t>
            </a:r>
            <a:endParaRPr lang="en-US" sz="140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Dokaz da je prefix scan izračunljiv — ne zavisi od hardvera</a:t>
            </a:r>
            <a:endParaRPr lang="en-US" sz="140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Kontrast: isti algoritam, O(N²) na TM vs. O(log N) na GPU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8046720" cy="64008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40233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06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„We can only see a short distance ahead, but we can see plenty there that needs to be done.“ — Alan Turing, Computing Machinery and Intelligence (1950)</a:t>
            </a:r>
            <a:endParaRPr lang="en-US" sz="1100"/>
          </a:p>
        </p:txBody>
      </p:sp>
      <p:sp>
        <p:nvSpPr>
          <p:cNvPr id="13" name="PageNum 13"/>
          <p:cNvSpPr txBox="1"/>
          <p:nvPr/>
        </p:nvSpPr>
        <p:spPr>
          <a:xfrm>
            <a:off x="8593963" y="4754880"/>
            <a:ext cx="275717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900" b="0">
                <a:solidFill>
                  <a:srgbClr val="64748B"/>
                </a:solidFill>
                <a:latin typeface="Calibri"/>
              </a:rPr>
              <a:t>20/20</a:t>
            </a:r>
            <a:endParaRPr sz="900" b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39aa4b3-b62d-42bf-8097-75e2c573ddfa}" enabled="1" method="Privileged" siteId="{3dd8961f-e488-4e60-8e11-a82d994e183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599</TotalTime>
  <Words>945</Words>
  <Application>Microsoft Office PowerPoint</Application>
  <PresentationFormat>On-screen Show (16:9)</PresentationFormat>
  <Paragraphs>133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AMD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Djordjevic, Vuk</dc:creator>
  <cp:lastModifiedBy>Djordjevic, Vuk</cp:lastModifiedBy>
  <cp:revision>6</cp:revision>
  <dcterms:created xsi:type="dcterms:W3CDTF">2026-05-20T04:56:51Z</dcterms:created>
  <dcterms:modified xsi:type="dcterms:W3CDTF">2026-05-29T10:41:23Z</dcterms:modified>
</cp:coreProperties>
</file>